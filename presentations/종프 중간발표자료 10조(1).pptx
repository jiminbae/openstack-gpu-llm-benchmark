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2"/>
  </p:notesMasterIdLst>
  <p:sldIdLst>
    <p:sldId id="282" r:id="rId5"/>
    <p:sldId id="281" r:id="rId6"/>
    <p:sldId id="284" r:id="rId7"/>
    <p:sldId id="286" r:id="rId8"/>
    <p:sldId id="287" r:id="rId9"/>
    <p:sldId id="290" r:id="rId10"/>
    <p:sldId id="288" r:id="rId11"/>
    <p:sldId id="291" r:id="rId12"/>
    <p:sldId id="289" r:id="rId13"/>
    <p:sldId id="292" r:id="rId14"/>
    <p:sldId id="293" r:id="rId15"/>
    <p:sldId id="296" r:id="rId16"/>
    <p:sldId id="295" r:id="rId17"/>
    <p:sldId id="294" r:id="rId18"/>
    <p:sldId id="297" r:id="rId19"/>
    <p:sldId id="280" r:id="rId20"/>
    <p:sldId id="279" r:id="rId21"/>
  </p:sldIdLst>
  <p:sldSz cx="12192000" cy="6858000"/>
  <p:notesSz cx="6858000" cy="9144000"/>
  <p:embeddedFontLst>
    <p:embeddedFont>
      <p:font typeface="Pretendard" panose="02000503000000020004" pitchFamily="50" charset="-127"/>
      <p:regular r:id="rId23"/>
      <p:bold r:id="rId24"/>
    </p:embeddedFont>
    <p:embeddedFont>
      <p:font typeface="HY견고딕" panose="02030600000101010101" pitchFamily="18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2FA"/>
    <a:srgbClr val="EFF9EB"/>
    <a:srgbClr val="FFF4E1"/>
    <a:srgbClr val="FFF3E0"/>
    <a:srgbClr val="E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5018D-CCEB-472F-865A-B7B91AFE4A7B}" v="2" dt="2026-04-08T04:11:21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C5B86D44-2303-4622-97C2-26FEF7C87277}" type="datetimeFigureOut">
              <a:rPr lang="ko-KR" altLang="en-US" smtClean="0"/>
              <a:pPr/>
              <a:t>2026-04-21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B705C2D3-9F76-441D-9F27-D09A965437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22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D6830-9391-97E4-8191-1FC2C406B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5005BC-C3F7-85B0-843E-B51304684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D4DC3-4749-3D04-6C8C-892044BF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759B5-C91B-88ED-10AA-053F918B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EA163-2BAF-EF6C-20A7-007A7C93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8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12F04-28E7-D1D5-D64E-6E61C91F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372E10-2CC5-DA6C-594F-1B96146E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AC4AAC-5F0F-B152-21E7-F2C87D55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D5EFA-6B8B-6A7B-CBE5-8DE1D2AE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2E9A30-BB50-7662-316A-C7DFCDE4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15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B8AD0-7708-749F-4131-32DEF322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E69638-8B11-9A5D-FA53-80A1DE194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1B5484-BD1C-25C4-B026-090F1018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AA6F5-1E39-83E0-6B1B-1E6551302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3CFCBD-697C-1399-93F5-AE46F93E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44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18A67-7CA0-1640-327A-3E0577AA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CA8CF-C964-DE5C-A39B-B0897A479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652BF0-5A10-F9D6-43EA-7345E6F5F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48B77-2ACD-22E2-F354-2A56B3D0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678B3E-A42D-CA81-9B8D-DDB2848E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9029C-4862-B032-DD3C-F1223E56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7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2D929-1EFB-7B34-EBFC-775DCF69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0238B8-7E40-0C73-B644-9AA9C927A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F7EFC-C095-45AE-301D-139CFF053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05462B-073C-2820-B0A5-78EAB431F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EFB399-F077-9A59-258E-2434E1CDE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9D592C-96F7-B9FD-65F9-C29E0E73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1E5A1B-531F-E161-04FE-9E85412A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99C4ED-C0D9-0B65-5DAA-51A46AD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67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492B2-FD14-4F40-5EBE-32BB90ED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F2C3D9-792B-3AA6-1BE9-82FB098A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50FD5F-D1D6-F4F4-0273-CA9AD959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C26630-C82C-E83D-3BC1-6332B64F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A1F274-48D0-AF30-A500-6B5AAE10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343A58-5001-91C2-AFE0-23071A33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F0B54-3915-39E1-F6E7-1E706925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62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4680-EC56-057A-1218-85B1AA9A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16F3D4-17F5-3E6C-EFCF-EE483622E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5C2CA4-E8E2-967E-DF67-93ABA566E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2273F3-DBA4-B893-DEC9-023F77D2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2BDD2-3E5D-A9C6-37AB-CE1B2049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50D6A3-7B07-D9C0-30A5-8467A764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24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09EC0-B8DE-EA41-D68C-84C8E156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5CFDA1-631C-BD7D-B9C8-F5CBE60EE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243990-4A64-452B-A9AC-38C070F4F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1E8A5-0F58-74B7-DABB-5F0D900F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CCCFBB-7EFF-0CEB-8E4D-C34C72B7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2BEE39-B603-587F-4C7B-57BC306A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7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3371D-6C95-9363-4B99-30EEAB78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82B413-ECCA-8F6D-2268-88E71104B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019D8-0372-4406-FFDE-1707348D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2010F-9E3E-E235-101D-009E5579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B1BA9-0D86-D19A-1312-6F6D77EF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18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12C75-9EE2-46D7-B029-CB29D7602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2F61BE-280E-4C61-FEC0-F1C66E7E0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49B49-B972-6974-BCCD-DBFBA6FE1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EB650-E5CD-95D9-4F46-5A7CF7B0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19302D-1345-6541-71C1-4EEDFDD6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73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6979F8-2C9B-17CF-59CC-450097BE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B2717-5772-F395-A075-11F7BA05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49232-F074-53E9-9121-82CB58B86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D9278-B043-48F2-A9BC-6591E62424DC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1D17D-05E4-C212-00CF-5C120474A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786E2-98B3-FC97-42E6-78542E104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519C0-6B63-4878-B655-FB240E164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2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319D0E9-9A1F-9FDC-85B5-B54011864B3D}"/>
              </a:ext>
            </a:extLst>
          </p:cNvPr>
          <p:cNvGrpSpPr>
            <a:grpSpLocks noChangeAspect="1"/>
          </p:cNvGrpSpPr>
          <p:nvPr/>
        </p:nvGrpSpPr>
        <p:grpSpPr>
          <a:xfrm>
            <a:off x="5101200" y="263941"/>
            <a:ext cx="1989599" cy="2636990"/>
            <a:chOff x="5428238" y="179966"/>
            <a:chExt cx="1335524" cy="177008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" name="Freeform 41">
              <a:extLst>
                <a:ext uri="{FF2B5EF4-FFF2-40B4-BE49-F238E27FC236}">
                  <a16:creationId xmlns:a16="http://schemas.microsoft.com/office/drawing/2014/main" id="{6E3B25F0-B990-3DEC-79B6-B55038AB9C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667" y="179966"/>
              <a:ext cx="1224666" cy="1204232"/>
            </a:xfrm>
            <a:custGeom>
              <a:avLst/>
              <a:gdLst>
                <a:gd name="T0" fmla="*/ 686 w 1614"/>
                <a:gd name="T1" fmla="*/ 784 h 1587"/>
                <a:gd name="T2" fmla="*/ 686 w 1614"/>
                <a:gd name="T3" fmla="*/ 714 h 1587"/>
                <a:gd name="T4" fmla="*/ 926 w 1614"/>
                <a:gd name="T5" fmla="*/ 714 h 1587"/>
                <a:gd name="T6" fmla="*/ 679 w 1614"/>
                <a:gd name="T7" fmla="*/ 1012 h 1587"/>
                <a:gd name="T8" fmla="*/ 919 w 1614"/>
                <a:gd name="T9" fmla="*/ 986 h 1587"/>
                <a:gd name="T10" fmla="*/ 904 w 1614"/>
                <a:gd name="T11" fmla="*/ 869 h 1587"/>
                <a:gd name="T12" fmla="*/ 708 w 1614"/>
                <a:gd name="T13" fmla="*/ 869 h 1587"/>
                <a:gd name="T14" fmla="*/ 938 w 1614"/>
                <a:gd name="T15" fmla="*/ 544 h 1587"/>
                <a:gd name="T16" fmla="*/ 847 w 1614"/>
                <a:gd name="T17" fmla="*/ 528 h 1587"/>
                <a:gd name="T18" fmla="*/ 711 w 1614"/>
                <a:gd name="T19" fmla="*/ 955 h 1587"/>
                <a:gd name="T20" fmla="*/ 711 w 1614"/>
                <a:gd name="T21" fmla="*/ 914 h 1587"/>
                <a:gd name="T22" fmla="*/ 983 w 1614"/>
                <a:gd name="T23" fmla="*/ 1141 h 1587"/>
                <a:gd name="T24" fmla="*/ 641 w 1614"/>
                <a:gd name="T25" fmla="*/ 1170 h 1587"/>
                <a:gd name="T26" fmla="*/ 1147 w 1614"/>
                <a:gd name="T27" fmla="*/ 806 h 1587"/>
                <a:gd name="T28" fmla="*/ 1106 w 1614"/>
                <a:gd name="T29" fmla="*/ 891 h 1587"/>
                <a:gd name="T30" fmla="*/ 1128 w 1614"/>
                <a:gd name="T31" fmla="*/ 626 h 1587"/>
                <a:gd name="T32" fmla="*/ 1043 w 1614"/>
                <a:gd name="T33" fmla="*/ 667 h 1587"/>
                <a:gd name="T34" fmla="*/ 1611 w 1614"/>
                <a:gd name="T35" fmla="*/ 585 h 1587"/>
                <a:gd name="T36" fmla="*/ 1283 w 1614"/>
                <a:gd name="T37" fmla="*/ 389 h 1587"/>
                <a:gd name="T38" fmla="*/ 831 w 1614"/>
                <a:gd name="T39" fmla="*/ 13 h 1587"/>
                <a:gd name="T40" fmla="*/ 803 w 1614"/>
                <a:gd name="T41" fmla="*/ 0 h 1587"/>
                <a:gd name="T42" fmla="*/ 784 w 1614"/>
                <a:gd name="T43" fmla="*/ 10 h 1587"/>
                <a:gd name="T44" fmla="*/ 464 w 1614"/>
                <a:gd name="T45" fmla="*/ 376 h 1587"/>
                <a:gd name="T46" fmla="*/ 3 w 1614"/>
                <a:gd name="T47" fmla="*/ 582 h 1587"/>
                <a:gd name="T48" fmla="*/ 6 w 1614"/>
                <a:gd name="T49" fmla="*/ 613 h 1587"/>
                <a:gd name="T50" fmla="*/ 227 w 1614"/>
                <a:gd name="T51" fmla="*/ 1157 h 1587"/>
                <a:gd name="T52" fmla="*/ 303 w 1614"/>
                <a:gd name="T53" fmla="*/ 1527 h 1587"/>
                <a:gd name="T54" fmla="*/ 809 w 1614"/>
                <a:gd name="T55" fmla="*/ 1429 h 1587"/>
                <a:gd name="T56" fmla="*/ 1286 w 1614"/>
                <a:gd name="T57" fmla="*/ 1536 h 1587"/>
                <a:gd name="T58" fmla="*/ 1308 w 1614"/>
                <a:gd name="T59" fmla="*/ 1527 h 1587"/>
                <a:gd name="T60" fmla="*/ 1317 w 1614"/>
                <a:gd name="T61" fmla="*/ 1508 h 1587"/>
                <a:gd name="T62" fmla="*/ 1460 w 1614"/>
                <a:gd name="T63" fmla="*/ 936 h 1587"/>
                <a:gd name="T64" fmla="*/ 1614 w 1614"/>
                <a:gd name="T65" fmla="*/ 594 h 1587"/>
                <a:gd name="T66" fmla="*/ 720 w 1614"/>
                <a:gd name="T67" fmla="*/ 120 h 1587"/>
                <a:gd name="T68" fmla="*/ 1039 w 1614"/>
                <a:gd name="T69" fmla="*/ 294 h 1587"/>
                <a:gd name="T70" fmla="*/ 209 w 1614"/>
                <a:gd name="T71" fmla="*/ 901 h 1587"/>
                <a:gd name="T72" fmla="*/ 142 w 1614"/>
                <a:gd name="T73" fmla="*/ 541 h 1587"/>
                <a:gd name="T74" fmla="*/ 294 w 1614"/>
                <a:gd name="T75" fmla="*/ 847 h 1587"/>
                <a:gd name="T76" fmla="*/ 515 w 1614"/>
                <a:gd name="T77" fmla="*/ 1508 h 1587"/>
                <a:gd name="T78" fmla="*/ 284 w 1614"/>
                <a:gd name="T79" fmla="*/ 1186 h 1587"/>
                <a:gd name="T80" fmla="*/ 806 w 1614"/>
                <a:gd name="T81" fmla="*/ 1299 h 1587"/>
                <a:gd name="T82" fmla="*/ 1346 w 1614"/>
                <a:gd name="T83" fmla="*/ 1328 h 1587"/>
                <a:gd name="T84" fmla="*/ 967 w 1614"/>
                <a:gd name="T85" fmla="*/ 1448 h 1587"/>
                <a:gd name="T86" fmla="*/ 1330 w 1614"/>
                <a:gd name="T87" fmla="*/ 1186 h 1587"/>
                <a:gd name="T88" fmla="*/ 1406 w 1614"/>
                <a:gd name="T89" fmla="*/ 898 h 1587"/>
                <a:gd name="T90" fmla="*/ 1289 w 1614"/>
                <a:gd name="T91" fmla="*/ 455 h 1587"/>
                <a:gd name="T92" fmla="*/ 986 w 1614"/>
                <a:gd name="T93" fmla="*/ 1201 h 1587"/>
                <a:gd name="T94" fmla="*/ 986 w 1614"/>
                <a:gd name="T95" fmla="*/ 1239 h 1587"/>
                <a:gd name="T96" fmla="*/ 951 w 1614"/>
                <a:gd name="T97" fmla="*/ 1097 h 1587"/>
                <a:gd name="T98" fmla="*/ 651 w 1614"/>
                <a:gd name="T99" fmla="*/ 1072 h 1587"/>
                <a:gd name="T100" fmla="*/ 739 w 1614"/>
                <a:gd name="T101" fmla="*/ 594 h 1587"/>
                <a:gd name="T102" fmla="*/ 695 w 1614"/>
                <a:gd name="T103" fmla="*/ 512 h 1587"/>
                <a:gd name="T104" fmla="*/ 553 w 1614"/>
                <a:gd name="T105" fmla="*/ 591 h 1587"/>
                <a:gd name="T106" fmla="*/ 540 w 1614"/>
                <a:gd name="T107" fmla="*/ 686 h 1587"/>
                <a:gd name="T108" fmla="*/ 506 w 1614"/>
                <a:gd name="T109" fmla="*/ 812 h 1587"/>
                <a:gd name="T110" fmla="*/ 439 w 1614"/>
                <a:gd name="T111" fmla="*/ 879 h 1587"/>
                <a:gd name="T112" fmla="*/ 506 w 1614"/>
                <a:gd name="T113" fmla="*/ 812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14" h="1587">
                  <a:moveTo>
                    <a:pt x="926" y="800"/>
                  </a:moveTo>
                  <a:lnTo>
                    <a:pt x="926" y="784"/>
                  </a:lnTo>
                  <a:cubicBezTo>
                    <a:pt x="926" y="778"/>
                    <a:pt x="923" y="771"/>
                    <a:pt x="913" y="771"/>
                  </a:cubicBezTo>
                  <a:lnTo>
                    <a:pt x="698" y="771"/>
                  </a:lnTo>
                  <a:cubicBezTo>
                    <a:pt x="692" y="771"/>
                    <a:pt x="686" y="778"/>
                    <a:pt x="686" y="784"/>
                  </a:cubicBezTo>
                  <a:lnTo>
                    <a:pt x="686" y="800"/>
                  </a:lnTo>
                  <a:cubicBezTo>
                    <a:pt x="686" y="806"/>
                    <a:pt x="692" y="812"/>
                    <a:pt x="698" y="812"/>
                  </a:cubicBezTo>
                  <a:lnTo>
                    <a:pt x="913" y="812"/>
                  </a:lnTo>
                  <a:cubicBezTo>
                    <a:pt x="923" y="812"/>
                    <a:pt x="926" y="806"/>
                    <a:pt x="926" y="800"/>
                  </a:cubicBezTo>
                  <a:close/>
                  <a:moveTo>
                    <a:pt x="686" y="714"/>
                  </a:moveTo>
                  <a:lnTo>
                    <a:pt x="686" y="727"/>
                  </a:lnTo>
                  <a:cubicBezTo>
                    <a:pt x="686" y="733"/>
                    <a:pt x="692" y="740"/>
                    <a:pt x="698" y="740"/>
                  </a:cubicBezTo>
                  <a:lnTo>
                    <a:pt x="913" y="740"/>
                  </a:lnTo>
                  <a:cubicBezTo>
                    <a:pt x="923" y="740"/>
                    <a:pt x="926" y="733"/>
                    <a:pt x="926" y="727"/>
                  </a:cubicBezTo>
                  <a:lnTo>
                    <a:pt x="926" y="714"/>
                  </a:lnTo>
                  <a:cubicBezTo>
                    <a:pt x="926" y="705"/>
                    <a:pt x="923" y="699"/>
                    <a:pt x="913" y="699"/>
                  </a:cubicBezTo>
                  <a:lnTo>
                    <a:pt x="698" y="699"/>
                  </a:lnTo>
                  <a:cubicBezTo>
                    <a:pt x="692" y="699"/>
                    <a:pt x="686" y="705"/>
                    <a:pt x="686" y="714"/>
                  </a:cubicBezTo>
                  <a:close/>
                  <a:moveTo>
                    <a:pt x="679" y="999"/>
                  </a:moveTo>
                  <a:lnTo>
                    <a:pt x="679" y="1012"/>
                  </a:lnTo>
                  <a:cubicBezTo>
                    <a:pt x="679" y="1021"/>
                    <a:pt x="686" y="1024"/>
                    <a:pt x="692" y="1024"/>
                  </a:cubicBezTo>
                  <a:lnTo>
                    <a:pt x="919" y="1024"/>
                  </a:lnTo>
                  <a:cubicBezTo>
                    <a:pt x="926" y="1024"/>
                    <a:pt x="932" y="1021"/>
                    <a:pt x="932" y="1012"/>
                  </a:cubicBezTo>
                  <a:lnTo>
                    <a:pt x="932" y="999"/>
                  </a:lnTo>
                  <a:cubicBezTo>
                    <a:pt x="932" y="993"/>
                    <a:pt x="926" y="986"/>
                    <a:pt x="919" y="986"/>
                  </a:cubicBezTo>
                  <a:lnTo>
                    <a:pt x="692" y="986"/>
                  </a:lnTo>
                  <a:cubicBezTo>
                    <a:pt x="686" y="986"/>
                    <a:pt x="679" y="993"/>
                    <a:pt x="679" y="999"/>
                  </a:cubicBezTo>
                  <a:close/>
                  <a:moveTo>
                    <a:pt x="720" y="882"/>
                  </a:moveTo>
                  <a:lnTo>
                    <a:pt x="891" y="882"/>
                  </a:lnTo>
                  <a:cubicBezTo>
                    <a:pt x="897" y="882"/>
                    <a:pt x="904" y="876"/>
                    <a:pt x="904" y="869"/>
                  </a:cubicBezTo>
                  <a:lnTo>
                    <a:pt x="904" y="857"/>
                  </a:lnTo>
                  <a:cubicBezTo>
                    <a:pt x="904" y="850"/>
                    <a:pt x="897" y="844"/>
                    <a:pt x="891" y="844"/>
                  </a:cubicBezTo>
                  <a:lnTo>
                    <a:pt x="720" y="844"/>
                  </a:lnTo>
                  <a:cubicBezTo>
                    <a:pt x="714" y="844"/>
                    <a:pt x="708" y="850"/>
                    <a:pt x="708" y="857"/>
                  </a:cubicBezTo>
                  <a:lnTo>
                    <a:pt x="708" y="869"/>
                  </a:lnTo>
                  <a:cubicBezTo>
                    <a:pt x="708" y="876"/>
                    <a:pt x="714" y="882"/>
                    <a:pt x="720" y="882"/>
                  </a:cubicBezTo>
                  <a:close/>
                  <a:moveTo>
                    <a:pt x="878" y="594"/>
                  </a:moveTo>
                  <a:lnTo>
                    <a:pt x="910" y="569"/>
                  </a:lnTo>
                  <a:lnTo>
                    <a:pt x="951" y="582"/>
                  </a:lnTo>
                  <a:lnTo>
                    <a:pt x="938" y="544"/>
                  </a:lnTo>
                  <a:lnTo>
                    <a:pt x="964" y="512"/>
                  </a:lnTo>
                  <a:lnTo>
                    <a:pt x="923" y="512"/>
                  </a:lnTo>
                  <a:lnTo>
                    <a:pt x="897" y="477"/>
                  </a:lnTo>
                  <a:lnTo>
                    <a:pt x="885" y="515"/>
                  </a:lnTo>
                  <a:lnTo>
                    <a:pt x="847" y="528"/>
                  </a:lnTo>
                  <a:lnTo>
                    <a:pt x="878" y="553"/>
                  </a:lnTo>
                  <a:lnTo>
                    <a:pt x="878" y="594"/>
                  </a:lnTo>
                  <a:close/>
                  <a:moveTo>
                    <a:pt x="698" y="926"/>
                  </a:moveTo>
                  <a:lnTo>
                    <a:pt x="698" y="942"/>
                  </a:lnTo>
                  <a:cubicBezTo>
                    <a:pt x="698" y="948"/>
                    <a:pt x="701" y="955"/>
                    <a:pt x="711" y="955"/>
                  </a:cubicBezTo>
                  <a:lnTo>
                    <a:pt x="904" y="955"/>
                  </a:lnTo>
                  <a:cubicBezTo>
                    <a:pt x="910" y="955"/>
                    <a:pt x="916" y="948"/>
                    <a:pt x="916" y="942"/>
                  </a:cubicBezTo>
                  <a:lnTo>
                    <a:pt x="916" y="926"/>
                  </a:lnTo>
                  <a:cubicBezTo>
                    <a:pt x="916" y="920"/>
                    <a:pt x="910" y="914"/>
                    <a:pt x="904" y="914"/>
                  </a:cubicBezTo>
                  <a:lnTo>
                    <a:pt x="711" y="914"/>
                  </a:lnTo>
                  <a:cubicBezTo>
                    <a:pt x="701" y="914"/>
                    <a:pt x="698" y="920"/>
                    <a:pt x="698" y="926"/>
                  </a:cubicBezTo>
                  <a:close/>
                  <a:moveTo>
                    <a:pt x="641" y="1170"/>
                  </a:moveTo>
                  <a:lnTo>
                    <a:pt x="970" y="1170"/>
                  </a:lnTo>
                  <a:cubicBezTo>
                    <a:pt x="979" y="1170"/>
                    <a:pt x="983" y="1163"/>
                    <a:pt x="983" y="1157"/>
                  </a:cubicBezTo>
                  <a:lnTo>
                    <a:pt x="983" y="1141"/>
                  </a:lnTo>
                  <a:cubicBezTo>
                    <a:pt x="983" y="1135"/>
                    <a:pt x="979" y="1129"/>
                    <a:pt x="970" y="1129"/>
                  </a:cubicBezTo>
                  <a:lnTo>
                    <a:pt x="641" y="1129"/>
                  </a:lnTo>
                  <a:cubicBezTo>
                    <a:pt x="635" y="1129"/>
                    <a:pt x="629" y="1135"/>
                    <a:pt x="629" y="1141"/>
                  </a:cubicBezTo>
                  <a:lnTo>
                    <a:pt x="629" y="1157"/>
                  </a:lnTo>
                  <a:cubicBezTo>
                    <a:pt x="629" y="1163"/>
                    <a:pt x="635" y="1170"/>
                    <a:pt x="641" y="1170"/>
                  </a:cubicBezTo>
                  <a:close/>
                  <a:moveTo>
                    <a:pt x="1137" y="866"/>
                  </a:moveTo>
                  <a:lnTo>
                    <a:pt x="1178" y="879"/>
                  </a:lnTo>
                  <a:lnTo>
                    <a:pt x="1163" y="841"/>
                  </a:lnTo>
                  <a:lnTo>
                    <a:pt x="1188" y="806"/>
                  </a:lnTo>
                  <a:lnTo>
                    <a:pt x="1147" y="806"/>
                  </a:lnTo>
                  <a:lnTo>
                    <a:pt x="1125" y="774"/>
                  </a:lnTo>
                  <a:lnTo>
                    <a:pt x="1112" y="812"/>
                  </a:lnTo>
                  <a:lnTo>
                    <a:pt x="1071" y="825"/>
                  </a:lnTo>
                  <a:lnTo>
                    <a:pt x="1106" y="850"/>
                  </a:lnTo>
                  <a:lnTo>
                    <a:pt x="1106" y="891"/>
                  </a:lnTo>
                  <a:lnTo>
                    <a:pt x="1137" y="866"/>
                  </a:lnTo>
                  <a:close/>
                  <a:moveTo>
                    <a:pt x="1077" y="686"/>
                  </a:moveTo>
                  <a:lnTo>
                    <a:pt x="1115" y="699"/>
                  </a:lnTo>
                  <a:lnTo>
                    <a:pt x="1103" y="661"/>
                  </a:lnTo>
                  <a:lnTo>
                    <a:pt x="1128" y="626"/>
                  </a:lnTo>
                  <a:lnTo>
                    <a:pt x="1087" y="626"/>
                  </a:lnTo>
                  <a:lnTo>
                    <a:pt x="1062" y="591"/>
                  </a:lnTo>
                  <a:lnTo>
                    <a:pt x="1049" y="632"/>
                  </a:lnTo>
                  <a:lnTo>
                    <a:pt x="1011" y="645"/>
                  </a:lnTo>
                  <a:lnTo>
                    <a:pt x="1043" y="667"/>
                  </a:lnTo>
                  <a:lnTo>
                    <a:pt x="1043" y="708"/>
                  </a:lnTo>
                  <a:lnTo>
                    <a:pt x="1077" y="686"/>
                  </a:lnTo>
                  <a:close/>
                  <a:moveTo>
                    <a:pt x="1614" y="591"/>
                  </a:moveTo>
                  <a:lnTo>
                    <a:pt x="1611" y="588"/>
                  </a:lnTo>
                  <a:lnTo>
                    <a:pt x="1611" y="585"/>
                  </a:lnTo>
                  <a:cubicBezTo>
                    <a:pt x="1611" y="579"/>
                    <a:pt x="1605" y="572"/>
                    <a:pt x="1599" y="569"/>
                  </a:cubicBezTo>
                  <a:lnTo>
                    <a:pt x="1592" y="566"/>
                  </a:lnTo>
                  <a:cubicBezTo>
                    <a:pt x="1545" y="547"/>
                    <a:pt x="1539" y="534"/>
                    <a:pt x="1529" y="512"/>
                  </a:cubicBezTo>
                  <a:cubicBezTo>
                    <a:pt x="1520" y="493"/>
                    <a:pt x="1507" y="468"/>
                    <a:pt x="1475" y="436"/>
                  </a:cubicBezTo>
                  <a:cubicBezTo>
                    <a:pt x="1403" y="364"/>
                    <a:pt x="1317" y="379"/>
                    <a:pt x="1283" y="389"/>
                  </a:cubicBezTo>
                  <a:cubicBezTo>
                    <a:pt x="1232" y="364"/>
                    <a:pt x="1185" y="364"/>
                    <a:pt x="1150" y="373"/>
                  </a:cubicBezTo>
                  <a:cubicBezTo>
                    <a:pt x="1150" y="335"/>
                    <a:pt x="1134" y="294"/>
                    <a:pt x="1093" y="256"/>
                  </a:cubicBezTo>
                  <a:cubicBezTo>
                    <a:pt x="1093" y="218"/>
                    <a:pt x="1081" y="130"/>
                    <a:pt x="989" y="85"/>
                  </a:cubicBezTo>
                  <a:cubicBezTo>
                    <a:pt x="948" y="63"/>
                    <a:pt x="923" y="60"/>
                    <a:pt x="900" y="57"/>
                  </a:cubicBezTo>
                  <a:cubicBezTo>
                    <a:pt x="875" y="54"/>
                    <a:pt x="863" y="51"/>
                    <a:pt x="831" y="13"/>
                  </a:cubicBezTo>
                  <a:lnTo>
                    <a:pt x="825" y="6"/>
                  </a:lnTo>
                  <a:cubicBezTo>
                    <a:pt x="821" y="3"/>
                    <a:pt x="815" y="0"/>
                    <a:pt x="812" y="0"/>
                  </a:cubicBezTo>
                  <a:lnTo>
                    <a:pt x="809" y="0"/>
                  </a:lnTo>
                  <a:lnTo>
                    <a:pt x="806" y="0"/>
                  </a:lnTo>
                  <a:lnTo>
                    <a:pt x="803" y="0"/>
                  </a:lnTo>
                  <a:lnTo>
                    <a:pt x="799" y="0"/>
                  </a:lnTo>
                  <a:lnTo>
                    <a:pt x="796" y="0"/>
                  </a:lnTo>
                  <a:lnTo>
                    <a:pt x="793" y="3"/>
                  </a:lnTo>
                  <a:lnTo>
                    <a:pt x="787" y="6"/>
                  </a:lnTo>
                  <a:lnTo>
                    <a:pt x="784" y="10"/>
                  </a:lnTo>
                  <a:lnTo>
                    <a:pt x="780" y="13"/>
                  </a:lnTo>
                  <a:cubicBezTo>
                    <a:pt x="749" y="51"/>
                    <a:pt x="736" y="54"/>
                    <a:pt x="711" y="57"/>
                  </a:cubicBezTo>
                  <a:cubicBezTo>
                    <a:pt x="689" y="60"/>
                    <a:pt x="663" y="63"/>
                    <a:pt x="622" y="85"/>
                  </a:cubicBezTo>
                  <a:cubicBezTo>
                    <a:pt x="534" y="130"/>
                    <a:pt x="521" y="218"/>
                    <a:pt x="518" y="256"/>
                  </a:cubicBezTo>
                  <a:cubicBezTo>
                    <a:pt x="477" y="294"/>
                    <a:pt x="464" y="335"/>
                    <a:pt x="464" y="376"/>
                  </a:cubicBezTo>
                  <a:cubicBezTo>
                    <a:pt x="427" y="364"/>
                    <a:pt x="382" y="364"/>
                    <a:pt x="332" y="392"/>
                  </a:cubicBezTo>
                  <a:cubicBezTo>
                    <a:pt x="297" y="379"/>
                    <a:pt x="212" y="367"/>
                    <a:pt x="139" y="439"/>
                  </a:cubicBezTo>
                  <a:cubicBezTo>
                    <a:pt x="107" y="468"/>
                    <a:pt x="95" y="493"/>
                    <a:pt x="85" y="512"/>
                  </a:cubicBezTo>
                  <a:cubicBezTo>
                    <a:pt x="73" y="534"/>
                    <a:pt x="70" y="547"/>
                    <a:pt x="22" y="566"/>
                  </a:cubicBezTo>
                  <a:cubicBezTo>
                    <a:pt x="13" y="569"/>
                    <a:pt x="6" y="575"/>
                    <a:pt x="3" y="582"/>
                  </a:cubicBezTo>
                  <a:lnTo>
                    <a:pt x="3" y="585"/>
                  </a:lnTo>
                  <a:lnTo>
                    <a:pt x="0" y="588"/>
                  </a:lnTo>
                  <a:lnTo>
                    <a:pt x="0" y="591"/>
                  </a:lnTo>
                  <a:lnTo>
                    <a:pt x="0" y="594"/>
                  </a:lnTo>
                  <a:cubicBezTo>
                    <a:pt x="0" y="601"/>
                    <a:pt x="3" y="607"/>
                    <a:pt x="6" y="613"/>
                  </a:cubicBezTo>
                  <a:cubicBezTo>
                    <a:pt x="35" y="654"/>
                    <a:pt x="32" y="667"/>
                    <a:pt x="25" y="692"/>
                  </a:cubicBezTo>
                  <a:cubicBezTo>
                    <a:pt x="22" y="714"/>
                    <a:pt x="19" y="743"/>
                    <a:pt x="25" y="784"/>
                  </a:cubicBezTo>
                  <a:cubicBezTo>
                    <a:pt x="41" y="885"/>
                    <a:pt x="120" y="923"/>
                    <a:pt x="155" y="936"/>
                  </a:cubicBezTo>
                  <a:cubicBezTo>
                    <a:pt x="180" y="989"/>
                    <a:pt x="215" y="1015"/>
                    <a:pt x="253" y="1027"/>
                  </a:cubicBezTo>
                  <a:cubicBezTo>
                    <a:pt x="231" y="1059"/>
                    <a:pt x="215" y="1100"/>
                    <a:pt x="227" y="1157"/>
                  </a:cubicBezTo>
                  <a:cubicBezTo>
                    <a:pt x="205" y="1189"/>
                    <a:pt x="164" y="1265"/>
                    <a:pt x="212" y="1356"/>
                  </a:cubicBezTo>
                  <a:cubicBezTo>
                    <a:pt x="231" y="1397"/>
                    <a:pt x="250" y="1416"/>
                    <a:pt x="265" y="1429"/>
                  </a:cubicBezTo>
                  <a:cubicBezTo>
                    <a:pt x="284" y="1448"/>
                    <a:pt x="294" y="1457"/>
                    <a:pt x="297" y="1508"/>
                  </a:cubicBezTo>
                  <a:cubicBezTo>
                    <a:pt x="297" y="1511"/>
                    <a:pt x="297" y="1517"/>
                    <a:pt x="300" y="1521"/>
                  </a:cubicBezTo>
                  <a:lnTo>
                    <a:pt x="303" y="1527"/>
                  </a:lnTo>
                  <a:cubicBezTo>
                    <a:pt x="310" y="1536"/>
                    <a:pt x="322" y="1540"/>
                    <a:pt x="335" y="1536"/>
                  </a:cubicBezTo>
                  <a:cubicBezTo>
                    <a:pt x="385" y="1524"/>
                    <a:pt x="398" y="1530"/>
                    <a:pt x="420" y="1543"/>
                  </a:cubicBezTo>
                  <a:cubicBezTo>
                    <a:pt x="439" y="1552"/>
                    <a:pt x="461" y="1565"/>
                    <a:pt x="506" y="1571"/>
                  </a:cubicBezTo>
                  <a:cubicBezTo>
                    <a:pt x="607" y="1587"/>
                    <a:pt x="667" y="1524"/>
                    <a:pt x="692" y="1495"/>
                  </a:cubicBezTo>
                  <a:cubicBezTo>
                    <a:pt x="749" y="1489"/>
                    <a:pt x="784" y="1461"/>
                    <a:pt x="809" y="1429"/>
                  </a:cubicBezTo>
                  <a:cubicBezTo>
                    <a:pt x="831" y="1461"/>
                    <a:pt x="866" y="1486"/>
                    <a:pt x="923" y="1492"/>
                  </a:cubicBezTo>
                  <a:cubicBezTo>
                    <a:pt x="945" y="1521"/>
                    <a:pt x="1008" y="1587"/>
                    <a:pt x="1109" y="1571"/>
                  </a:cubicBezTo>
                  <a:cubicBezTo>
                    <a:pt x="1150" y="1562"/>
                    <a:pt x="1175" y="1549"/>
                    <a:pt x="1194" y="1540"/>
                  </a:cubicBezTo>
                  <a:cubicBezTo>
                    <a:pt x="1216" y="1527"/>
                    <a:pt x="1229" y="1521"/>
                    <a:pt x="1276" y="1536"/>
                  </a:cubicBezTo>
                  <a:lnTo>
                    <a:pt x="1286" y="1536"/>
                  </a:lnTo>
                  <a:lnTo>
                    <a:pt x="1295" y="1536"/>
                  </a:lnTo>
                  <a:lnTo>
                    <a:pt x="1302" y="1533"/>
                  </a:lnTo>
                  <a:lnTo>
                    <a:pt x="1305" y="1530"/>
                  </a:lnTo>
                  <a:lnTo>
                    <a:pt x="1308" y="1530"/>
                  </a:lnTo>
                  <a:lnTo>
                    <a:pt x="1308" y="1527"/>
                  </a:lnTo>
                  <a:lnTo>
                    <a:pt x="1311" y="1524"/>
                  </a:lnTo>
                  <a:lnTo>
                    <a:pt x="1311" y="1521"/>
                  </a:lnTo>
                  <a:lnTo>
                    <a:pt x="1314" y="1521"/>
                  </a:lnTo>
                  <a:lnTo>
                    <a:pt x="1317" y="1514"/>
                  </a:lnTo>
                  <a:lnTo>
                    <a:pt x="1317" y="1508"/>
                  </a:lnTo>
                  <a:cubicBezTo>
                    <a:pt x="1321" y="1454"/>
                    <a:pt x="1330" y="1448"/>
                    <a:pt x="1349" y="1429"/>
                  </a:cubicBezTo>
                  <a:cubicBezTo>
                    <a:pt x="1362" y="1413"/>
                    <a:pt x="1384" y="1394"/>
                    <a:pt x="1403" y="1356"/>
                  </a:cubicBezTo>
                  <a:cubicBezTo>
                    <a:pt x="1450" y="1265"/>
                    <a:pt x="1409" y="1186"/>
                    <a:pt x="1387" y="1157"/>
                  </a:cubicBezTo>
                  <a:cubicBezTo>
                    <a:pt x="1400" y="1100"/>
                    <a:pt x="1384" y="1056"/>
                    <a:pt x="1362" y="1027"/>
                  </a:cubicBezTo>
                  <a:cubicBezTo>
                    <a:pt x="1400" y="1015"/>
                    <a:pt x="1434" y="986"/>
                    <a:pt x="1460" y="936"/>
                  </a:cubicBezTo>
                  <a:cubicBezTo>
                    <a:pt x="1494" y="923"/>
                    <a:pt x="1573" y="885"/>
                    <a:pt x="1589" y="784"/>
                  </a:cubicBezTo>
                  <a:cubicBezTo>
                    <a:pt x="1596" y="740"/>
                    <a:pt x="1589" y="714"/>
                    <a:pt x="1586" y="692"/>
                  </a:cubicBezTo>
                  <a:cubicBezTo>
                    <a:pt x="1583" y="667"/>
                    <a:pt x="1580" y="654"/>
                    <a:pt x="1608" y="613"/>
                  </a:cubicBezTo>
                  <a:lnTo>
                    <a:pt x="1611" y="607"/>
                  </a:lnTo>
                  <a:cubicBezTo>
                    <a:pt x="1611" y="601"/>
                    <a:pt x="1614" y="598"/>
                    <a:pt x="1614" y="594"/>
                  </a:cubicBezTo>
                  <a:lnTo>
                    <a:pt x="1614" y="591"/>
                  </a:lnTo>
                  <a:close/>
                  <a:moveTo>
                    <a:pt x="572" y="294"/>
                  </a:moveTo>
                  <a:cubicBezTo>
                    <a:pt x="581" y="288"/>
                    <a:pt x="585" y="278"/>
                    <a:pt x="585" y="266"/>
                  </a:cubicBezTo>
                  <a:cubicBezTo>
                    <a:pt x="585" y="262"/>
                    <a:pt x="575" y="180"/>
                    <a:pt x="654" y="142"/>
                  </a:cubicBezTo>
                  <a:cubicBezTo>
                    <a:pt x="682" y="126"/>
                    <a:pt x="701" y="123"/>
                    <a:pt x="720" y="120"/>
                  </a:cubicBezTo>
                  <a:cubicBezTo>
                    <a:pt x="752" y="117"/>
                    <a:pt x="774" y="111"/>
                    <a:pt x="806" y="79"/>
                  </a:cubicBezTo>
                  <a:cubicBezTo>
                    <a:pt x="837" y="111"/>
                    <a:pt x="863" y="117"/>
                    <a:pt x="894" y="120"/>
                  </a:cubicBezTo>
                  <a:cubicBezTo>
                    <a:pt x="910" y="123"/>
                    <a:pt x="929" y="126"/>
                    <a:pt x="960" y="142"/>
                  </a:cubicBezTo>
                  <a:cubicBezTo>
                    <a:pt x="1036" y="180"/>
                    <a:pt x="1030" y="262"/>
                    <a:pt x="1030" y="266"/>
                  </a:cubicBezTo>
                  <a:cubicBezTo>
                    <a:pt x="1027" y="278"/>
                    <a:pt x="1033" y="288"/>
                    <a:pt x="1039" y="294"/>
                  </a:cubicBezTo>
                  <a:cubicBezTo>
                    <a:pt x="1099" y="341"/>
                    <a:pt x="1087" y="392"/>
                    <a:pt x="1077" y="417"/>
                  </a:cubicBezTo>
                  <a:cubicBezTo>
                    <a:pt x="998" y="367"/>
                    <a:pt x="904" y="338"/>
                    <a:pt x="806" y="338"/>
                  </a:cubicBezTo>
                  <a:cubicBezTo>
                    <a:pt x="705" y="338"/>
                    <a:pt x="613" y="367"/>
                    <a:pt x="534" y="417"/>
                  </a:cubicBezTo>
                  <a:cubicBezTo>
                    <a:pt x="524" y="389"/>
                    <a:pt x="515" y="338"/>
                    <a:pt x="572" y="294"/>
                  </a:cubicBezTo>
                  <a:close/>
                  <a:moveTo>
                    <a:pt x="209" y="901"/>
                  </a:moveTo>
                  <a:cubicBezTo>
                    <a:pt x="205" y="888"/>
                    <a:pt x="196" y="882"/>
                    <a:pt x="186" y="879"/>
                  </a:cubicBezTo>
                  <a:cubicBezTo>
                    <a:pt x="183" y="879"/>
                    <a:pt x="101" y="860"/>
                    <a:pt x="88" y="774"/>
                  </a:cubicBezTo>
                  <a:cubicBezTo>
                    <a:pt x="82" y="743"/>
                    <a:pt x="85" y="724"/>
                    <a:pt x="88" y="705"/>
                  </a:cubicBezTo>
                  <a:cubicBezTo>
                    <a:pt x="95" y="673"/>
                    <a:pt x="95" y="648"/>
                    <a:pt x="76" y="610"/>
                  </a:cubicBezTo>
                  <a:cubicBezTo>
                    <a:pt x="117" y="588"/>
                    <a:pt x="130" y="569"/>
                    <a:pt x="142" y="541"/>
                  </a:cubicBezTo>
                  <a:cubicBezTo>
                    <a:pt x="152" y="525"/>
                    <a:pt x="158" y="506"/>
                    <a:pt x="183" y="484"/>
                  </a:cubicBezTo>
                  <a:cubicBezTo>
                    <a:pt x="243" y="424"/>
                    <a:pt x="319" y="455"/>
                    <a:pt x="322" y="455"/>
                  </a:cubicBezTo>
                  <a:cubicBezTo>
                    <a:pt x="335" y="458"/>
                    <a:pt x="344" y="458"/>
                    <a:pt x="354" y="452"/>
                  </a:cubicBezTo>
                  <a:cubicBezTo>
                    <a:pt x="414" y="414"/>
                    <a:pt x="458" y="436"/>
                    <a:pt x="480" y="455"/>
                  </a:cubicBezTo>
                  <a:cubicBezTo>
                    <a:pt x="367" y="550"/>
                    <a:pt x="294" y="689"/>
                    <a:pt x="294" y="847"/>
                  </a:cubicBezTo>
                  <a:cubicBezTo>
                    <a:pt x="294" y="891"/>
                    <a:pt x="300" y="933"/>
                    <a:pt x="310" y="971"/>
                  </a:cubicBezTo>
                  <a:cubicBezTo>
                    <a:pt x="281" y="974"/>
                    <a:pt x="234" y="964"/>
                    <a:pt x="209" y="901"/>
                  </a:cubicBezTo>
                  <a:close/>
                  <a:moveTo>
                    <a:pt x="673" y="1432"/>
                  </a:moveTo>
                  <a:cubicBezTo>
                    <a:pt x="660" y="1432"/>
                    <a:pt x="651" y="1438"/>
                    <a:pt x="645" y="1448"/>
                  </a:cubicBezTo>
                  <a:cubicBezTo>
                    <a:pt x="645" y="1451"/>
                    <a:pt x="600" y="1521"/>
                    <a:pt x="515" y="1508"/>
                  </a:cubicBezTo>
                  <a:cubicBezTo>
                    <a:pt x="483" y="1505"/>
                    <a:pt x="464" y="1495"/>
                    <a:pt x="449" y="1486"/>
                  </a:cubicBezTo>
                  <a:cubicBezTo>
                    <a:pt x="420" y="1470"/>
                    <a:pt x="398" y="1461"/>
                    <a:pt x="354" y="1467"/>
                  </a:cubicBezTo>
                  <a:cubicBezTo>
                    <a:pt x="348" y="1426"/>
                    <a:pt x="332" y="1407"/>
                    <a:pt x="310" y="1385"/>
                  </a:cubicBezTo>
                  <a:cubicBezTo>
                    <a:pt x="297" y="1372"/>
                    <a:pt x="281" y="1356"/>
                    <a:pt x="269" y="1328"/>
                  </a:cubicBezTo>
                  <a:cubicBezTo>
                    <a:pt x="227" y="1252"/>
                    <a:pt x="281" y="1189"/>
                    <a:pt x="284" y="1186"/>
                  </a:cubicBezTo>
                  <a:cubicBezTo>
                    <a:pt x="291" y="1176"/>
                    <a:pt x="294" y="1167"/>
                    <a:pt x="291" y="1157"/>
                  </a:cubicBezTo>
                  <a:cubicBezTo>
                    <a:pt x="272" y="1087"/>
                    <a:pt x="306" y="1053"/>
                    <a:pt x="332" y="1037"/>
                  </a:cubicBezTo>
                  <a:cubicBezTo>
                    <a:pt x="404" y="1217"/>
                    <a:pt x="572" y="1344"/>
                    <a:pt x="771" y="1356"/>
                  </a:cubicBezTo>
                  <a:cubicBezTo>
                    <a:pt x="765" y="1385"/>
                    <a:pt x="742" y="1429"/>
                    <a:pt x="673" y="1432"/>
                  </a:cubicBezTo>
                  <a:close/>
                  <a:moveTo>
                    <a:pt x="806" y="1299"/>
                  </a:moveTo>
                  <a:cubicBezTo>
                    <a:pt x="556" y="1299"/>
                    <a:pt x="354" y="1097"/>
                    <a:pt x="354" y="847"/>
                  </a:cubicBezTo>
                  <a:cubicBezTo>
                    <a:pt x="354" y="598"/>
                    <a:pt x="556" y="395"/>
                    <a:pt x="806" y="395"/>
                  </a:cubicBezTo>
                  <a:cubicBezTo>
                    <a:pt x="1055" y="395"/>
                    <a:pt x="1257" y="598"/>
                    <a:pt x="1257" y="847"/>
                  </a:cubicBezTo>
                  <a:cubicBezTo>
                    <a:pt x="1257" y="1097"/>
                    <a:pt x="1055" y="1299"/>
                    <a:pt x="806" y="1299"/>
                  </a:cubicBezTo>
                  <a:close/>
                  <a:moveTo>
                    <a:pt x="1346" y="1328"/>
                  </a:moveTo>
                  <a:cubicBezTo>
                    <a:pt x="1330" y="1356"/>
                    <a:pt x="1317" y="1369"/>
                    <a:pt x="1305" y="1381"/>
                  </a:cubicBezTo>
                  <a:cubicBezTo>
                    <a:pt x="1283" y="1404"/>
                    <a:pt x="1267" y="1423"/>
                    <a:pt x="1257" y="1467"/>
                  </a:cubicBezTo>
                  <a:cubicBezTo>
                    <a:pt x="1216" y="1461"/>
                    <a:pt x="1191" y="1470"/>
                    <a:pt x="1166" y="1486"/>
                  </a:cubicBezTo>
                  <a:cubicBezTo>
                    <a:pt x="1147" y="1492"/>
                    <a:pt x="1131" y="1502"/>
                    <a:pt x="1096" y="1508"/>
                  </a:cubicBezTo>
                  <a:cubicBezTo>
                    <a:pt x="1014" y="1521"/>
                    <a:pt x="970" y="1448"/>
                    <a:pt x="967" y="1448"/>
                  </a:cubicBezTo>
                  <a:cubicBezTo>
                    <a:pt x="964" y="1438"/>
                    <a:pt x="954" y="1432"/>
                    <a:pt x="942" y="1432"/>
                  </a:cubicBezTo>
                  <a:cubicBezTo>
                    <a:pt x="872" y="1429"/>
                    <a:pt x="850" y="1385"/>
                    <a:pt x="844" y="1356"/>
                  </a:cubicBezTo>
                  <a:cubicBezTo>
                    <a:pt x="1043" y="1344"/>
                    <a:pt x="1210" y="1214"/>
                    <a:pt x="1280" y="1034"/>
                  </a:cubicBezTo>
                  <a:cubicBezTo>
                    <a:pt x="1302" y="1050"/>
                    <a:pt x="1343" y="1084"/>
                    <a:pt x="1321" y="1154"/>
                  </a:cubicBezTo>
                  <a:cubicBezTo>
                    <a:pt x="1317" y="1167"/>
                    <a:pt x="1321" y="1176"/>
                    <a:pt x="1330" y="1186"/>
                  </a:cubicBezTo>
                  <a:cubicBezTo>
                    <a:pt x="1330" y="1186"/>
                    <a:pt x="1384" y="1252"/>
                    <a:pt x="1346" y="1328"/>
                  </a:cubicBezTo>
                  <a:close/>
                  <a:moveTo>
                    <a:pt x="1523" y="705"/>
                  </a:moveTo>
                  <a:cubicBezTo>
                    <a:pt x="1529" y="721"/>
                    <a:pt x="1532" y="740"/>
                    <a:pt x="1526" y="774"/>
                  </a:cubicBezTo>
                  <a:cubicBezTo>
                    <a:pt x="1513" y="857"/>
                    <a:pt x="1431" y="879"/>
                    <a:pt x="1428" y="879"/>
                  </a:cubicBezTo>
                  <a:cubicBezTo>
                    <a:pt x="1419" y="882"/>
                    <a:pt x="1409" y="888"/>
                    <a:pt x="1406" y="898"/>
                  </a:cubicBezTo>
                  <a:cubicBezTo>
                    <a:pt x="1381" y="967"/>
                    <a:pt x="1327" y="974"/>
                    <a:pt x="1299" y="971"/>
                  </a:cubicBezTo>
                  <a:cubicBezTo>
                    <a:pt x="1308" y="933"/>
                    <a:pt x="1314" y="891"/>
                    <a:pt x="1314" y="847"/>
                  </a:cubicBezTo>
                  <a:cubicBezTo>
                    <a:pt x="1314" y="692"/>
                    <a:pt x="1242" y="550"/>
                    <a:pt x="1131" y="455"/>
                  </a:cubicBezTo>
                  <a:cubicBezTo>
                    <a:pt x="1150" y="439"/>
                    <a:pt x="1197" y="411"/>
                    <a:pt x="1261" y="452"/>
                  </a:cubicBezTo>
                  <a:cubicBezTo>
                    <a:pt x="1270" y="458"/>
                    <a:pt x="1280" y="458"/>
                    <a:pt x="1289" y="455"/>
                  </a:cubicBezTo>
                  <a:cubicBezTo>
                    <a:pt x="1292" y="452"/>
                    <a:pt x="1371" y="420"/>
                    <a:pt x="1431" y="481"/>
                  </a:cubicBezTo>
                  <a:cubicBezTo>
                    <a:pt x="1453" y="506"/>
                    <a:pt x="1463" y="522"/>
                    <a:pt x="1472" y="541"/>
                  </a:cubicBezTo>
                  <a:cubicBezTo>
                    <a:pt x="1485" y="566"/>
                    <a:pt x="1498" y="588"/>
                    <a:pt x="1535" y="610"/>
                  </a:cubicBezTo>
                  <a:cubicBezTo>
                    <a:pt x="1517" y="648"/>
                    <a:pt x="1520" y="673"/>
                    <a:pt x="1523" y="705"/>
                  </a:cubicBezTo>
                  <a:close/>
                  <a:moveTo>
                    <a:pt x="986" y="1201"/>
                  </a:moveTo>
                  <a:lnTo>
                    <a:pt x="629" y="1201"/>
                  </a:lnTo>
                  <a:cubicBezTo>
                    <a:pt x="619" y="1201"/>
                    <a:pt x="616" y="1208"/>
                    <a:pt x="616" y="1214"/>
                  </a:cubicBezTo>
                  <a:lnTo>
                    <a:pt x="616" y="1227"/>
                  </a:lnTo>
                  <a:cubicBezTo>
                    <a:pt x="616" y="1233"/>
                    <a:pt x="619" y="1239"/>
                    <a:pt x="629" y="1239"/>
                  </a:cubicBezTo>
                  <a:lnTo>
                    <a:pt x="986" y="1239"/>
                  </a:lnTo>
                  <a:cubicBezTo>
                    <a:pt x="992" y="1239"/>
                    <a:pt x="998" y="1233"/>
                    <a:pt x="998" y="1227"/>
                  </a:cubicBezTo>
                  <a:lnTo>
                    <a:pt x="998" y="1214"/>
                  </a:lnTo>
                  <a:cubicBezTo>
                    <a:pt x="998" y="1208"/>
                    <a:pt x="992" y="1201"/>
                    <a:pt x="986" y="1201"/>
                  </a:cubicBezTo>
                  <a:close/>
                  <a:moveTo>
                    <a:pt x="660" y="1097"/>
                  </a:moveTo>
                  <a:lnTo>
                    <a:pt x="951" y="1097"/>
                  </a:lnTo>
                  <a:cubicBezTo>
                    <a:pt x="957" y="1097"/>
                    <a:pt x="964" y="1091"/>
                    <a:pt x="964" y="1084"/>
                  </a:cubicBezTo>
                  <a:lnTo>
                    <a:pt x="964" y="1072"/>
                  </a:lnTo>
                  <a:cubicBezTo>
                    <a:pt x="964" y="1062"/>
                    <a:pt x="957" y="1059"/>
                    <a:pt x="951" y="1059"/>
                  </a:cubicBezTo>
                  <a:lnTo>
                    <a:pt x="660" y="1059"/>
                  </a:lnTo>
                  <a:cubicBezTo>
                    <a:pt x="654" y="1059"/>
                    <a:pt x="651" y="1062"/>
                    <a:pt x="651" y="1072"/>
                  </a:cubicBezTo>
                  <a:lnTo>
                    <a:pt x="651" y="1084"/>
                  </a:lnTo>
                  <a:cubicBezTo>
                    <a:pt x="651" y="1091"/>
                    <a:pt x="654" y="1097"/>
                    <a:pt x="660" y="1097"/>
                  </a:cubicBezTo>
                  <a:close/>
                  <a:moveTo>
                    <a:pt x="667" y="582"/>
                  </a:moveTo>
                  <a:lnTo>
                    <a:pt x="705" y="569"/>
                  </a:lnTo>
                  <a:lnTo>
                    <a:pt x="739" y="594"/>
                  </a:lnTo>
                  <a:lnTo>
                    <a:pt x="736" y="553"/>
                  </a:lnTo>
                  <a:lnTo>
                    <a:pt x="771" y="528"/>
                  </a:lnTo>
                  <a:lnTo>
                    <a:pt x="730" y="515"/>
                  </a:lnTo>
                  <a:lnTo>
                    <a:pt x="717" y="477"/>
                  </a:lnTo>
                  <a:lnTo>
                    <a:pt x="695" y="512"/>
                  </a:lnTo>
                  <a:lnTo>
                    <a:pt x="654" y="512"/>
                  </a:lnTo>
                  <a:lnTo>
                    <a:pt x="679" y="544"/>
                  </a:lnTo>
                  <a:lnTo>
                    <a:pt x="667" y="582"/>
                  </a:lnTo>
                  <a:close/>
                  <a:moveTo>
                    <a:pt x="566" y="632"/>
                  </a:moveTo>
                  <a:lnTo>
                    <a:pt x="553" y="591"/>
                  </a:lnTo>
                  <a:lnTo>
                    <a:pt x="531" y="626"/>
                  </a:lnTo>
                  <a:lnTo>
                    <a:pt x="490" y="626"/>
                  </a:lnTo>
                  <a:lnTo>
                    <a:pt x="515" y="661"/>
                  </a:lnTo>
                  <a:lnTo>
                    <a:pt x="502" y="699"/>
                  </a:lnTo>
                  <a:lnTo>
                    <a:pt x="540" y="686"/>
                  </a:lnTo>
                  <a:lnTo>
                    <a:pt x="572" y="708"/>
                  </a:lnTo>
                  <a:lnTo>
                    <a:pt x="572" y="667"/>
                  </a:lnTo>
                  <a:lnTo>
                    <a:pt x="607" y="645"/>
                  </a:lnTo>
                  <a:lnTo>
                    <a:pt x="566" y="632"/>
                  </a:lnTo>
                  <a:close/>
                  <a:moveTo>
                    <a:pt x="506" y="812"/>
                  </a:moveTo>
                  <a:lnTo>
                    <a:pt x="493" y="774"/>
                  </a:lnTo>
                  <a:lnTo>
                    <a:pt x="468" y="806"/>
                  </a:lnTo>
                  <a:lnTo>
                    <a:pt x="427" y="806"/>
                  </a:lnTo>
                  <a:lnTo>
                    <a:pt x="452" y="841"/>
                  </a:lnTo>
                  <a:lnTo>
                    <a:pt x="439" y="879"/>
                  </a:lnTo>
                  <a:lnTo>
                    <a:pt x="477" y="866"/>
                  </a:lnTo>
                  <a:lnTo>
                    <a:pt x="512" y="891"/>
                  </a:lnTo>
                  <a:lnTo>
                    <a:pt x="512" y="850"/>
                  </a:lnTo>
                  <a:lnTo>
                    <a:pt x="543" y="825"/>
                  </a:lnTo>
                  <a:lnTo>
                    <a:pt x="506" y="812"/>
                  </a:lnTo>
                  <a:lnTo>
                    <a:pt x="506" y="8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Freeform 42">
              <a:extLst>
                <a:ext uri="{FF2B5EF4-FFF2-40B4-BE49-F238E27FC236}">
                  <a16:creationId xmlns:a16="http://schemas.microsoft.com/office/drawing/2014/main" id="{9CAE7B0C-2620-5567-4A81-7C7F5526C4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8238" y="1525698"/>
              <a:ext cx="1335524" cy="424355"/>
            </a:xfrm>
            <a:custGeom>
              <a:avLst/>
              <a:gdLst>
                <a:gd name="T0" fmla="*/ 392 w 3918"/>
                <a:gd name="T1" fmla="*/ 22 h 1245"/>
                <a:gd name="T2" fmla="*/ 0 w 3918"/>
                <a:gd name="T3" fmla="*/ 22 h 1245"/>
                <a:gd name="T4" fmla="*/ 79 w 3918"/>
                <a:gd name="T5" fmla="*/ 158 h 1245"/>
                <a:gd name="T6" fmla="*/ 79 w 3918"/>
                <a:gd name="T7" fmla="*/ 1220 h 1245"/>
                <a:gd name="T8" fmla="*/ 392 w 3918"/>
                <a:gd name="T9" fmla="*/ 1220 h 1245"/>
                <a:gd name="T10" fmla="*/ 392 w 3918"/>
                <a:gd name="T11" fmla="*/ 22 h 1245"/>
                <a:gd name="T12" fmla="*/ 404 w 3918"/>
                <a:gd name="T13" fmla="*/ 515 h 1245"/>
                <a:gd name="T14" fmla="*/ 938 w 3918"/>
                <a:gd name="T15" fmla="*/ 1230 h 1245"/>
                <a:gd name="T16" fmla="*/ 1305 w 3918"/>
                <a:gd name="T17" fmla="*/ 1230 h 1245"/>
                <a:gd name="T18" fmla="*/ 742 w 3918"/>
                <a:gd name="T19" fmla="*/ 515 h 1245"/>
                <a:gd name="T20" fmla="*/ 1279 w 3918"/>
                <a:gd name="T21" fmla="*/ 19 h 1245"/>
                <a:gd name="T22" fmla="*/ 964 w 3918"/>
                <a:gd name="T23" fmla="*/ 19 h 1245"/>
                <a:gd name="T24" fmla="*/ 407 w 3918"/>
                <a:gd name="T25" fmla="*/ 512 h 1245"/>
                <a:gd name="T26" fmla="*/ 404 w 3918"/>
                <a:gd name="T27" fmla="*/ 515 h 1245"/>
                <a:gd name="T28" fmla="*/ 3918 w 3918"/>
                <a:gd name="T29" fmla="*/ 1223 h 1245"/>
                <a:gd name="T30" fmla="*/ 3918 w 3918"/>
                <a:gd name="T31" fmla="*/ 19 h 1245"/>
                <a:gd name="T32" fmla="*/ 3605 w 3918"/>
                <a:gd name="T33" fmla="*/ 19 h 1245"/>
                <a:gd name="T34" fmla="*/ 3605 w 3918"/>
                <a:gd name="T35" fmla="*/ 1027 h 1245"/>
                <a:gd name="T36" fmla="*/ 3238 w 3918"/>
                <a:gd name="T37" fmla="*/ 1027 h 1245"/>
                <a:gd name="T38" fmla="*/ 3134 w 3918"/>
                <a:gd name="T39" fmla="*/ 901 h 1245"/>
                <a:gd name="T40" fmla="*/ 3134 w 3918"/>
                <a:gd name="T41" fmla="*/ 22 h 1245"/>
                <a:gd name="T42" fmla="*/ 2745 w 3918"/>
                <a:gd name="T43" fmla="*/ 22 h 1245"/>
                <a:gd name="T44" fmla="*/ 2828 w 3918"/>
                <a:gd name="T45" fmla="*/ 155 h 1245"/>
                <a:gd name="T46" fmla="*/ 2828 w 3918"/>
                <a:gd name="T47" fmla="*/ 853 h 1245"/>
                <a:gd name="T48" fmla="*/ 3156 w 3918"/>
                <a:gd name="T49" fmla="*/ 1223 h 1245"/>
                <a:gd name="T50" fmla="*/ 3918 w 3918"/>
                <a:gd name="T51" fmla="*/ 1223 h 1245"/>
                <a:gd name="T52" fmla="*/ 2221 w 3918"/>
                <a:gd name="T53" fmla="*/ 1223 h 1245"/>
                <a:gd name="T54" fmla="*/ 2537 w 3918"/>
                <a:gd name="T55" fmla="*/ 1223 h 1245"/>
                <a:gd name="T56" fmla="*/ 2537 w 3918"/>
                <a:gd name="T57" fmla="*/ 389 h 1245"/>
                <a:gd name="T58" fmla="*/ 2205 w 3918"/>
                <a:gd name="T59" fmla="*/ 19 h 1245"/>
                <a:gd name="T60" fmla="*/ 1362 w 3918"/>
                <a:gd name="T61" fmla="*/ 19 h 1245"/>
                <a:gd name="T62" fmla="*/ 1437 w 3918"/>
                <a:gd name="T63" fmla="*/ 152 h 1245"/>
                <a:gd name="T64" fmla="*/ 1437 w 3918"/>
                <a:gd name="T65" fmla="*/ 1223 h 1245"/>
                <a:gd name="T66" fmla="*/ 1750 w 3918"/>
                <a:gd name="T67" fmla="*/ 1223 h 1245"/>
                <a:gd name="T68" fmla="*/ 1750 w 3918"/>
                <a:gd name="T69" fmla="*/ 215 h 1245"/>
                <a:gd name="T70" fmla="*/ 2117 w 3918"/>
                <a:gd name="T71" fmla="*/ 215 h 1245"/>
                <a:gd name="T72" fmla="*/ 2221 w 3918"/>
                <a:gd name="T73" fmla="*/ 341 h 1245"/>
                <a:gd name="T74" fmla="*/ 2221 w 3918"/>
                <a:gd name="T75" fmla="*/ 1223 h 1245"/>
                <a:gd name="T76" fmla="*/ 2221 w 3918"/>
                <a:gd name="T77" fmla="*/ 1223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918" h="1245">
                  <a:moveTo>
                    <a:pt x="392" y="22"/>
                  </a:moveTo>
                  <a:lnTo>
                    <a:pt x="0" y="22"/>
                  </a:lnTo>
                  <a:cubicBezTo>
                    <a:pt x="0" y="22"/>
                    <a:pt x="79" y="38"/>
                    <a:pt x="79" y="158"/>
                  </a:cubicBezTo>
                  <a:lnTo>
                    <a:pt x="79" y="1220"/>
                  </a:lnTo>
                  <a:lnTo>
                    <a:pt x="392" y="1220"/>
                  </a:lnTo>
                  <a:lnTo>
                    <a:pt x="392" y="22"/>
                  </a:lnTo>
                  <a:close/>
                  <a:moveTo>
                    <a:pt x="404" y="515"/>
                  </a:moveTo>
                  <a:lnTo>
                    <a:pt x="938" y="1230"/>
                  </a:lnTo>
                  <a:lnTo>
                    <a:pt x="1305" y="1230"/>
                  </a:lnTo>
                  <a:lnTo>
                    <a:pt x="742" y="515"/>
                  </a:lnTo>
                  <a:lnTo>
                    <a:pt x="1279" y="19"/>
                  </a:lnTo>
                  <a:lnTo>
                    <a:pt x="964" y="19"/>
                  </a:lnTo>
                  <a:lnTo>
                    <a:pt x="407" y="512"/>
                  </a:lnTo>
                  <a:lnTo>
                    <a:pt x="404" y="515"/>
                  </a:lnTo>
                  <a:close/>
                  <a:moveTo>
                    <a:pt x="3918" y="1223"/>
                  </a:moveTo>
                  <a:lnTo>
                    <a:pt x="3918" y="19"/>
                  </a:lnTo>
                  <a:lnTo>
                    <a:pt x="3605" y="19"/>
                  </a:lnTo>
                  <a:lnTo>
                    <a:pt x="3605" y="1027"/>
                  </a:lnTo>
                  <a:lnTo>
                    <a:pt x="3238" y="1027"/>
                  </a:lnTo>
                  <a:cubicBezTo>
                    <a:pt x="3204" y="1027"/>
                    <a:pt x="3134" y="999"/>
                    <a:pt x="3134" y="901"/>
                  </a:cubicBezTo>
                  <a:lnTo>
                    <a:pt x="3134" y="22"/>
                  </a:lnTo>
                  <a:lnTo>
                    <a:pt x="2745" y="22"/>
                  </a:lnTo>
                  <a:cubicBezTo>
                    <a:pt x="2745" y="22"/>
                    <a:pt x="2828" y="38"/>
                    <a:pt x="2828" y="155"/>
                  </a:cubicBezTo>
                  <a:lnTo>
                    <a:pt x="2828" y="853"/>
                  </a:lnTo>
                  <a:cubicBezTo>
                    <a:pt x="2828" y="1245"/>
                    <a:pt x="3156" y="1223"/>
                    <a:pt x="3156" y="1223"/>
                  </a:cubicBezTo>
                  <a:lnTo>
                    <a:pt x="3918" y="1223"/>
                  </a:lnTo>
                  <a:close/>
                  <a:moveTo>
                    <a:pt x="2221" y="1223"/>
                  </a:moveTo>
                  <a:lnTo>
                    <a:pt x="2537" y="1223"/>
                  </a:lnTo>
                  <a:lnTo>
                    <a:pt x="2537" y="389"/>
                  </a:lnTo>
                  <a:cubicBezTo>
                    <a:pt x="2537" y="0"/>
                    <a:pt x="2237" y="19"/>
                    <a:pt x="2205" y="19"/>
                  </a:cubicBezTo>
                  <a:lnTo>
                    <a:pt x="1362" y="19"/>
                  </a:lnTo>
                  <a:cubicBezTo>
                    <a:pt x="1362" y="19"/>
                    <a:pt x="1437" y="47"/>
                    <a:pt x="1437" y="152"/>
                  </a:cubicBezTo>
                  <a:lnTo>
                    <a:pt x="1437" y="1223"/>
                  </a:lnTo>
                  <a:lnTo>
                    <a:pt x="1750" y="1223"/>
                  </a:lnTo>
                  <a:lnTo>
                    <a:pt x="1750" y="215"/>
                  </a:lnTo>
                  <a:lnTo>
                    <a:pt x="2117" y="215"/>
                  </a:lnTo>
                  <a:cubicBezTo>
                    <a:pt x="2152" y="215"/>
                    <a:pt x="2221" y="243"/>
                    <a:pt x="2221" y="341"/>
                  </a:cubicBezTo>
                  <a:lnTo>
                    <a:pt x="2221" y="1223"/>
                  </a:lnTo>
                  <a:lnTo>
                    <a:pt x="2221" y="122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CFAA1A-42E4-C471-EA93-08512B203931}"/>
              </a:ext>
            </a:extLst>
          </p:cNvPr>
          <p:cNvSpPr txBox="1"/>
          <p:nvPr/>
        </p:nvSpPr>
        <p:spPr>
          <a:xfrm>
            <a:off x="1780590" y="3272879"/>
            <a:ext cx="86308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/>
              <a:t>종합설계 프로젝트 </a:t>
            </a:r>
            <a:r>
              <a:rPr lang="en-US" altLang="ko-KR" sz="4400" b="1" dirty="0"/>
              <a:t>10</a:t>
            </a:r>
            <a:r>
              <a:rPr lang="ko-KR" altLang="en-US" sz="4400" b="1" dirty="0"/>
              <a:t>조 중간 발표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27061-7E1A-10D3-1F71-1BCE431244C0}"/>
              </a:ext>
            </a:extLst>
          </p:cNvPr>
          <p:cNvSpPr txBox="1"/>
          <p:nvPr/>
        </p:nvSpPr>
        <p:spPr>
          <a:xfrm>
            <a:off x="4460032" y="4414268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김형우</a:t>
            </a:r>
            <a:r>
              <a:rPr lang="en-US" altLang="ko-KR" dirty="0"/>
              <a:t>,</a:t>
            </a:r>
            <a:r>
              <a:rPr lang="ko-KR" altLang="en-US" dirty="0"/>
              <a:t> 배지민</a:t>
            </a:r>
            <a:r>
              <a:rPr lang="en-US" altLang="ko-KR" dirty="0"/>
              <a:t>,</a:t>
            </a:r>
            <a:r>
              <a:rPr lang="ko-KR" altLang="en-US" dirty="0"/>
              <a:t> 배지훈</a:t>
            </a:r>
          </a:p>
        </p:txBody>
      </p:sp>
    </p:spTree>
    <p:extLst>
      <p:ext uri="{BB962C8B-B14F-4D97-AF65-F5344CB8AC3E}">
        <p14:creationId xmlns:p14="http://schemas.microsoft.com/office/powerpoint/2010/main" val="336264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5BC28D-206D-9161-46A4-C9B2A53209BC}"/>
              </a:ext>
            </a:extLst>
          </p:cNvPr>
          <p:cNvSpPr txBox="1"/>
          <p:nvPr/>
        </p:nvSpPr>
        <p:spPr>
          <a:xfrm>
            <a:off x="739894" y="337589"/>
            <a:ext cx="4650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목차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B8EE8-EA6E-7F83-E3A8-A8C847629BB3}"/>
              </a:ext>
            </a:extLst>
          </p:cNvPr>
          <p:cNvSpPr txBox="1"/>
          <p:nvPr/>
        </p:nvSpPr>
        <p:spPr>
          <a:xfrm>
            <a:off x="1621971" y="1520648"/>
            <a:ext cx="8948057" cy="4707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b="1" dirty="0"/>
              <a:t>프로젝트 추진 배경</a:t>
            </a:r>
            <a:endParaRPr lang="en-US" altLang="ko-KR" sz="2800" b="1" dirty="0"/>
          </a:p>
          <a:p>
            <a:endParaRPr lang="en-US" altLang="ko-KR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b="1" dirty="0"/>
              <a:t>지금까지 수행 내용</a:t>
            </a:r>
            <a:endParaRPr lang="en-US" altLang="ko-KR" sz="28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en-US" altLang="ko-KR" sz="2800" dirty="0" err="1"/>
              <a:t>Openstack</a:t>
            </a:r>
            <a:r>
              <a:rPr lang="en-US" altLang="ko-KR" sz="2800" dirty="0"/>
              <a:t> </a:t>
            </a:r>
            <a:r>
              <a:rPr lang="ko-KR" altLang="en-US" sz="2800" dirty="0"/>
              <a:t>기반 </a:t>
            </a:r>
            <a:r>
              <a:rPr lang="ko-KR" altLang="en-US" sz="2800" dirty="0" err="1"/>
              <a:t>프라이빗</a:t>
            </a:r>
            <a:r>
              <a:rPr lang="ko-KR" altLang="en-US" sz="2800" dirty="0"/>
              <a:t> 클라우드 환경 구축</a:t>
            </a:r>
            <a:endParaRPr lang="en-US" altLang="ko-KR" sz="28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2800" dirty="0"/>
              <a:t>모니터링 환경 구축</a:t>
            </a:r>
            <a:endParaRPr lang="en-US" altLang="ko-KR" sz="28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2800" dirty="0"/>
              <a:t>벤치마크 실험 설계</a:t>
            </a:r>
            <a:endParaRPr lang="en-US" altLang="ko-KR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800" b="1" dirty="0"/>
              <a:t>향후 추진할 내용</a:t>
            </a:r>
            <a:endParaRPr lang="en-US" altLang="ko-KR" sz="2800" b="1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1F3E5AD-6F2F-7273-0A11-CCA2083FAA7E}"/>
              </a:ext>
            </a:extLst>
          </p:cNvPr>
          <p:cNvGrpSpPr>
            <a:grpSpLocks noChangeAspect="1"/>
          </p:cNvGrpSpPr>
          <p:nvPr/>
        </p:nvGrpSpPr>
        <p:grpSpPr>
          <a:xfrm>
            <a:off x="8880098" y="1887468"/>
            <a:ext cx="1989599" cy="2636990"/>
            <a:chOff x="5428238" y="179966"/>
            <a:chExt cx="1335524" cy="177008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1" name="Freeform 41">
              <a:extLst>
                <a:ext uri="{FF2B5EF4-FFF2-40B4-BE49-F238E27FC236}">
                  <a16:creationId xmlns:a16="http://schemas.microsoft.com/office/drawing/2014/main" id="{56A7758C-67C7-2B9A-0497-6B79FA8C58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667" y="179966"/>
              <a:ext cx="1224666" cy="1204232"/>
            </a:xfrm>
            <a:custGeom>
              <a:avLst/>
              <a:gdLst>
                <a:gd name="T0" fmla="*/ 686 w 1614"/>
                <a:gd name="T1" fmla="*/ 784 h 1587"/>
                <a:gd name="T2" fmla="*/ 686 w 1614"/>
                <a:gd name="T3" fmla="*/ 714 h 1587"/>
                <a:gd name="T4" fmla="*/ 926 w 1614"/>
                <a:gd name="T5" fmla="*/ 714 h 1587"/>
                <a:gd name="T6" fmla="*/ 679 w 1614"/>
                <a:gd name="T7" fmla="*/ 1012 h 1587"/>
                <a:gd name="T8" fmla="*/ 919 w 1614"/>
                <a:gd name="T9" fmla="*/ 986 h 1587"/>
                <a:gd name="T10" fmla="*/ 904 w 1614"/>
                <a:gd name="T11" fmla="*/ 869 h 1587"/>
                <a:gd name="T12" fmla="*/ 708 w 1614"/>
                <a:gd name="T13" fmla="*/ 869 h 1587"/>
                <a:gd name="T14" fmla="*/ 938 w 1614"/>
                <a:gd name="T15" fmla="*/ 544 h 1587"/>
                <a:gd name="T16" fmla="*/ 847 w 1614"/>
                <a:gd name="T17" fmla="*/ 528 h 1587"/>
                <a:gd name="T18" fmla="*/ 711 w 1614"/>
                <a:gd name="T19" fmla="*/ 955 h 1587"/>
                <a:gd name="T20" fmla="*/ 711 w 1614"/>
                <a:gd name="T21" fmla="*/ 914 h 1587"/>
                <a:gd name="T22" fmla="*/ 983 w 1614"/>
                <a:gd name="T23" fmla="*/ 1141 h 1587"/>
                <a:gd name="T24" fmla="*/ 641 w 1614"/>
                <a:gd name="T25" fmla="*/ 1170 h 1587"/>
                <a:gd name="T26" fmla="*/ 1147 w 1614"/>
                <a:gd name="T27" fmla="*/ 806 h 1587"/>
                <a:gd name="T28" fmla="*/ 1106 w 1614"/>
                <a:gd name="T29" fmla="*/ 891 h 1587"/>
                <a:gd name="T30" fmla="*/ 1128 w 1614"/>
                <a:gd name="T31" fmla="*/ 626 h 1587"/>
                <a:gd name="T32" fmla="*/ 1043 w 1614"/>
                <a:gd name="T33" fmla="*/ 667 h 1587"/>
                <a:gd name="T34" fmla="*/ 1611 w 1614"/>
                <a:gd name="T35" fmla="*/ 585 h 1587"/>
                <a:gd name="T36" fmla="*/ 1283 w 1614"/>
                <a:gd name="T37" fmla="*/ 389 h 1587"/>
                <a:gd name="T38" fmla="*/ 831 w 1614"/>
                <a:gd name="T39" fmla="*/ 13 h 1587"/>
                <a:gd name="T40" fmla="*/ 803 w 1614"/>
                <a:gd name="T41" fmla="*/ 0 h 1587"/>
                <a:gd name="T42" fmla="*/ 784 w 1614"/>
                <a:gd name="T43" fmla="*/ 10 h 1587"/>
                <a:gd name="T44" fmla="*/ 464 w 1614"/>
                <a:gd name="T45" fmla="*/ 376 h 1587"/>
                <a:gd name="T46" fmla="*/ 3 w 1614"/>
                <a:gd name="T47" fmla="*/ 582 h 1587"/>
                <a:gd name="T48" fmla="*/ 6 w 1614"/>
                <a:gd name="T49" fmla="*/ 613 h 1587"/>
                <a:gd name="T50" fmla="*/ 227 w 1614"/>
                <a:gd name="T51" fmla="*/ 1157 h 1587"/>
                <a:gd name="T52" fmla="*/ 303 w 1614"/>
                <a:gd name="T53" fmla="*/ 1527 h 1587"/>
                <a:gd name="T54" fmla="*/ 809 w 1614"/>
                <a:gd name="T55" fmla="*/ 1429 h 1587"/>
                <a:gd name="T56" fmla="*/ 1286 w 1614"/>
                <a:gd name="T57" fmla="*/ 1536 h 1587"/>
                <a:gd name="T58" fmla="*/ 1308 w 1614"/>
                <a:gd name="T59" fmla="*/ 1527 h 1587"/>
                <a:gd name="T60" fmla="*/ 1317 w 1614"/>
                <a:gd name="T61" fmla="*/ 1508 h 1587"/>
                <a:gd name="T62" fmla="*/ 1460 w 1614"/>
                <a:gd name="T63" fmla="*/ 936 h 1587"/>
                <a:gd name="T64" fmla="*/ 1614 w 1614"/>
                <a:gd name="T65" fmla="*/ 594 h 1587"/>
                <a:gd name="T66" fmla="*/ 720 w 1614"/>
                <a:gd name="T67" fmla="*/ 120 h 1587"/>
                <a:gd name="T68" fmla="*/ 1039 w 1614"/>
                <a:gd name="T69" fmla="*/ 294 h 1587"/>
                <a:gd name="T70" fmla="*/ 209 w 1614"/>
                <a:gd name="T71" fmla="*/ 901 h 1587"/>
                <a:gd name="T72" fmla="*/ 142 w 1614"/>
                <a:gd name="T73" fmla="*/ 541 h 1587"/>
                <a:gd name="T74" fmla="*/ 294 w 1614"/>
                <a:gd name="T75" fmla="*/ 847 h 1587"/>
                <a:gd name="T76" fmla="*/ 515 w 1614"/>
                <a:gd name="T77" fmla="*/ 1508 h 1587"/>
                <a:gd name="T78" fmla="*/ 284 w 1614"/>
                <a:gd name="T79" fmla="*/ 1186 h 1587"/>
                <a:gd name="T80" fmla="*/ 806 w 1614"/>
                <a:gd name="T81" fmla="*/ 1299 h 1587"/>
                <a:gd name="T82" fmla="*/ 1346 w 1614"/>
                <a:gd name="T83" fmla="*/ 1328 h 1587"/>
                <a:gd name="T84" fmla="*/ 967 w 1614"/>
                <a:gd name="T85" fmla="*/ 1448 h 1587"/>
                <a:gd name="T86" fmla="*/ 1330 w 1614"/>
                <a:gd name="T87" fmla="*/ 1186 h 1587"/>
                <a:gd name="T88" fmla="*/ 1406 w 1614"/>
                <a:gd name="T89" fmla="*/ 898 h 1587"/>
                <a:gd name="T90" fmla="*/ 1289 w 1614"/>
                <a:gd name="T91" fmla="*/ 455 h 1587"/>
                <a:gd name="T92" fmla="*/ 986 w 1614"/>
                <a:gd name="T93" fmla="*/ 1201 h 1587"/>
                <a:gd name="T94" fmla="*/ 986 w 1614"/>
                <a:gd name="T95" fmla="*/ 1239 h 1587"/>
                <a:gd name="T96" fmla="*/ 951 w 1614"/>
                <a:gd name="T97" fmla="*/ 1097 h 1587"/>
                <a:gd name="T98" fmla="*/ 651 w 1614"/>
                <a:gd name="T99" fmla="*/ 1072 h 1587"/>
                <a:gd name="T100" fmla="*/ 739 w 1614"/>
                <a:gd name="T101" fmla="*/ 594 h 1587"/>
                <a:gd name="T102" fmla="*/ 695 w 1614"/>
                <a:gd name="T103" fmla="*/ 512 h 1587"/>
                <a:gd name="T104" fmla="*/ 553 w 1614"/>
                <a:gd name="T105" fmla="*/ 591 h 1587"/>
                <a:gd name="T106" fmla="*/ 540 w 1614"/>
                <a:gd name="T107" fmla="*/ 686 h 1587"/>
                <a:gd name="T108" fmla="*/ 506 w 1614"/>
                <a:gd name="T109" fmla="*/ 812 h 1587"/>
                <a:gd name="T110" fmla="*/ 439 w 1614"/>
                <a:gd name="T111" fmla="*/ 879 h 1587"/>
                <a:gd name="T112" fmla="*/ 506 w 1614"/>
                <a:gd name="T113" fmla="*/ 812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14" h="1587">
                  <a:moveTo>
                    <a:pt x="926" y="800"/>
                  </a:moveTo>
                  <a:lnTo>
                    <a:pt x="926" y="784"/>
                  </a:lnTo>
                  <a:cubicBezTo>
                    <a:pt x="926" y="778"/>
                    <a:pt x="923" y="771"/>
                    <a:pt x="913" y="771"/>
                  </a:cubicBezTo>
                  <a:lnTo>
                    <a:pt x="698" y="771"/>
                  </a:lnTo>
                  <a:cubicBezTo>
                    <a:pt x="692" y="771"/>
                    <a:pt x="686" y="778"/>
                    <a:pt x="686" y="784"/>
                  </a:cubicBezTo>
                  <a:lnTo>
                    <a:pt x="686" y="800"/>
                  </a:lnTo>
                  <a:cubicBezTo>
                    <a:pt x="686" y="806"/>
                    <a:pt x="692" y="812"/>
                    <a:pt x="698" y="812"/>
                  </a:cubicBezTo>
                  <a:lnTo>
                    <a:pt x="913" y="812"/>
                  </a:lnTo>
                  <a:cubicBezTo>
                    <a:pt x="923" y="812"/>
                    <a:pt x="926" y="806"/>
                    <a:pt x="926" y="800"/>
                  </a:cubicBezTo>
                  <a:close/>
                  <a:moveTo>
                    <a:pt x="686" y="714"/>
                  </a:moveTo>
                  <a:lnTo>
                    <a:pt x="686" y="727"/>
                  </a:lnTo>
                  <a:cubicBezTo>
                    <a:pt x="686" y="733"/>
                    <a:pt x="692" y="740"/>
                    <a:pt x="698" y="740"/>
                  </a:cubicBezTo>
                  <a:lnTo>
                    <a:pt x="913" y="740"/>
                  </a:lnTo>
                  <a:cubicBezTo>
                    <a:pt x="923" y="740"/>
                    <a:pt x="926" y="733"/>
                    <a:pt x="926" y="727"/>
                  </a:cubicBezTo>
                  <a:lnTo>
                    <a:pt x="926" y="714"/>
                  </a:lnTo>
                  <a:cubicBezTo>
                    <a:pt x="926" y="705"/>
                    <a:pt x="923" y="699"/>
                    <a:pt x="913" y="699"/>
                  </a:cubicBezTo>
                  <a:lnTo>
                    <a:pt x="698" y="699"/>
                  </a:lnTo>
                  <a:cubicBezTo>
                    <a:pt x="692" y="699"/>
                    <a:pt x="686" y="705"/>
                    <a:pt x="686" y="714"/>
                  </a:cubicBezTo>
                  <a:close/>
                  <a:moveTo>
                    <a:pt x="679" y="999"/>
                  </a:moveTo>
                  <a:lnTo>
                    <a:pt x="679" y="1012"/>
                  </a:lnTo>
                  <a:cubicBezTo>
                    <a:pt x="679" y="1021"/>
                    <a:pt x="686" y="1024"/>
                    <a:pt x="692" y="1024"/>
                  </a:cubicBezTo>
                  <a:lnTo>
                    <a:pt x="919" y="1024"/>
                  </a:lnTo>
                  <a:cubicBezTo>
                    <a:pt x="926" y="1024"/>
                    <a:pt x="932" y="1021"/>
                    <a:pt x="932" y="1012"/>
                  </a:cubicBezTo>
                  <a:lnTo>
                    <a:pt x="932" y="999"/>
                  </a:lnTo>
                  <a:cubicBezTo>
                    <a:pt x="932" y="993"/>
                    <a:pt x="926" y="986"/>
                    <a:pt x="919" y="986"/>
                  </a:cubicBezTo>
                  <a:lnTo>
                    <a:pt x="692" y="986"/>
                  </a:lnTo>
                  <a:cubicBezTo>
                    <a:pt x="686" y="986"/>
                    <a:pt x="679" y="993"/>
                    <a:pt x="679" y="999"/>
                  </a:cubicBezTo>
                  <a:close/>
                  <a:moveTo>
                    <a:pt x="720" y="882"/>
                  </a:moveTo>
                  <a:lnTo>
                    <a:pt x="891" y="882"/>
                  </a:lnTo>
                  <a:cubicBezTo>
                    <a:pt x="897" y="882"/>
                    <a:pt x="904" y="876"/>
                    <a:pt x="904" y="869"/>
                  </a:cubicBezTo>
                  <a:lnTo>
                    <a:pt x="904" y="857"/>
                  </a:lnTo>
                  <a:cubicBezTo>
                    <a:pt x="904" y="850"/>
                    <a:pt x="897" y="844"/>
                    <a:pt x="891" y="844"/>
                  </a:cubicBezTo>
                  <a:lnTo>
                    <a:pt x="720" y="844"/>
                  </a:lnTo>
                  <a:cubicBezTo>
                    <a:pt x="714" y="844"/>
                    <a:pt x="708" y="850"/>
                    <a:pt x="708" y="857"/>
                  </a:cubicBezTo>
                  <a:lnTo>
                    <a:pt x="708" y="869"/>
                  </a:lnTo>
                  <a:cubicBezTo>
                    <a:pt x="708" y="876"/>
                    <a:pt x="714" y="882"/>
                    <a:pt x="720" y="882"/>
                  </a:cubicBezTo>
                  <a:close/>
                  <a:moveTo>
                    <a:pt x="878" y="594"/>
                  </a:moveTo>
                  <a:lnTo>
                    <a:pt x="910" y="569"/>
                  </a:lnTo>
                  <a:lnTo>
                    <a:pt x="951" y="582"/>
                  </a:lnTo>
                  <a:lnTo>
                    <a:pt x="938" y="544"/>
                  </a:lnTo>
                  <a:lnTo>
                    <a:pt x="964" y="512"/>
                  </a:lnTo>
                  <a:lnTo>
                    <a:pt x="923" y="512"/>
                  </a:lnTo>
                  <a:lnTo>
                    <a:pt x="897" y="477"/>
                  </a:lnTo>
                  <a:lnTo>
                    <a:pt x="885" y="515"/>
                  </a:lnTo>
                  <a:lnTo>
                    <a:pt x="847" y="528"/>
                  </a:lnTo>
                  <a:lnTo>
                    <a:pt x="878" y="553"/>
                  </a:lnTo>
                  <a:lnTo>
                    <a:pt x="878" y="594"/>
                  </a:lnTo>
                  <a:close/>
                  <a:moveTo>
                    <a:pt x="698" y="926"/>
                  </a:moveTo>
                  <a:lnTo>
                    <a:pt x="698" y="942"/>
                  </a:lnTo>
                  <a:cubicBezTo>
                    <a:pt x="698" y="948"/>
                    <a:pt x="701" y="955"/>
                    <a:pt x="711" y="955"/>
                  </a:cubicBezTo>
                  <a:lnTo>
                    <a:pt x="904" y="955"/>
                  </a:lnTo>
                  <a:cubicBezTo>
                    <a:pt x="910" y="955"/>
                    <a:pt x="916" y="948"/>
                    <a:pt x="916" y="942"/>
                  </a:cubicBezTo>
                  <a:lnTo>
                    <a:pt x="916" y="926"/>
                  </a:lnTo>
                  <a:cubicBezTo>
                    <a:pt x="916" y="920"/>
                    <a:pt x="910" y="914"/>
                    <a:pt x="904" y="914"/>
                  </a:cubicBezTo>
                  <a:lnTo>
                    <a:pt x="711" y="914"/>
                  </a:lnTo>
                  <a:cubicBezTo>
                    <a:pt x="701" y="914"/>
                    <a:pt x="698" y="920"/>
                    <a:pt x="698" y="926"/>
                  </a:cubicBezTo>
                  <a:close/>
                  <a:moveTo>
                    <a:pt x="641" y="1170"/>
                  </a:moveTo>
                  <a:lnTo>
                    <a:pt x="970" y="1170"/>
                  </a:lnTo>
                  <a:cubicBezTo>
                    <a:pt x="979" y="1170"/>
                    <a:pt x="983" y="1163"/>
                    <a:pt x="983" y="1157"/>
                  </a:cubicBezTo>
                  <a:lnTo>
                    <a:pt x="983" y="1141"/>
                  </a:lnTo>
                  <a:cubicBezTo>
                    <a:pt x="983" y="1135"/>
                    <a:pt x="979" y="1129"/>
                    <a:pt x="970" y="1129"/>
                  </a:cubicBezTo>
                  <a:lnTo>
                    <a:pt x="641" y="1129"/>
                  </a:lnTo>
                  <a:cubicBezTo>
                    <a:pt x="635" y="1129"/>
                    <a:pt x="629" y="1135"/>
                    <a:pt x="629" y="1141"/>
                  </a:cubicBezTo>
                  <a:lnTo>
                    <a:pt x="629" y="1157"/>
                  </a:lnTo>
                  <a:cubicBezTo>
                    <a:pt x="629" y="1163"/>
                    <a:pt x="635" y="1170"/>
                    <a:pt x="641" y="1170"/>
                  </a:cubicBezTo>
                  <a:close/>
                  <a:moveTo>
                    <a:pt x="1137" y="866"/>
                  </a:moveTo>
                  <a:lnTo>
                    <a:pt x="1178" y="879"/>
                  </a:lnTo>
                  <a:lnTo>
                    <a:pt x="1163" y="841"/>
                  </a:lnTo>
                  <a:lnTo>
                    <a:pt x="1188" y="806"/>
                  </a:lnTo>
                  <a:lnTo>
                    <a:pt x="1147" y="806"/>
                  </a:lnTo>
                  <a:lnTo>
                    <a:pt x="1125" y="774"/>
                  </a:lnTo>
                  <a:lnTo>
                    <a:pt x="1112" y="812"/>
                  </a:lnTo>
                  <a:lnTo>
                    <a:pt x="1071" y="825"/>
                  </a:lnTo>
                  <a:lnTo>
                    <a:pt x="1106" y="850"/>
                  </a:lnTo>
                  <a:lnTo>
                    <a:pt x="1106" y="891"/>
                  </a:lnTo>
                  <a:lnTo>
                    <a:pt x="1137" y="866"/>
                  </a:lnTo>
                  <a:close/>
                  <a:moveTo>
                    <a:pt x="1077" y="686"/>
                  </a:moveTo>
                  <a:lnTo>
                    <a:pt x="1115" y="699"/>
                  </a:lnTo>
                  <a:lnTo>
                    <a:pt x="1103" y="661"/>
                  </a:lnTo>
                  <a:lnTo>
                    <a:pt x="1128" y="626"/>
                  </a:lnTo>
                  <a:lnTo>
                    <a:pt x="1087" y="626"/>
                  </a:lnTo>
                  <a:lnTo>
                    <a:pt x="1062" y="591"/>
                  </a:lnTo>
                  <a:lnTo>
                    <a:pt x="1049" y="632"/>
                  </a:lnTo>
                  <a:lnTo>
                    <a:pt x="1011" y="645"/>
                  </a:lnTo>
                  <a:lnTo>
                    <a:pt x="1043" y="667"/>
                  </a:lnTo>
                  <a:lnTo>
                    <a:pt x="1043" y="708"/>
                  </a:lnTo>
                  <a:lnTo>
                    <a:pt x="1077" y="686"/>
                  </a:lnTo>
                  <a:close/>
                  <a:moveTo>
                    <a:pt x="1614" y="591"/>
                  </a:moveTo>
                  <a:lnTo>
                    <a:pt x="1611" y="588"/>
                  </a:lnTo>
                  <a:lnTo>
                    <a:pt x="1611" y="585"/>
                  </a:lnTo>
                  <a:cubicBezTo>
                    <a:pt x="1611" y="579"/>
                    <a:pt x="1605" y="572"/>
                    <a:pt x="1599" y="569"/>
                  </a:cubicBezTo>
                  <a:lnTo>
                    <a:pt x="1592" y="566"/>
                  </a:lnTo>
                  <a:cubicBezTo>
                    <a:pt x="1545" y="547"/>
                    <a:pt x="1539" y="534"/>
                    <a:pt x="1529" y="512"/>
                  </a:cubicBezTo>
                  <a:cubicBezTo>
                    <a:pt x="1520" y="493"/>
                    <a:pt x="1507" y="468"/>
                    <a:pt x="1475" y="436"/>
                  </a:cubicBezTo>
                  <a:cubicBezTo>
                    <a:pt x="1403" y="364"/>
                    <a:pt x="1317" y="379"/>
                    <a:pt x="1283" y="389"/>
                  </a:cubicBezTo>
                  <a:cubicBezTo>
                    <a:pt x="1232" y="364"/>
                    <a:pt x="1185" y="364"/>
                    <a:pt x="1150" y="373"/>
                  </a:cubicBezTo>
                  <a:cubicBezTo>
                    <a:pt x="1150" y="335"/>
                    <a:pt x="1134" y="294"/>
                    <a:pt x="1093" y="256"/>
                  </a:cubicBezTo>
                  <a:cubicBezTo>
                    <a:pt x="1093" y="218"/>
                    <a:pt x="1081" y="130"/>
                    <a:pt x="989" y="85"/>
                  </a:cubicBezTo>
                  <a:cubicBezTo>
                    <a:pt x="948" y="63"/>
                    <a:pt x="923" y="60"/>
                    <a:pt x="900" y="57"/>
                  </a:cubicBezTo>
                  <a:cubicBezTo>
                    <a:pt x="875" y="54"/>
                    <a:pt x="863" y="51"/>
                    <a:pt x="831" y="13"/>
                  </a:cubicBezTo>
                  <a:lnTo>
                    <a:pt x="825" y="6"/>
                  </a:lnTo>
                  <a:cubicBezTo>
                    <a:pt x="821" y="3"/>
                    <a:pt x="815" y="0"/>
                    <a:pt x="812" y="0"/>
                  </a:cubicBezTo>
                  <a:lnTo>
                    <a:pt x="809" y="0"/>
                  </a:lnTo>
                  <a:lnTo>
                    <a:pt x="806" y="0"/>
                  </a:lnTo>
                  <a:lnTo>
                    <a:pt x="803" y="0"/>
                  </a:lnTo>
                  <a:lnTo>
                    <a:pt x="799" y="0"/>
                  </a:lnTo>
                  <a:lnTo>
                    <a:pt x="796" y="0"/>
                  </a:lnTo>
                  <a:lnTo>
                    <a:pt x="793" y="3"/>
                  </a:lnTo>
                  <a:lnTo>
                    <a:pt x="787" y="6"/>
                  </a:lnTo>
                  <a:lnTo>
                    <a:pt x="784" y="10"/>
                  </a:lnTo>
                  <a:lnTo>
                    <a:pt x="780" y="13"/>
                  </a:lnTo>
                  <a:cubicBezTo>
                    <a:pt x="749" y="51"/>
                    <a:pt x="736" y="54"/>
                    <a:pt x="711" y="57"/>
                  </a:cubicBezTo>
                  <a:cubicBezTo>
                    <a:pt x="689" y="60"/>
                    <a:pt x="663" y="63"/>
                    <a:pt x="622" y="85"/>
                  </a:cubicBezTo>
                  <a:cubicBezTo>
                    <a:pt x="534" y="130"/>
                    <a:pt x="521" y="218"/>
                    <a:pt x="518" y="256"/>
                  </a:cubicBezTo>
                  <a:cubicBezTo>
                    <a:pt x="477" y="294"/>
                    <a:pt x="464" y="335"/>
                    <a:pt x="464" y="376"/>
                  </a:cubicBezTo>
                  <a:cubicBezTo>
                    <a:pt x="427" y="364"/>
                    <a:pt x="382" y="364"/>
                    <a:pt x="332" y="392"/>
                  </a:cubicBezTo>
                  <a:cubicBezTo>
                    <a:pt x="297" y="379"/>
                    <a:pt x="212" y="367"/>
                    <a:pt x="139" y="439"/>
                  </a:cubicBezTo>
                  <a:cubicBezTo>
                    <a:pt x="107" y="468"/>
                    <a:pt x="95" y="493"/>
                    <a:pt x="85" y="512"/>
                  </a:cubicBezTo>
                  <a:cubicBezTo>
                    <a:pt x="73" y="534"/>
                    <a:pt x="70" y="547"/>
                    <a:pt x="22" y="566"/>
                  </a:cubicBezTo>
                  <a:cubicBezTo>
                    <a:pt x="13" y="569"/>
                    <a:pt x="6" y="575"/>
                    <a:pt x="3" y="582"/>
                  </a:cubicBezTo>
                  <a:lnTo>
                    <a:pt x="3" y="585"/>
                  </a:lnTo>
                  <a:lnTo>
                    <a:pt x="0" y="588"/>
                  </a:lnTo>
                  <a:lnTo>
                    <a:pt x="0" y="591"/>
                  </a:lnTo>
                  <a:lnTo>
                    <a:pt x="0" y="594"/>
                  </a:lnTo>
                  <a:cubicBezTo>
                    <a:pt x="0" y="601"/>
                    <a:pt x="3" y="607"/>
                    <a:pt x="6" y="613"/>
                  </a:cubicBezTo>
                  <a:cubicBezTo>
                    <a:pt x="35" y="654"/>
                    <a:pt x="32" y="667"/>
                    <a:pt x="25" y="692"/>
                  </a:cubicBezTo>
                  <a:cubicBezTo>
                    <a:pt x="22" y="714"/>
                    <a:pt x="19" y="743"/>
                    <a:pt x="25" y="784"/>
                  </a:cubicBezTo>
                  <a:cubicBezTo>
                    <a:pt x="41" y="885"/>
                    <a:pt x="120" y="923"/>
                    <a:pt x="155" y="936"/>
                  </a:cubicBezTo>
                  <a:cubicBezTo>
                    <a:pt x="180" y="989"/>
                    <a:pt x="215" y="1015"/>
                    <a:pt x="253" y="1027"/>
                  </a:cubicBezTo>
                  <a:cubicBezTo>
                    <a:pt x="231" y="1059"/>
                    <a:pt x="215" y="1100"/>
                    <a:pt x="227" y="1157"/>
                  </a:cubicBezTo>
                  <a:cubicBezTo>
                    <a:pt x="205" y="1189"/>
                    <a:pt x="164" y="1265"/>
                    <a:pt x="212" y="1356"/>
                  </a:cubicBezTo>
                  <a:cubicBezTo>
                    <a:pt x="231" y="1397"/>
                    <a:pt x="250" y="1416"/>
                    <a:pt x="265" y="1429"/>
                  </a:cubicBezTo>
                  <a:cubicBezTo>
                    <a:pt x="284" y="1448"/>
                    <a:pt x="294" y="1457"/>
                    <a:pt x="297" y="1508"/>
                  </a:cubicBezTo>
                  <a:cubicBezTo>
                    <a:pt x="297" y="1511"/>
                    <a:pt x="297" y="1517"/>
                    <a:pt x="300" y="1521"/>
                  </a:cubicBezTo>
                  <a:lnTo>
                    <a:pt x="303" y="1527"/>
                  </a:lnTo>
                  <a:cubicBezTo>
                    <a:pt x="310" y="1536"/>
                    <a:pt x="322" y="1540"/>
                    <a:pt x="335" y="1536"/>
                  </a:cubicBezTo>
                  <a:cubicBezTo>
                    <a:pt x="385" y="1524"/>
                    <a:pt x="398" y="1530"/>
                    <a:pt x="420" y="1543"/>
                  </a:cubicBezTo>
                  <a:cubicBezTo>
                    <a:pt x="439" y="1552"/>
                    <a:pt x="461" y="1565"/>
                    <a:pt x="506" y="1571"/>
                  </a:cubicBezTo>
                  <a:cubicBezTo>
                    <a:pt x="607" y="1587"/>
                    <a:pt x="667" y="1524"/>
                    <a:pt x="692" y="1495"/>
                  </a:cubicBezTo>
                  <a:cubicBezTo>
                    <a:pt x="749" y="1489"/>
                    <a:pt x="784" y="1461"/>
                    <a:pt x="809" y="1429"/>
                  </a:cubicBezTo>
                  <a:cubicBezTo>
                    <a:pt x="831" y="1461"/>
                    <a:pt x="866" y="1486"/>
                    <a:pt x="923" y="1492"/>
                  </a:cubicBezTo>
                  <a:cubicBezTo>
                    <a:pt x="945" y="1521"/>
                    <a:pt x="1008" y="1587"/>
                    <a:pt x="1109" y="1571"/>
                  </a:cubicBezTo>
                  <a:cubicBezTo>
                    <a:pt x="1150" y="1562"/>
                    <a:pt x="1175" y="1549"/>
                    <a:pt x="1194" y="1540"/>
                  </a:cubicBezTo>
                  <a:cubicBezTo>
                    <a:pt x="1216" y="1527"/>
                    <a:pt x="1229" y="1521"/>
                    <a:pt x="1276" y="1536"/>
                  </a:cubicBezTo>
                  <a:lnTo>
                    <a:pt x="1286" y="1536"/>
                  </a:lnTo>
                  <a:lnTo>
                    <a:pt x="1295" y="1536"/>
                  </a:lnTo>
                  <a:lnTo>
                    <a:pt x="1302" y="1533"/>
                  </a:lnTo>
                  <a:lnTo>
                    <a:pt x="1305" y="1530"/>
                  </a:lnTo>
                  <a:lnTo>
                    <a:pt x="1308" y="1530"/>
                  </a:lnTo>
                  <a:lnTo>
                    <a:pt x="1308" y="1527"/>
                  </a:lnTo>
                  <a:lnTo>
                    <a:pt x="1311" y="1524"/>
                  </a:lnTo>
                  <a:lnTo>
                    <a:pt x="1311" y="1521"/>
                  </a:lnTo>
                  <a:lnTo>
                    <a:pt x="1314" y="1521"/>
                  </a:lnTo>
                  <a:lnTo>
                    <a:pt x="1317" y="1514"/>
                  </a:lnTo>
                  <a:lnTo>
                    <a:pt x="1317" y="1508"/>
                  </a:lnTo>
                  <a:cubicBezTo>
                    <a:pt x="1321" y="1454"/>
                    <a:pt x="1330" y="1448"/>
                    <a:pt x="1349" y="1429"/>
                  </a:cubicBezTo>
                  <a:cubicBezTo>
                    <a:pt x="1362" y="1413"/>
                    <a:pt x="1384" y="1394"/>
                    <a:pt x="1403" y="1356"/>
                  </a:cubicBezTo>
                  <a:cubicBezTo>
                    <a:pt x="1450" y="1265"/>
                    <a:pt x="1409" y="1186"/>
                    <a:pt x="1387" y="1157"/>
                  </a:cubicBezTo>
                  <a:cubicBezTo>
                    <a:pt x="1400" y="1100"/>
                    <a:pt x="1384" y="1056"/>
                    <a:pt x="1362" y="1027"/>
                  </a:cubicBezTo>
                  <a:cubicBezTo>
                    <a:pt x="1400" y="1015"/>
                    <a:pt x="1434" y="986"/>
                    <a:pt x="1460" y="936"/>
                  </a:cubicBezTo>
                  <a:cubicBezTo>
                    <a:pt x="1494" y="923"/>
                    <a:pt x="1573" y="885"/>
                    <a:pt x="1589" y="784"/>
                  </a:cubicBezTo>
                  <a:cubicBezTo>
                    <a:pt x="1596" y="740"/>
                    <a:pt x="1589" y="714"/>
                    <a:pt x="1586" y="692"/>
                  </a:cubicBezTo>
                  <a:cubicBezTo>
                    <a:pt x="1583" y="667"/>
                    <a:pt x="1580" y="654"/>
                    <a:pt x="1608" y="613"/>
                  </a:cubicBezTo>
                  <a:lnTo>
                    <a:pt x="1611" y="607"/>
                  </a:lnTo>
                  <a:cubicBezTo>
                    <a:pt x="1611" y="601"/>
                    <a:pt x="1614" y="598"/>
                    <a:pt x="1614" y="594"/>
                  </a:cubicBezTo>
                  <a:lnTo>
                    <a:pt x="1614" y="591"/>
                  </a:lnTo>
                  <a:close/>
                  <a:moveTo>
                    <a:pt x="572" y="294"/>
                  </a:moveTo>
                  <a:cubicBezTo>
                    <a:pt x="581" y="288"/>
                    <a:pt x="585" y="278"/>
                    <a:pt x="585" y="266"/>
                  </a:cubicBezTo>
                  <a:cubicBezTo>
                    <a:pt x="585" y="262"/>
                    <a:pt x="575" y="180"/>
                    <a:pt x="654" y="142"/>
                  </a:cubicBezTo>
                  <a:cubicBezTo>
                    <a:pt x="682" y="126"/>
                    <a:pt x="701" y="123"/>
                    <a:pt x="720" y="120"/>
                  </a:cubicBezTo>
                  <a:cubicBezTo>
                    <a:pt x="752" y="117"/>
                    <a:pt x="774" y="111"/>
                    <a:pt x="806" y="79"/>
                  </a:cubicBezTo>
                  <a:cubicBezTo>
                    <a:pt x="837" y="111"/>
                    <a:pt x="863" y="117"/>
                    <a:pt x="894" y="120"/>
                  </a:cubicBezTo>
                  <a:cubicBezTo>
                    <a:pt x="910" y="123"/>
                    <a:pt x="929" y="126"/>
                    <a:pt x="960" y="142"/>
                  </a:cubicBezTo>
                  <a:cubicBezTo>
                    <a:pt x="1036" y="180"/>
                    <a:pt x="1030" y="262"/>
                    <a:pt x="1030" y="266"/>
                  </a:cubicBezTo>
                  <a:cubicBezTo>
                    <a:pt x="1027" y="278"/>
                    <a:pt x="1033" y="288"/>
                    <a:pt x="1039" y="294"/>
                  </a:cubicBezTo>
                  <a:cubicBezTo>
                    <a:pt x="1099" y="341"/>
                    <a:pt x="1087" y="392"/>
                    <a:pt x="1077" y="417"/>
                  </a:cubicBezTo>
                  <a:cubicBezTo>
                    <a:pt x="998" y="367"/>
                    <a:pt x="904" y="338"/>
                    <a:pt x="806" y="338"/>
                  </a:cubicBezTo>
                  <a:cubicBezTo>
                    <a:pt x="705" y="338"/>
                    <a:pt x="613" y="367"/>
                    <a:pt x="534" y="417"/>
                  </a:cubicBezTo>
                  <a:cubicBezTo>
                    <a:pt x="524" y="389"/>
                    <a:pt x="515" y="338"/>
                    <a:pt x="572" y="294"/>
                  </a:cubicBezTo>
                  <a:close/>
                  <a:moveTo>
                    <a:pt x="209" y="901"/>
                  </a:moveTo>
                  <a:cubicBezTo>
                    <a:pt x="205" y="888"/>
                    <a:pt x="196" y="882"/>
                    <a:pt x="186" y="879"/>
                  </a:cubicBezTo>
                  <a:cubicBezTo>
                    <a:pt x="183" y="879"/>
                    <a:pt x="101" y="860"/>
                    <a:pt x="88" y="774"/>
                  </a:cubicBezTo>
                  <a:cubicBezTo>
                    <a:pt x="82" y="743"/>
                    <a:pt x="85" y="724"/>
                    <a:pt x="88" y="705"/>
                  </a:cubicBezTo>
                  <a:cubicBezTo>
                    <a:pt x="95" y="673"/>
                    <a:pt x="95" y="648"/>
                    <a:pt x="76" y="610"/>
                  </a:cubicBezTo>
                  <a:cubicBezTo>
                    <a:pt x="117" y="588"/>
                    <a:pt x="130" y="569"/>
                    <a:pt x="142" y="541"/>
                  </a:cubicBezTo>
                  <a:cubicBezTo>
                    <a:pt x="152" y="525"/>
                    <a:pt x="158" y="506"/>
                    <a:pt x="183" y="484"/>
                  </a:cubicBezTo>
                  <a:cubicBezTo>
                    <a:pt x="243" y="424"/>
                    <a:pt x="319" y="455"/>
                    <a:pt x="322" y="455"/>
                  </a:cubicBezTo>
                  <a:cubicBezTo>
                    <a:pt x="335" y="458"/>
                    <a:pt x="344" y="458"/>
                    <a:pt x="354" y="452"/>
                  </a:cubicBezTo>
                  <a:cubicBezTo>
                    <a:pt x="414" y="414"/>
                    <a:pt x="458" y="436"/>
                    <a:pt x="480" y="455"/>
                  </a:cubicBezTo>
                  <a:cubicBezTo>
                    <a:pt x="367" y="550"/>
                    <a:pt x="294" y="689"/>
                    <a:pt x="294" y="847"/>
                  </a:cubicBezTo>
                  <a:cubicBezTo>
                    <a:pt x="294" y="891"/>
                    <a:pt x="300" y="933"/>
                    <a:pt x="310" y="971"/>
                  </a:cubicBezTo>
                  <a:cubicBezTo>
                    <a:pt x="281" y="974"/>
                    <a:pt x="234" y="964"/>
                    <a:pt x="209" y="901"/>
                  </a:cubicBezTo>
                  <a:close/>
                  <a:moveTo>
                    <a:pt x="673" y="1432"/>
                  </a:moveTo>
                  <a:cubicBezTo>
                    <a:pt x="660" y="1432"/>
                    <a:pt x="651" y="1438"/>
                    <a:pt x="645" y="1448"/>
                  </a:cubicBezTo>
                  <a:cubicBezTo>
                    <a:pt x="645" y="1451"/>
                    <a:pt x="600" y="1521"/>
                    <a:pt x="515" y="1508"/>
                  </a:cubicBezTo>
                  <a:cubicBezTo>
                    <a:pt x="483" y="1505"/>
                    <a:pt x="464" y="1495"/>
                    <a:pt x="449" y="1486"/>
                  </a:cubicBezTo>
                  <a:cubicBezTo>
                    <a:pt x="420" y="1470"/>
                    <a:pt x="398" y="1461"/>
                    <a:pt x="354" y="1467"/>
                  </a:cubicBezTo>
                  <a:cubicBezTo>
                    <a:pt x="348" y="1426"/>
                    <a:pt x="332" y="1407"/>
                    <a:pt x="310" y="1385"/>
                  </a:cubicBezTo>
                  <a:cubicBezTo>
                    <a:pt x="297" y="1372"/>
                    <a:pt x="281" y="1356"/>
                    <a:pt x="269" y="1328"/>
                  </a:cubicBezTo>
                  <a:cubicBezTo>
                    <a:pt x="227" y="1252"/>
                    <a:pt x="281" y="1189"/>
                    <a:pt x="284" y="1186"/>
                  </a:cubicBezTo>
                  <a:cubicBezTo>
                    <a:pt x="291" y="1176"/>
                    <a:pt x="294" y="1167"/>
                    <a:pt x="291" y="1157"/>
                  </a:cubicBezTo>
                  <a:cubicBezTo>
                    <a:pt x="272" y="1087"/>
                    <a:pt x="306" y="1053"/>
                    <a:pt x="332" y="1037"/>
                  </a:cubicBezTo>
                  <a:cubicBezTo>
                    <a:pt x="404" y="1217"/>
                    <a:pt x="572" y="1344"/>
                    <a:pt x="771" y="1356"/>
                  </a:cubicBezTo>
                  <a:cubicBezTo>
                    <a:pt x="765" y="1385"/>
                    <a:pt x="742" y="1429"/>
                    <a:pt x="673" y="1432"/>
                  </a:cubicBezTo>
                  <a:close/>
                  <a:moveTo>
                    <a:pt x="806" y="1299"/>
                  </a:moveTo>
                  <a:cubicBezTo>
                    <a:pt x="556" y="1299"/>
                    <a:pt x="354" y="1097"/>
                    <a:pt x="354" y="847"/>
                  </a:cubicBezTo>
                  <a:cubicBezTo>
                    <a:pt x="354" y="598"/>
                    <a:pt x="556" y="395"/>
                    <a:pt x="806" y="395"/>
                  </a:cubicBezTo>
                  <a:cubicBezTo>
                    <a:pt x="1055" y="395"/>
                    <a:pt x="1257" y="598"/>
                    <a:pt x="1257" y="847"/>
                  </a:cubicBezTo>
                  <a:cubicBezTo>
                    <a:pt x="1257" y="1097"/>
                    <a:pt x="1055" y="1299"/>
                    <a:pt x="806" y="1299"/>
                  </a:cubicBezTo>
                  <a:close/>
                  <a:moveTo>
                    <a:pt x="1346" y="1328"/>
                  </a:moveTo>
                  <a:cubicBezTo>
                    <a:pt x="1330" y="1356"/>
                    <a:pt x="1317" y="1369"/>
                    <a:pt x="1305" y="1381"/>
                  </a:cubicBezTo>
                  <a:cubicBezTo>
                    <a:pt x="1283" y="1404"/>
                    <a:pt x="1267" y="1423"/>
                    <a:pt x="1257" y="1467"/>
                  </a:cubicBezTo>
                  <a:cubicBezTo>
                    <a:pt x="1216" y="1461"/>
                    <a:pt x="1191" y="1470"/>
                    <a:pt x="1166" y="1486"/>
                  </a:cubicBezTo>
                  <a:cubicBezTo>
                    <a:pt x="1147" y="1492"/>
                    <a:pt x="1131" y="1502"/>
                    <a:pt x="1096" y="1508"/>
                  </a:cubicBezTo>
                  <a:cubicBezTo>
                    <a:pt x="1014" y="1521"/>
                    <a:pt x="970" y="1448"/>
                    <a:pt x="967" y="1448"/>
                  </a:cubicBezTo>
                  <a:cubicBezTo>
                    <a:pt x="964" y="1438"/>
                    <a:pt x="954" y="1432"/>
                    <a:pt x="942" y="1432"/>
                  </a:cubicBezTo>
                  <a:cubicBezTo>
                    <a:pt x="872" y="1429"/>
                    <a:pt x="850" y="1385"/>
                    <a:pt x="844" y="1356"/>
                  </a:cubicBezTo>
                  <a:cubicBezTo>
                    <a:pt x="1043" y="1344"/>
                    <a:pt x="1210" y="1214"/>
                    <a:pt x="1280" y="1034"/>
                  </a:cubicBezTo>
                  <a:cubicBezTo>
                    <a:pt x="1302" y="1050"/>
                    <a:pt x="1343" y="1084"/>
                    <a:pt x="1321" y="1154"/>
                  </a:cubicBezTo>
                  <a:cubicBezTo>
                    <a:pt x="1317" y="1167"/>
                    <a:pt x="1321" y="1176"/>
                    <a:pt x="1330" y="1186"/>
                  </a:cubicBezTo>
                  <a:cubicBezTo>
                    <a:pt x="1330" y="1186"/>
                    <a:pt x="1384" y="1252"/>
                    <a:pt x="1346" y="1328"/>
                  </a:cubicBezTo>
                  <a:close/>
                  <a:moveTo>
                    <a:pt x="1523" y="705"/>
                  </a:moveTo>
                  <a:cubicBezTo>
                    <a:pt x="1529" y="721"/>
                    <a:pt x="1532" y="740"/>
                    <a:pt x="1526" y="774"/>
                  </a:cubicBezTo>
                  <a:cubicBezTo>
                    <a:pt x="1513" y="857"/>
                    <a:pt x="1431" y="879"/>
                    <a:pt x="1428" y="879"/>
                  </a:cubicBezTo>
                  <a:cubicBezTo>
                    <a:pt x="1419" y="882"/>
                    <a:pt x="1409" y="888"/>
                    <a:pt x="1406" y="898"/>
                  </a:cubicBezTo>
                  <a:cubicBezTo>
                    <a:pt x="1381" y="967"/>
                    <a:pt x="1327" y="974"/>
                    <a:pt x="1299" y="971"/>
                  </a:cubicBezTo>
                  <a:cubicBezTo>
                    <a:pt x="1308" y="933"/>
                    <a:pt x="1314" y="891"/>
                    <a:pt x="1314" y="847"/>
                  </a:cubicBezTo>
                  <a:cubicBezTo>
                    <a:pt x="1314" y="692"/>
                    <a:pt x="1242" y="550"/>
                    <a:pt x="1131" y="455"/>
                  </a:cubicBezTo>
                  <a:cubicBezTo>
                    <a:pt x="1150" y="439"/>
                    <a:pt x="1197" y="411"/>
                    <a:pt x="1261" y="452"/>
                  </a:cubicBezTo>
                  <a:cubicBezTo>
                    <a:pt x="1270" y="458"/>
                    <a:pt x="1280" y="458"/>
                    <a:pt x="1289" y="455"/>
                  </a:cubicBezTo>
                  <a:cubicBezTo>
                    <a:pt x="1292" y="452"/>
                    <a:pt x="1371" y="420"/>
                    <a:pt x="1431" y="481"/>
                  </a:cubicBezTo>
                  <a:cubicBezTo>
                    <a:pt x="1453" y="506"/>
                    <a:pt x="1463" y="522"/>
                    <a:pt x="1472" y="541"/>
                  </a:cubicBezTo>
                  <a:cubicBezTo>
                    <a:pt x="1485" y="566"/>
                    <a:pt x="1498" y="588"/>
                    <a:pt x="1535" y="610"/>
                  </a:cubicBezTo>
                  <a:cubicBezTo>
                    <a:pt x="1517" y="648"/>
                    <a:pt x="1520" y="673"/>
                    <a:pt x="1523" y="705"/>
                  </a:cubicBezTo>
                  <a:close/>
                  <a:moveTo>
                    <a:pt x="986" y="1201"/>
                  </a:moveTo>
                  <a:lnTo>
                    <a:pt x="629" y="1201"/>
                  </a:lnTo>
                  <a:cubicBezTo>
                    <a:pt x="619" y="1201"/>
                    <a:pt x="616" y="1208"/>
                    <a:pt x="616" y="1214"/>
                  </a:cubicBezTo>
                  <a:lnTo>
                    <a:pt x="616" y="1227"/>
                  </a:lnTo>
                  <a:cubicBezTo>
                    <a:pt x="616" y="1233"/>
                    <a:pt x="619" y="1239"/>
                    <a:pt x="629" y="1239"/>
                  </a:cubicBezTo>
                  <a:lnTo>
                    <a:pt x="986" y="1239"/>
                  </a:lnTo>
                  <a:cubicBezTo>
                    <a:pt x="992" y="1239"/>
                    <a:pt x="998" y="1233"/>
                    <a:pt x="998" y="1227"/>
                  </a:cubicBezTo>
                  <a:lnTo>
                    <a:pt x="998" y="1214"/>
                  </a:lnTo>
                  <a:cubicBezTo>
                    <a:pt x="998" y="1208"/>
                    <a:pt x="992" y="1201"/>
                    <a:pt x="986" y="1201"/>
                  </a:cubicBezTo>
                  <a:close/>
                  <a:moveTo>
                    <a:pt x="660" y="1097"/>
                  </a:moveTo>
                  <a:lnTo>
                    <a:pt x="951" y="1097"/>
                  </a:lnTo>
                  <a:cubicBezTo>
                    <a:pt x="957" y="1097"/>
                    <a:pt x="964" y="1091"/>
                    <a:pt x="964" y="1084"/>
                  </a:cubicBezTo>
                  <a:lnTo>
                    <a:pt x="964" y="1072"/>
                  </a:lnTo>
                  <a:cubicBezTo>
                    <a:pt x="964" y="1062"/>
                    <a:pt x="957" y="1059"/>
                    <a:pt x="951" y="1059"/>
                  </a:cubicBezTo>
                  <a:lnTo>
                    <a:pt x="660" y="1059"/>
                  </a:lnTo>
                  <a:cubicBezTo>
                    <a:pt x="654" y="1059"/>
                    <a:pt x="651" y="1062"/>
                    <a:pt x="651" y="1072"/>
                  </a:cubicBezTo>
                  <a:lnTo>
                    <a:pt x="651" y="1084"/>
                  </a:lnTo>
                  <a:cubicBezTo>
                    <a:pt x="651" y="1091"/>
                    <a:pt x="654" y="1097"/>
                    <a:pt x="660" y="1097"/>
                  </a:cubicBezTo>
                  <a:close/>
                  <a:moveTo>
                    <a:pt x="667" y="582"/>
                  </a:moveTo>
                  <a:lnTo>
                    <a:pt x="705" y="569"/>
                  </a:lnTo>
                  <a:lnTo>
                    <a:pt x="739" y="594"/>
                  </a:lnTo>
                  <a:lnTo>
                    <a:pt x="736" y="553"/>
                  </a:lnTo>
                  <a:lnTo>
                    <a:pt x="771" y="528"/>
                  </a:lnTo>
                  <a:lnTo>
                    <a:pt x="730" y="515"/>
                  </a:lnTo>
                  <a:lnTo>
                    <a:pt x="717" y="477"/>
                  </a:lnTo>
                  <a:lnTo>
                    <a:pt x="695" y="512"/>
                  </a:lnTo>
                  <a:lnTo>
                    <a:pt x="654" y="512"/>
                  </a:lnTo>
                  <a:lnTo>
                    <a:pt x="679" y="544"/>
                  </a:lnTo>
                  <a:lnTo>
                    <a:pt x="667" y="582"/>
                  </a:lnTo>
                  <a:close/>
                  <a:moveTo>
                    <a:pt x="566" y="632"/>
                  </a:moveTo>
                  <a:lnTo>
                    <a:pt x="553" y="591"/>
                  </a:lnTo>
                  <a:lnTo>
                    <a:pt x="531" y="626"/>
                  </a:lnTo>
                  <a:lnTo>
                    <a:pt x="490" y="626"/>
                  </a:lnTo>
                  <a:lnTo>
                    <a:pt x="515" y="661"/>
                  </a:lnTo>
                  <a:lnTo>
                    <a:pt x="502" y="699"/>
                  </a:lnTo>
                  <a:lnTo>
                    <a:pt x="540" y="686"/>
                  </a:lnTo>
                  <a:lnTo>
                    <a:pt x="572" y="708"/>
                  </a:lnTo>
                  <a:lnTo>
                    <a:pt x="572" y="667"/>
                  </a:lnTo>
                  <a:lnTo>
                    <a:pt x="607" y="645"/>
                  </a:lnTo>
                  <a:lnTo>
                    <a:pt x="566" y="632"/>
                  </a:lnTo>
                  <a:close/>
                  <a:moveTo>
                    <a:pt x="506" y="812"/>
                  </a:moveTo>
                  <a:lnTo>
                    <a:pt x="493" y="774"/>
                  </a:lnTo>
                  <a:lnTo>
                    <a:pt x="468" y="806"/>
                  </a:lnTo>
                  <a:lnTo>
                    <a:pt x="427" y="806"/>
                  </a:lnTo>
                  <a:lnTo>
                    <a:pt x="452" y="841"/>
                  </a:lnTo>
                  <a:lnTo>
                    <a:pt x="439" y="879"/>
                  </a:lnTo>
                  <a:lnTo>
                    <a:pt x="477" y="866"/>
                  </a:lnTo>
                  <a:lnTo>
                    <a:pt x="512" y="891"/>
                  </a:lnTo>
                  <a:lnTo>
                    <a:pt x="512" y="850"/>
                  </a:lnTo>
                  <a:lnTo>
                    <a:pt x="543" y="825"/>
                  </a:lnTo>
                  <a:lnTo>
                    <a:pt x="506" y="812"/>
                  </a:lnTo>
                  <a:lnTo>
                    <a:pt x="506" y="8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Freeform 42">
              <a:extLst>
                <a:ext uri="{FF2B5EF4-FFF2-40B4-BE49-F238E27FC236}">
                  <a16:creationId xmlns:a16="http://schemas.microsoft.com/office/drawing/2014/main" id="{46627135-FFC8-F141-32D7-B45D43F2E7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8238" y="1525698"/>
              <a:ext cx="1335524" cy="424355"/>
            </a:xfrm>
            <a:custGeom>
              <a:avLst/>
              <a:gdLst>
                <a:gd name="T0" fmla="*/ 392 w 3918"/>
                <a:gd name="T1" fmla="*/ 22 h 1245"/>
                <a:gd name="T2" fmla="*/ 0 w 3918"/>
                <a:gd name="T3" fmla="*/ 22 h 1245"/>
                <a:gd name="T4" fmla="*/ 79 w 3918"/>
                <a:gd name="T5" fmla="*/ 158 h 1245"/>
                <a:gd name="T6" fmla="*/ 79 w 3918"/>
                <a:gd name="T7" fmla="*/ 1220 h 1245"/>
                <a:gd name="T8" fmla="*/ 392 w 3918"/>
                <a:gd name="T9" fmla="*/ 1220 h 1245"/>
                <a:gd name="T10" fmla="*/ 392 w 3918"/>
                <a:gd name="T11" fmla="*/ 22 h 1245"/>
                <a:gd name="T12" fmla="*/ 404 w 3918"/>
                <a:gd name="T13" fmla="*/ 515 h 1245"/>
                <a:gd name="T14" fmla="*/ 938 w 3918"/>
                <a:gd name="T15" fmla="*/ 1230 h 1245"/>
                <a:gd name="T16" fmla="*/ 1305 w 3918"/>
                <a:gd name="T17" fmla="*/ 1230 h 1245"/>
                <a:gd name="T18" fmla="*/ 742 w 3918"/>
                <a:gd name="T19" fmla="*/ 515 h 1245"/>
                <a:gd name="T20" fmla="*/ 1279 w 3918"/>
                <a:gd name="T21" fmla="*/ 19 h 1245"/>
                <a:gd name="T22" fmla="*/ 964 w 3918"/>
                <a:gd name="T23" fmla="*/ 19 h 1245"/>
                <a:gd name="T24" fmla="*/ 407 w 3918"/>
                <a:gd name="T25" fmla="*/ 512 h 1245"/>
                <a:gd name="T26" fmla="*/ 404 w 3918"/>
                <a:gd name="T27" fmla="*/ 515 h 1245"/>
                <a:gd name="T28" fmla="*/ 3918 w 3918"/>
                <a:gd name="T29" fmla="*/ 1223 h 1245"/>
                <a:gd name="T30" fmla="*/ 3918 w 3918"/>
                <a:gd name="T31" fmla="*/ 19 h 1245"/>
                <a:gd name="T32" fmla="*/ 3605 w 3918"/>
                <a:gd name="T33" fmla="*/ 19 h 1245"/>
                <a:gd name="T34" fmla="*/ 3605 w 3918"/>
                <a:gd name="T35" fmla="*/ 1027 h 1245"/>
                <a:gd name="T36" fmla="*/ 3238 w 3918"/>
                <a:gd name="T37" fmla="*/ 1027 h 1245"/>
                <a:gd name="T38" fmla="*/ 3134 w 3918"/>
                <a:gd name="T39" fmla="*/ 901 h 1245"/>
                <a:gd name="T40" fmla="*/ 3134 w 3918"/>
                <a:gd name="T41" fmla="*/ 22 h 1245"/>
                <a:gd name="T42" fmla="*/ 2745 w 3918"/>
                <a:gd name="T43" fmla="*/ 22 h 1245"/>
                <a:gd name="T44" fmla="*/ 2828 w 3918"/>
                <a:gd name="T45" fmla="*/ 155 h 1245"/>
                <a:gd name="T46" fmla="*/ 2828 w 3918"/>
                <a:gd name="T47" fmla="*/ 853 h 1245"/>
                <a:gd name="T48" fmla="*/ 3156 w 3918"/>
                <a:gd name="T49" fmla="*/ 1223 h 1245"/>
                <a:gd name="T50" fmla="*/ 3918 w 3918"/>
                <a:gd name="T51" fmla="*/ 1223 h 1245"/>
                <a:gd name="T52" fmla="*/ 2221 w 3918"/>
                <a:gd name="T53" fmla="*/ 1223 h 1245"/>
                <a:gd name="T54" fmla="*/ 2537 w 3918"/>
                <a:gd name="T55" fmla="*/ 1223 h 1245"/>
                <a:gd name="T56" fmla="*/ 2537 w 3918"/>
                <a:gd name="T57" fmla="*/ 389 h 1245"/>
                <a:gd name="T58" fmla="*/ 2205 w 3918"/>
                <a:gd name="T59" fmla="*/ 19 h 1245"/>
                <a:gd name="T60" fmla="*/ 1362 w 3918"/>
                <a:gd name="T61" fmla="*/ 19 h 1245"/>
                <a:gd name="T62" fmla="*/ 1437 w 3918"/>
                <a:gd name="T63" fmla="*/ 152 h 1245"/>
                <a:gd name="T64" fmla="*/ 1437 w 3918"/>
                <a:gd name="T65" fmla="*/ 1223 h 1245"/>
                <a:gd name="T66" fmla="*/ 1750 w 3918"/>
                <a:gd name="T67" fmla="*/ 1223 h 1245"/>
                <a:gd name="T68" fmla="*/ 1750 w 3918"/>
                <a:gd name="T69" fmla="*/ 215 h 1245"/>
                <a:gd name="T70" fmla="*/ 2117 w 3918"/>
                <a:gd name="T71" fmla="*/ 215 h 1245"/>
                <a:gd name="T72" fmla="*/ 2221 w 3918"/>
                <a:gd name="T73" fmla="*/ 341 h 1245"/>
                <a:gd name="T74" fmla="*/ 2221 w 3918"/>
                <a:gd name="T75" fmla="*/ 1223 h 1245"/>
                <a:gd name="T76" fmla="*/ 2221 w 3918"/>
                <a:gd name="T77" fmla="*/ 1223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918" h="1245">
                  <a:moveTo>
                    <a:pt x="392" y="22"/>
                  </a:moveTo>
                  <a:lnTo>
                    <a:pt x="0" y="22"/>
                  </a:lnTo>
                  <a:cubicBezTo>
                    <a:pt x="0" y="22"/>
                    <a:pt x="79" y="38"/>
                    <a:pt x="79" y="158"/>
                  </a:cubicBezTo>
                  <a:lnTo>
                    <a:pt x="79" y="1220"/>
                  </a:lnTo>
                  <a:lnTo>
                    <a:pt x="392" y="1220"/>
                  </a:lnTo>
                  <a:lnTo>
                    <a:pt x="392" y="22"/>
                  </a:lnTo>
                  <a:close/>
                  <a:moveTo>
                    <a:pt x="404" y="515"/>
                  </a:moveTo>
                  <a:lnTo>
                    <a:pt x="938" y="1230"/>
                  </a:lnTo>
                  <a:lnTo>
                    <a:pt x="1305" y="1230"/>
                  </a:lnTo>
                  <a:lnTo>
                    <a:pt x="742" y="515"/>
                  </a:lnTo>
                  <a:lnTo>
                    <a:pt x="1279" y="19"/>
                  </a:lnTo>
                  <a:lnTo>
                    <a:pt x="964" y="19"/>
                  </a:lnTo>
                  <a:lnTo>
                    <a:pt x="407" y="512"/>
                  </a:lnTo>
                  <a:lnTo>
                    <a:pt x="404" y="515"/>
                  </a:lnTo>
                  <a:close/>
                  <a:moveTo>
                    <a:pt x="3918" y="1223"/>
                  </a:moveTo>
                  <a:lnTo>
                    <a:pt x="3918" y="19"/>
                  </a:lnTo>
                  <a:lnTo>
                    <a:pt x="3605" y="19"/>
                  </a:lnTo>
                  <a:lnTo>
                    <a:pt x="3605" y="1027"/>
                  </a:lnTo>
                  <a:lnTo>
                    <a:pt x="3238" y="1027"/>
                  </a:lnTo>
                  <a:cubicBezTo>
                    <a:pt x="3204" y="1027"/>
                    <a:pt x="3134" y="999"/>
                    <a:pt x="3134" y="901"/>
                  </a:cubicBezTo>
                  <a:lnTo>
                    <a:pt x="3134" y="22"/>
                  </a:lnTo>
                  <a:lnTo>
                    <a:pt x="2745" y="22"/>
                  </a:lnTo>
                  <a:cubicBezTo>
                    <a:pt x="2745" y="22"/>
                    <a:pt x="2828" y="38"/>
                    <a:pt x="2828" y="155"/>
                  </a:cubicBezTo>
                  <a:lnTo>
                    <a:pt x="2828" y="853"/>
                  </a:lnTo>
                  <a:cubicBezTo>
                    <a:pt x="2828" y="1245"/>
                    <a:pt x="3156" y="1223"/>
                    <a:pt x="3156" y="1223"/>
                  </a:cubicBezTo>
                  <a:lnTo>
                    <a:pt x="3918" y="1223"/>
                  </a:lnTo>
                  <a:close/>
                  <a:moveTo>
                    <a:pt x="2221" y="1223"/>
                  </a:moveTo>
                  <a:lnTo>
                    <a:pt x="2537" y="1223"/>
                  </a:lnTo>
                  <a:lnTo>
                    <a:pt x="2537" y="389"/>
                  </a:lnTo>
                  <a:cubicBezTo>
                    <a:pt x="2537" y="0"/>
                    <a:pt x="2237" y="19"/>
                    <a:pt x="2205" y="19"/>
                  </a:cubicBezTo>
                  <a:lnTo>
                    <a:pt x="1362" y="19"/>
                  </a:lnTo>
                  <a:cubicBezTo>
                    <a:pt x="1362" y="19"/>
                    <a:pt x="1437" y="47"/>
                    <a:pt x="1437" y="152"/>
                  </a:cubicBezTo>
                  <a:lnTo>
                    <a:pt x="1437" y="1223"/>
                  </a:lnTo>
                  <a:lnTo>
                    <a:pt x="1750" y="1223"/>
                  </a:lnTo>
                  <a:lnTo>
                    <a:pt x="1750" y="215"/>
                  </a:lnTo>
                  <a:lnTo>
                    <a:pt x="2117" y="215"/>
                  </a:lnTo>
                  <a:cubicBezTo>
                    <a:pt x="2152" y="215"/>
                    <a:pt x="2221" y="243"/>
                    <a:pt x="2221" y="341"/>
                  </a:cubicBezTo>
                  <a:lnTo>
                    <a:pt x="2221" y="1223"/>
                  </a:lnTo>
                  <a:lnTo>
                    <a:pt x="2221" y="122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26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7F358-E78D-9886-8E4D-C18D3DAF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39A3F5-0B25-FC31-954F-613703408DB9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9692C0-288C-E904-B057-C18D13784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8A7B30-7DBC-2438-C806-D07A5137459E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 추진 배경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13762E-36BC-83A4-7925-074D1F653675}"/>
              </a:ext>
            </a:extLst>
          </p:cNvPr>
          <p:cNvGrpSpPr/>
          <p:nvPr/>
        </p:nvGrpSpPr>
        <p:grpSpPr>
          <a:xfrm>
            <a:off x="573833" y="3026195"/>
            <a:ext cx="13202816" cy="1387081"/>
            <a:chOff x="709127" y="2397968"/>
            <a:chExt cx="13243249" cy="13870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04FCE1-AF25-1CB1-975E-353B0E21C330}"/>
                </a:ext>
              </a:extLst>
            </p:cNvPr>
            <p:cNvSpPr txBox="1"/>
            <p:nvPr/>
          </p:nvSpPr>
          <p:spPr>
            <a:xfrm>
              <a:off x="966236" y="2553943"/>
              <a:ext cx="10259527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 err="1"/>
                <a:t>Openstack</a:t>
              </a:r>
              <a:r>
                <a:rPr lang="en-US" altLang="ko-KR" sz="2800" b="1" dirty="0"/>
                <a:t> </a:t>
              </a:r>
              <a:r>
                <a:rPr lang="ko-KR" altLang="en-US" sz="2800" b="1" dirty="0"/>
                <a:t>클라우드 환경 내 </a:t>
              </a:r>
              <a:r>
                <a:rPr lang="en-US" altLang="ko-KR" sz="2800" b="1" dirty="0"/>
                <a:t>LLM </a:t>
              </a:r>
              <a:r>
                <a:rPr lang="ko-KR" altLang="en-US" sz="2800" b="1" dirty="0"/>
                <a:t>워크로드를 위한 </a:t>
              </a:r>
              <a:r>
                <a:rPr lang="en-US" altLang="ko-KR" sz="2800" b="1" dirty="0"/>
                <a:t>GPU </a:t>
              </a:r>
              <a:r>
                <a:rPr lang="ko-KR" altLang="en-US" sz="2800" b="1" dirty="0"/>
                <a:t>성능 분석</a:t>
              </a:r>
              <a:r>
                <a:rPr lang="en-US" altLang="ko-KR" sz="2800" b="1" dirty="0"/>
                <a:t>: MIG</a:t>
              </a:r>
              <a:r>
                <a:rPr lang="ko-KR" altLang="en-US" sz="2800" b="1" dirty="0"/>
                <a:t>와 </a:t>
              </a:r>
              <a:r>
                <a:rPr lang="en-US" altLang="ko-KR" sz="2800" b="1" dirty="0"/>
                <a:t>PCIe </a:t>
              </a:r>
              <a:r>
                <a:rPr lang="ko-KR" altLang="en-US" sz="2800" b="1" dirty="0" err="1"/>
                <a:t>패스스루를</a:t>
              </a:r>
              <a:r>
                <a:rPr lang="ko-KR" altLang="en-US" sz="2800" b="1" dirty="0"/>
                <a:t> 중심으로</a:t>
              </a:r>
            </a:p>
            <a:p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248C0A-6CB4-164A-C5B7-B09D1758DE21}"/>
                </a:ext>
              </a:extLst>
            </p:cNvPr>
            <p:cNvSpPr txBox="1"/>
            <p:nvPr/>
          </p:nvSpPr>
          <p:spPr>
            <a:xfrm>
              <a:off x="709127" y="2397968"/>
              <a:ext cx="2864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/>
                <a:t>“</a:t>
              </a:r>
              <a:endParaRPr lang="ko-KR" altLang="en-US" sz="36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38A049-31D6-2F3D-0690-DF998AD0864E}"/>
                </a:ext>
              </a:extLst>
            </p:cNvPr>
            <p:cNvSpPr txBox="1"/>
            <p:nvPr/>
          </p:nvSpPr>
          <p:spPr>
            <a:xfrm>
              <a:off x="11087878" y="2407299"/>
              <a:ext cx="2864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/>
                <a:t>”</a:t>
              </a:r>
              <a:endParaRPr lang="ko-KR" alt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3807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1E99-DC48-E322-FD7D-1F615A37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11B92F-57EE-4377-2264-ABA06F71CD81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28B541-9C32-88D2-E7C8-AF31A28F23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96AAA8-378B-3DEE-68E2-CA57327B7503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 추진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1A9AD-9A79-4109-B6D0-7C05E3DADAED}"/>
              </a:ext>
            </a:extLst>
          </p:cNvPr>
          <p:cNvSpPr txBox="1"/>
          <p:nvPr/>
        </p:nvSpPr>
        <p:spPr>
          <a:xfrm>
            <a:off x="617285" y="1801376"/>
            <a:ext cx="1099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u="sng" dirty="0"/>
              <a:t>LLM</a:t>
            </a:r>
            <a:r>
              <a:rPr lang="ko-KR" altLang="en-US" sz="2400" i="1" u="sng" dirty="0"/>
              <a:t>의 급격한 성장 </a:t>
            </a:r>
            <a:r>
              <a:rPr lang="en-US" altLang="ko-KR" sz="2400" i="1" u="sng" dirty="0"/>
              <a:t>→ </a:t>
            </a:r>
            <a:r>
              <a:rPr lang="ko-KR" altLang="en-US" sz="2400" i="1" u="sng" dirty="0"/>
              <a:t>고성능 </a:t>
            </a:r>
            <a:r>
              <a:rPr lang="en-US" altLang="ko-KR" sz="2400" i="1" u="sng" dirty="0"/>
              <a:t>GPU </a:t>
            </a:r>
            <a:r>
              <a:rPr lang="ko-KR" altLang="en-US" sz="2400" i="1" u="sng" dirty="0"/>
              <a:t>수요 급증 </a:t>
            </a:r>
            <a:r>
              <a:rPr lang="en-US" altLang="ko-KR" sz="2400" i="1" u="sng" dirty="0"/>
              <a:t>→ </a:t>
            </a:r>
            <a:r>
              <a:rPr lang="ko-KR" altLang="en-US" sz="2400" i="1" u="sng" dirty="0"/>
              <a:t>한정된 예산 속 최적의 구성 필요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026596-BC7F-3619-A1FC-306F9BED3EFF}"/>
              </a:ext>
            </a:extLst>
          </p:cNvPr>
          <p:cNvSpPr/>
          <p:nvPr/>
        </p:nvSpPr>
        <p:spPr>
          <a:xfrm>
            <a:off x="651547" y="2752531"/>
            <a:ext cx="5057192" cy="1483568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MIG </a:t>
            </a:r>
            <a:r>
              <a:rPr lang="ko-KR" altLang="en-US" sz="2000" b="1" dirty="0"/>
              <a:t>방식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124E88-053B-A47F-7269-5BD26CC8FB1A}"/>
              </a:ext>
            </a:extLst>
          </p:cNvPr>
          <p:cNvSpPr/>
          <p:nvPr/>
        </p:nvSpPr>
        <p:spPr>
          <a:xfrm>
            <a:off x="6410130" y="2752532"/>
            <a:ext cx="5057192" cy="148356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PCIe </a:t>
            </a:r>
            <a:r>
              <a:rPr lang="ko-KR" altLang="en-US" sz="2000" b="1" dirty="0" err="1"/>
              <a:t>패스스루</a:t>
            </a:r>
            <a:r>
              <a:rPr lang="ko-KR" altLang="en-US" sz="2000" b="1" dirty="0"/>
              <a:t> 방식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7072E2-FA1B-C305-F551-9A643700776D}"/>
              </a:ext>
            </a:extLst>
          </p:cNvPr>
          <p:cNvSpPr txBox="1"/>
          <p:nvPr/>
        </p:nvSpPr>
        <p:spPr>
          <a:xfrm>
            <a:off x="1259632" y="3429000"/>
            <a:ext cx="402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단일 고성능 </a:t>
            </a:r>
            <a:r>
              <a:rPr lang="en-US" altLang="ko-KR" dirty="0"/>
              <a:t>GPU</a:t>
            </a:r>
            <a:r>
              <a:rPr lang="ko-KR" altLang="en-US" dirty="0"/>
              <a:t>를 논리적으로 분할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0B0D3-5AEC-A740-69BF-50710EE6746A}"/>
              </a:ext>
            </a:extLst>
          </p:cNvPr>
          <p:cNvSpPr txBox="1"/>
          <p:nvPr/>
        </p:nvSpPr>
        <p:spPr>
          <a:xfrm>
            <a:off x="6984754" y="3429000"/>
            <a:ext cx="402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여러 대의 </a:t>
            </a:r>
            <a:r>
              <a:rPr lang="en-US" altLang="ko-KR" dirty="0"/>
              <a:t>GPU</a:t>
            </a:r>
            <a:r>
              <a:rPr lang="ko-KR" altLang="en-US" dirty="0"/>
              <a:t>를 </a:t>
            </a:r>
            <a:r>
              <a:rPr lang="en-US" altLang="ko-KR" dirty="0"/>
              <a:t>VM</a:t>
            </a:r>
            <a:r>
              <a:rPr lang="ko-KR" altLang="en-US" dirty="0"/>
              <a:t>에 직접 할당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F50AEE6-477F-A80B-0FC5-5061265E923C}"/>
              </a:ext>
            </a:extLst>
          </p:cNvPr>
          <p:cNvSpPr/>
          <p:nvPr/>
        </p:nvSpPr>
        <p:spPr>
          <a:xfrm>
            <a:off x="5651964" y="3119052"/>
            <a:ext cx="814941" cy="8210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3E151-4058-4902-1DD1-F50C74D26D61}"/>
              </a:ext>
            </a:extLst>
          </p:cNvPr>
          <p:cNvSpPr txBox="1"/>
          <p:nvPr/>
        </p:nvSpPr>
        <p:spPr>
          <a:xfrm>
            <a:off x="811763" y="4665306"/>
            <a:ext cx="10655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어떤 방식을 택해야 가성비와 연산 효율을 극대화할 수 있을지 레퍼런스를 제공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단순 하드웨어 스펙만 비교하는 것이 아니라 </a:t>
            </a:r>
            <a:r>
              <a:rPr lang="ko-KR" altLang="en-US" b="1" dirty="0" err="1"/>
              <a:t>오픈스택으로</a:t>
            </a:r>
            <a:r>
              <a:rPr lang="ko-KR" altLang="en-US" dirty="0"/>
              <a:t> 실제 연구실이나 기업들이 사용하는 환경인     </a:t>
            </a:r>
            <a:r>
              <a:rPr lang="ko-KR" altLang="en-US" b="1" dirty="0" err="1"/>
              <a:t>프라이빗</a:t>
            </a:r>
            <a:r>
              <a:rPr lang="ko-KR" altLang="en-US" b="1" dirty="0"/>
              <a:t> 클라우드 환경</a:t>
            </a:r>
            <a:r>
              <a:rPr lang="ko-KR" altLang="en-US" dirty="0"/>
              <a:t>을 구축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실무에 바로 적용이 가능한 가이드라인을 제시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42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68EE-15F2-3E13-01D6-B8EDB145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4B46DD-9AF5-4B5A-A6F1-D9FEB57A6515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C8A93-AD37-A978-AC82-CF6ABE364E66}"/>
              </a:ext>
            </a:extLst>
          </p:cNvPr>
          <p:cNvSpPr txBox="1"/>
          <p:nvPr/>
        </p:nvSpPr>
        <p:spPr>
          <a:xfrm>
            <a:off x="245806" y="265471"/>
            <a:ext cx="1049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오픈스택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기반 </a:t>
            </a:r>
            <a:r>
              <a:rPr lang="ko-KR" altLang="en-US" sz="4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프라이빗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클라우드 환경 구축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69D6D6E-4EA5-3279-779D-ABBE8AE19A66}"/>
              </a:ext>
            </a:extLst>
          </p:cNvPr>
          <p:cNvGrpSpPr/>
          <p:nvPr/>
        </p:nvGrpSpPr>
        <p:grpSpPr>
          <a:xfrm>
            <a:off x="70518" y="1302359"/>
            <a:ext cx="12050963" cy="5443246"/>
            <a:chOff x="133707" y="1348079"/>
            <a:chExt cx="12050963" cy="544324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6130624-E150-EA4C-61EA-88269DB9C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9887249" y="6228552"/>
              <a:ext cx="2126032" cy="562773"/>
            </a:xfrm>
            <a:prstGeom prst="rect">
              <a:avLst/>
            </a:prstGeom>
          </p:spPr>
        </p:pic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6C25FDF4-EDD6-2701-841C-D43AB32287F0}"/>
                </a:ext>
              </a:extLst>
            </p:cNvPr>
            <p:cNvGrpSpPr/>
            <p:nvPr/>
          </p:nvGrpSpPr>
          <p:grpSpPr>
            <a:xfrm>
              <a:off x="133707" y="1348079"/>
              <a:ext cx="4020004" cy="5434086"/>
              <a:chOff x="133707" y="655685"/>
              <a:chExt cx="3891180" cy="6126480"/>
            </a:xfrm>
          </p:grpSpPr>
          <p:sp>
            <p:nvSpPr>
              <p:cNvPr id="86" name="Shape 3">
                <a:extLst>
                  <a:ext uri="{FF2B5EF4-FFF2-40B4-BE49-F238E27FC236}">
                    <a16:creationId xmlns:a16="http://schemas.microsoft.com/office/drawing/2014/main" id="{66A16421-1960-95EC-B52B-B9056653D240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6126480"/>
              </a:xfrm>
              <a:prstGeom prst="rect">
                <a:avLst/>
              </a:prstGeom>
              <a:solidFill>
                <a:srgbClr val="EAF0FB"/>
              </a:solidFill>
              <a:ln w="1905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87" name="Shape 4">
                <a:extLst>
                  <a:ext uri="{FF2B5EF4-FFF2-40B4-BE49-F238E27FC236}">
                    <a16:creationId xmlns:a16="http://schemas.microsoft.com/office/drawing/2014/main" id="{497571BE-770F-437C-C442-C34D963F4E6D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256032"/>
              </a:xfrm>
              <a:prstGeom prst="rect">
                <a:avLst/>
              </a:prstGeom>
              <a:solidFill>
                <a:srgbClr val="5B8DD9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88" name="Text 5">
                <a:extLst>
                  <a:ext uri="{FF2B5EF4-FFF2-40B4-BE49-F238E27FC236}">
                    <a16:creationId xmlns:a16="http://schemas.microsoft.com/office/drawing/2014/main" id="{D949CB2B-4E84-A33B-0CFE-230EE02D4A4F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Control Node</a:t>
                </a:r>
                <a:endParaRPr lang="en-US" dirty="0"/>
              </a:p>
            </p:txBody>
          </p: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1B39B916-BDAE-B445-1152-1EDD57D2D439}"/>
                  </a:ext>
                </a:extLst>
              </p:cNvPr>
              <p:cNvGrpSpPr/>
              <p:nvPr/>
            </p:nvGrpSpPr>
            <p:grpSpPr>
              <a:xfrm>
                <a:off x="259229" y="1250045"/>
                <a:ext cx="3640136" cy="3264408"/>
                <a:chOff x="260823" y="1003157"/>
                <a:chExt cx="3640136" cy="2286000"/>
              </a:xfrm>
            </p:grpSpPr>
            <p:sp>
              <p:nvSpPr>
                <p:cNvPr id="101" name="Shape 6">
                  <a:extLst>
                    <a:ext uri="{FF2B5EF4-FFF2-40B4-BE49-F238E27FC236}">
                      <a16:creationId xmlns:a16="http://schemas.microsoft.com/office/drawing/2014/main" id="{1551C03D-1E73-5955-127A-61276A851A63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286000"/>
                </a:xfrm>
                <a:prstGeom prst="rect">
                  <a:avLst/>
                </a:prstGeom>
                <a:solidFill>
                  <a:srgbClr val="E8EEF8"/>
                </a:solidFill>
                <a:ln w="19050">
                  <a:solidFill>
                    <a:srgbClr val="3A6BC4"/>
                  </a:solidFill>
                  <a:prstDash val="solid"/>
                </a:ln>
              </p:spPr>
              <p:txBody>
                <a:bodyPr wrap="none">
                  <a:normAutofit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2" name="Shape 7">
                  <a:extLst>
                    <a:ext uri="{FF2B5EF4-FFF2-40B4-BE49-F238E27FC236}">
                      <a16:creationId xmlns:a16="http://schemas.microsoft.com/office/drawing/2014/main" id="{474F9297-8486-18D5-5767-3C595EEAEF1E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56032"/>
                </a:xfrm>
                <a:prstGeom prst="rect">
                  <a:avLst/>
                </a:prstGeom>
                <a:solidFill>
                  <a:srgbClr val="3A6BC4"/>
                </a:solidFill>
                <a:ln w="12700">
                  <a:solidFill>
                    <a:srgbClr val="3A6BC4"/>
                  </a:solidFill>
                  <a:prstDash val="solid"/>
                </a:ln>
              </p:spPr>
              <p:txBody>
                <a:bodyPr wrap="none">
                  <a:normAutofit fontScale="55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3" name="Text 8">
                  <a:extLst>
                    <a:ext uri="{FF2B5EF4-FFF2-40B4-BE49-F238E27FC236}">
                      <a16:creationId xmlns:a16="http://schemas.microsoft.com/office/drawing/2014/main" id="{8A351771-9A98-4915-C301-6027720CD658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56032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OpenStack Controller</a:t>
                  </a:r>
                  <a:endParaRPr lang="en-US" sz="1200" dirty="0"/>
                </a:p>
              </p:txBody>
            </p:sp>
            <p:sp>
              <p:nvSpPr>
                <p:cNvPr id="104" name="Shape 9">
                  <a:extLst>
                    <a:ext uri="{FF2B5EF4-FFF2-40B4-BE49-F238E27FC236}">
                      <a16:creationId xmlns:a16="http://schemas.microsoft.com/office/drawing/2014/main" id="{F9C364E9-411F-67D3-4B5C-5A04610A5C46}"/>
                    </a:ext>
                  </a:extLst>
                </p:cNvPr>
                <p:cNvSpPr/>
                <p:nvPr/>
              </p:nvSpPr>
              <p:spPr>
                <a:xfrm>
                  <a:off x="361240" y="132319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5" name="Text 10">
                  <a:extLst>
                    <a:ext uri="{FF2B5EF4-FFF2-40B4-BE49-F238E27FC236}">
                      <a16:creationId xmlns:a16="http://schemas.microsoft.com/office/drawing/2014/main" id="{B7119000-59A7-AC67-D66B-6F3441856546}"/>
                    </a:ext>
                  </a:extLst>
                </p:cNvPr>
                <p:cNvSpPr/>
                <p:nvPr/>
              </p:nvSpPr>
              <p:spPr>
                <a:xfrm>
                  <a:off x="361240" y="132319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Keystone</a:t>
                  </a:r>
                  <a:endParaRPr lang="en-US" sz="1100" dirty="0"/>
                </a:p>
              </p:txBody>
            </p:sp>
            <p:sp>
              <p:nvSpPr>
                <p:cNvPr id="106" name="Shape 11">
                  <a:extLst>
                    <a:ext uri="{FF2B5EF4-FFF2-40B4-BE49-F238E27FC236}">
                      <a16:creationId xmlns:a16="http://schemas.microsoft.com/office/drawing/2014/main" id="{E127692E-8F17-D92E-251D-A02FC05B52C5}"/>
                    </a:ext>
                  </a:extLst>
                </p:cNvPr>
                <p:cNvSpPr/>
                <p:nvPr/>
              </p:nvSpPr>
              <p:spPr>
                <a:xfrm>
                  <a:off x="2118548" y="132319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7" name="Text 12">
                  <a:extLst>
                    <a:ext uri="{FF2B5EF4-FFF2-40B4-BE49-F238E27FC236}">
                      <a16:creationId xmlns:a16="http://schemas.microsoft.com/office/drawing/2014/main" id="{DA18E50C-407F-A75C-E4EE-FA5783337B9D}"/>
                    </a:ext>
                  </a:extLst>
                </p:cNvPr>
                <p:cNvSpPr/>
                <p:nvPr/>
              </p:nvSpPr>
              <p:spPr>
                <a:xfrm>
                  <a:off x="2118548" y="132319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Nova</a:t>
                  </a:r>
                  <a:endParaRPr lang="en-US" sz="1100" dirty="0"/>
                </a:p>
              </p:txBody>
            </p:sp>
            <p:sp>
              <p:nvSpPr>
                <p:cNvPr id="108" name="Shape 13">
                  <a:extLst>
                    <a:ext uri="{FF2B5EF4-FFF2-40B4-BE49-F238E27FC236}">
                      <a16:creationId xmlns:a16="http://schemas.microsoft.com/office/drawing/2014/main" id="{47669E3D-2335-1004-CBCB-4A40D259C8FA}"/>
                    </a:ext>
                  </a:extLst>
                </p:cNvPr>
                <p:cNvSpPr/>
                <p:nvPr/>
              </p:nvSpPr>
              <p:spPr>
                <a:xfrm>
                  <a:off x="361240" y="191755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 dirty="0"/>
                </a:p>
              </p:txBody>
            </p:sp>
            <p:sp>
              <p:nvSpPr>
                <p:cNvPr id="109" name="Text 14">
                  <a:extLst>
                    <a:ext uri="{FF2B5EF4-FFF2-40B4-BE49-F238E27FC236}">
                      <a16:creationId xmlns:a16="http://schemas.microsoft.com/office/drawing/2014/main" id="{B32DCC10-F1A4-C43C-173C-255DBA135D34}"/>
                    </a:ext>
                  </a:extLst>
                </p:cNvPr>
                <p:cNvSpPr/>
                <p:nvPr/>
              </p:nvSpPr>
              <p:spPr>
                <a:xfrm>
                  <a:off x="361240" y="191755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Glance</a:t>
                  </a:r>
                  <a:endParaRPr lang="en-US" sz="1100" dirty="0"/>
                </a:p>
              </p:txBody>
            </p:sp>
            <p:sp>
              <p:nvSpPr>
                <p:cNvPr id="110" name="Shape 15">
                  <a:extLst>
                    <a:ext uri="{FF2B5EF4-FFF2-40B4-BE49-F238E27FC236}">
                      <a16:creationId xmlns:a16="http://schemas.microsoft.com/office/drawing/2014/main" id="{F4191D08-9BD5-0312-0C8E-D0F46C49AF82}"/>
                    </a:ext>
                  </a:extLst>
                </p:cNvPr>
                <p:cNvSpPr/>
                <p:nvPr/>
              </p:nvSpPr>
              <p:spPr>
                <a:xfrm>
                  <a:off x="2118548" y="191755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1" name="Text 16">
                  <a:extLst>
                    <a:ext uri="{FF2B5EF4-FFF2-40B4-BE49-F238E27FC236}">
                      <a16:creationId xmlns:a16="http://schemas.microsoft.com/office/drawing/2014/main" id="{F894F956-E8F5-0A6E-9F0A-EE3AC1801529}"/>
                    </a:ext>
                  </a:extLst>
                </p:cNvPr>
                <p:cNvSpPr/>
                <p:nvPr/>
              </p:nvSpPr>
              <p:spPr>
                <a:xfrm>
                  <a:off x="2118548" y="191755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Neutron</a:t>
                  </a:r>
                  <a:endParaRPr lang="en-US" sz="1100" dirty="0"/>
                </a:p>
              </p:txBody>
            </p:sp>
            <p:sp>
              <p:nvSpPr>
                <p:cNvPr id="112" name="Shape 17">
                  <a:extLst>
                    <a:ext uri="{FF2B5EF4-FFF2-40B4-BE49-F238E27FC236}">
                      <a16:creationId xmlns:a16="http://schemas.microsoft.com/office/drawing/2014/main" id="{1178968C-77C3-2E2E-385C-6DFD86A0C6C6}"/>
                    </a:ext>
                  </a:extLst>
                </p:cNvPr>
                <p:cNvSpPr/>
                <p:nvPr/>
              </p:nvSpPr>
              <p:spPr>
                <a:xfrm>
                  <a:off x="361240" y="251191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3" name="Text 18">
                  <a:extLst>
                    <a:ext uri="{FF2B5EF4-FFF2-40B4-BE49-F238E27FC236}">
                      <a16:creationId xmlns:a16="http://schemas.microsoft.com/office/drawing/2014/main" id="{412C9BA0-3BE5-63E7-D037-AE5A8F04645A}"/>
                    </a:ext>
                  </a:extLst>
                </p:cNvPr>
                <p:cNvSpPr/>
                <p:nvPr/>
              </p:nvSpPr>
              <p:spPr>
                <a:xfrm>
                  <a:off x="361240" y="251191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Placement</a:t>
                  </a:r>
                  <a:endParaRPr lang="en-US" sz="1100" dirty="0"/>
                </a:p>
              </p:txBody>
            </p:sp>
            <p:sp>
              <p:nvSpPr>
                <p:cNvPr id="114" name="Shape 19">
                  <a:extLst>
                    <a:ext uri="{FF2B5EF4-FFF2-40B4-BE49-F238E27FC236}">
                      <a16:creationId xmlns:a16="http://schemas.microsoft.com/office/drawing/2014/main" id="{5C62DDDF-5331-1AAE-3E02-2D1743145D5C}"/>
                    </a:ext>
                  </a:extLst>
                </p:cNvPr>
                <p:cNvSpPr/>
                <p:nvPr/>
              </p:nvSpPr>
              <p:spPr>
                <a:xfrm>
                  <a:off x="2118548" y="251191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5" name="Text 20">
                  <a:extLst>
                    <a:ext uri="{FF2B5EF4-FFF2-40B4-BE49-F238E27FC236}">
                      <a16:creationId xmlns:a16="http://schemas.microsoft.com/office/drawing/2014/main" id="{575E0186-B2A5-5DB6-0ECA-79F97893F226}"/>
                    </a:ext>
                  </a:extLst>
                </p:cNvPr>
                <p:cNvSpPr/>
                <p:nvPr/>
              </p:nvSpPr>
              <p:spPr>
                <a:xfrm>
                  <a:off x="2118548" y="251191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Horizon</a:t>
                  </a:r>
                  <a:endParaRPr lang="en-US" sz="1100" dirty="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098ADB2E-0C66-878F-FE9E-0F129B63B337}"/>
                  </a:ext>
                </a:extLst>
              </p:cNvPr>
              <p:cNvGrpSpPr/>
              <p:nvPr/>
            </p:nvGrpSpPr>
            <p:grpSpPr>
              <a:xfrm>
                <a:off x="259229" y="4730838"/>
                <a:ext cx="3640136" cy="905256"/>
                <a:chOff x="260823" y="3426317"/>
                <a:chExt cx="3640136" cy="905256"/>
              </a:xfrm>
            </p:grpSpPr>
            <p:sp>
              <p:nvSpPr>
                <p:cNvPr id="94" name="Shape 21">
                  <a:extLst>
                    <a:ext uri="{FF2B5EF4-FFF2-40B4-BE49-F238E27FC236}">
                      <a16:creationId xmlns:a16="http://schemas.microsoft.com/office/drawing/2014/main" id="{51EC35E7-A236-AA93-7848-CA58D0F404E2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905256"/>
                </a:xfrm>
                <a:prstGeom prst="rect">
                  <a:avLst/>
                </a:prstGeom>
                <a:solidFill>
                  <a:srgbClr val="F3E5F5"/>
                </a:solidFill>
                <a:ln w="1905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5" name="Shape 22">
                  <a:extLst>
                    <a:ext uri="{FF2B5EF4-FFF2-40B4-BE49-F238E27FC236}">
                      <a16:creationId xmlns:a16="http://schemas.microsoft.com/office/drawing/2014/main" id="{5BADDE21-E49F-3AC9-9094-46254BF5568A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256032"/>
                </a:xfrm>
                <a:prstGeom prst="rect">
                  <a:avLst/>
                </a:prstGeom>
                <a:solidFill>
                  <a:srgbClr val="7B1FA2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3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6" name="Text 23">
                  <a:extLst>
                    <a:ext uri="{FF2B5EF4-FFF2-40B4-BE49-F238E27FC236}">
                      <a16:creationId xmlns:a16="http://schemas.microsoft.com/office/drawing/2014/main" id="{A2A23213-0A41-9F6F-3538-A2F3DD333CF8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256032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모니터링</a:t>
                  </a:r>
                  <a:endParaRPr lang="en-US" sz="1200" dirty="0"/>
                </a:p>
              </p:txBody>
            </p:sp>
            <p:sp>
              <p:nvSpPr>
                <p:cNvPr id="97" name="Shape 24">
                  <a:extLst>
                    <a:ext uri="{FF2B5EF4-FFF2-40B4-BE49-F238E27FC236}">
                      <a16:creationId xmlns:a16="http://schemas.microsoft.com/office/drawing/2014/main" id="{CDF0F6CB-1338-579D-574B-8EC0A03F01DD}"/>
                    </a:ext>
                  </a:extLst>
                </p:cNvPr>
                <p:cNvSpPr/>
                <p:nvPr/>
              </p:nvSpPr>
              <p:spPr>
                <a:xfrm>
                  <a:off x="361240" y="3773789"/>
                  <a:ext cx="1569024" cy="411480"/>
                </a:xfrm>
                <a:prstGeom prst="rect">
                  <a:avLst/>
                </a:prstGeom>
                <a:solidFill>
                  <a:srgbClr val="EDE7F6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6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8" name="Text 25">
                  <a:extLst>
                    <a:ext uri="{FF2B5EF4-FFF2-40B4-BE49-F238E27FC236}">
                      <a16:creationId xmlns:a16="http://schemas.microsoft.com/office/drawing/2014/main" id="{80A30E99-DEB8-916D-FD6B-2B09E638732E}"/>
                    </a:ext>
                  </a:extLst>
                </p:cNvPr>
                <p:cNvSpPr/>
                <p:nvPr/>
              </p:nvSpPr>
              <p:spPr>
                <a:xfrm>
                  <a:off x="361240" y="3773789"/>
                  <a:ext cx="1569024" cy="41148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Prometheus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(서비스)</a:t>
                  </a:r>
                  <a:endParaRPr lang="en-US" sz="1100" dirty="0"/>
                </a:p>
              </p:txBody>
            </p:sp>
            <p:sp>
              <p:nvSpPr>
                <p:cNvPr id="99" name="Shape 26">
                  <a:extLst>
                    <a:ext uri="{FF2B5EF4-FFF2-40B4-BE49-F238E27FC236}">
                      <a16:creationId xmlns:a16="http://schemas.microsoft.com/office/drawing/2014/main" id="{3D74803A-94E7-6F19-07FD-BABBB22D09E3}"/>
                    </a:ext>
                  </a:extLst>
                </p:cNvPr>
                <p:cNvSpPr/>
                <p:nvPr/>
              </p:nvSpPr>
              <p:spPr>
                <a:xfrm>
                  <a:off x="2055787" y="3773789"/>
                  <a:ext cx="1569024" cy="411480"/>
                </a:xfrm>
                <a:prstGeom prst="rect">
                  <a:avLst/>
                </a:prstGeom>
                <a:solidFill>
                  <a:srgbClr val="EDE7F6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6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0" name="Text 27">
                  <a:extLst>
                    <a:ext uri="{FF2B5EF4-FFF2-40B4-BE49-F238E27FC236}">
                      <a16:creationId xmlns:a16="http://schemas.microsoft.com/office/drawing/2014/main" id="{F11E423D-3780-1715-8043-0CAC11606796}"/>
                    </a:ext>
                  </a:extLst>
                </p:cNvPr>
                <p:cNvSpPr/>
                <p:nvPr/>
              </p:nvSpPr>
              <p:spPr>
                <a:xfrm>
                  <a:off x="2055787" y="3773789"/>
                  <a:ext cx="1569024" cy="41148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Grafana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(서비스)</a:t>
                  </a:r>
                  <a:endParaRPr lang="en-US" sz="1100" dirty="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5012DD62-5445-EBA7-EF8D-622423785428}"/>
                  </a:ext>
                </a:extLst>
              </p:cNvPr>
              <p:cNvGrpSpPr/>
              <p:nvPr/>
            </p:nvGrpSpPr>
            <p:grpSpPr>
              <a:xfrm>
                <a:off x="221573" y="5960915"/>
                <a:ext cx="3665240" cy="496428"/>
                <a:chOff x="235719" y="6194297"/>
                <a:chExt cx="3665240" cy="496428"/>
              </a:xfrm>
            </p:grpSpPr>
            <p:sp>
              <p:nvSpPr>
                <p:cNvPr id="92" name="Shape 30">
                  <a:extLst>
                    <a:ext uri="{FF2B5EF4-FFF2-40B4-BE49-F238E27FC236}">
                      <a16:creationId xmlns:a16="http://schemas.microsoft.com/office/drawing/2014/main" id="{DB04FBDB-9F87-5B4C-636A-61444CFD3364}"/>
                    </a:ext>
                  </a:extLst>
                </p:cNvPr>
                <p:cNvSpPr/>
                <p:nvPr/>
              </p:nvSpPr>
              <p:spPr>
                <a:xfrm>
                  <a:off x="235719" y="6194297"/>
                  <a:ext cx="3640136" cy="457200"/>
                </a:xfrm>
                <a:prstGeom prst="rect">
                  <a:avLst/>
                </a:prstGeom>
                <a:solidFill>
                  <a:srgbClr val="F5F5F5"/>
                </a:solidFill>
                <a:ln w="12700">
                  <a:solidFill>
                    <a:srgbClr val="888888"/>
                  </a:solidFill>
                  <a:prstDash val="solid"/>
                </a:ln>
              </p:spPr>
              <p:txBody>
                <a:bodyPr wrap="none">
                  <a:normAutofit fontScale="77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3" name="Text 31">
                  <a:extLst>
                    <a:ext uri="{FF2B5EF4-FFF2-40B4-BE49-F238E27FC236}">
                      <a16:creationId xmlns:a16="http://schemas.microsoft.com/office/drawing/2014/main" id="{8B22DFD4-5366-4312-74E9-AD52CD07E54D}"/>
                    </a:ext>
                  </a:extLst>
                </p:cNvPr>
                <p:cNvSpPr/>
                <p:nvPr/>
              </p:nvSpPr>
              <p:spPr>
                <a:xfrm>
                  <a:off x="260823" y="6233525"/>
                  <a:ext cx="3640136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333333"/>
                      </a:solidFill>
                    </a:rPr>
                    <a:t>OS (Ubuntu)</a:t>
                  </a:r>
                  <a:endParaRPr lang="en-US" sz="1100" dirty="0"/>
                </a:p>
              </p:txBody>
            </p:sp>
          </p:grp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65919013-5322-D60E-B671-CAC1E668AEC5}"/>
                </a:ext>
              </a:extLst>
            </p:cNvPr>
            <p:cNvGrpSpPr/>
            <p:nvPr/>
          </p:nvGrpSpPr>
          <p:grpSpPr>
            <a:xfrm>
              <a:off x="4150410" y="1348079"/>
              <a:ext cx="4017558" cy="5434086"/>
              <a:chOff x="4150410" y="655685"/>
              <a:chExt cx="3891180" cy="6126480"/>
            </a:xfrm>
          </p:grpSpPr>
          <p:sp>
            <p:nvSpPr>
              <p:cNvPr id="117" name="Text 34">
                <a:extLst>
                  <a:ext uri="{FF2B5EF4-FFF2-40B4-BE49-F238E27FC236}">
                    <a16:creationId xmlns:a16="http://schemas.microsoft.com/office/drawing/2014/main" id="{53B4A0E3-4FB7-E7CC-DE6E-6DAD19469042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1  —  RTX Pro 6000 Blackwell</a:t>
                </a:r>
                <a:endParaRPr lang="en-US" sz="1200" dirty="0"/>
              </a:p>
            </p:txBody>
          </p:sp>
          <p:sp>
            <p:nvSpPr>
              <p:cNvPr id="118" name="Shape 32">
                <a:extLst>
                  <a:ext uri="{FF2B5EF4-FFF2-40B4-BE49-F238E27FC236}">
                    <a16:creationId xmlns:a16="http://schemas.microsoft.com/office/drawing/2014/main" id="{99171C6E-FAF7-EE35-D781-09429F80EA76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6126480"/>
              </a:xfrm>
              <a:prstGeom prst="rect">
                <a:avLst/>
              </a:prstGeom>
              <a:solidFill>
                <a:srgbClr val="E8F5E9"/>
              </a:solidFill>
              <a:ln w="19050">
                <a:solidFill>
                  <a:srgbClr val="388E3C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9" name="Shape 33">
                <a:extLst>
                  <a:ext uri="{FF2B5EF4-FFF2-40B4-BE49-F238E27FC236}">
                    <a16:creationId xmlns:a16="http://schemas.microsoft.com/office/drawing/2014/main" id="{0B18E303-5556-D744-4105-DFEA5C1D53F1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solidFill>
                <a:srgbClr val="388E3C"/>
              </a:solidFill>
              <a:ln w="12700">
                <a:solidFill>
                  <a:srgbClr val="388E3C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0" name="Text 34">
                <a:extLst>
                  <a:ext uri="{FF2B5EF4-FFF2-40B4-BE49-F238E27FC236}">
                    <a16:creationId xmlns:a16="http://schemas.microsoft.com/office/drawing/2014/main" id="{3F24E105-169F-4598-5807-EB4BFE4598DE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1  —  RTX Pro 6000 Blackwell</a:t>
                </a:r>
                <a:endParaRPr lang="en-US" sz="1200" dirty="0"/>
              </a:p>
            </p:txBody>
          </p:sp>
          <p:sp>
            <p:nvSpPr>
              <p:cNvPr id="121" name="Shape 35">
                <a:extLst>
                  <a:ext uri="{FF2B5EF4-FFF2-40B4-BE49-F238E27FC236}">
                    <a16:creationId xmlns:a16="http://schemas.microsoft.com/office/drawing/2014/main" id="{1CCC05A5-EAAA-0C40-C7AE-1366444499B6}"/>
                  </a:ext>
                </a:extLst>
              </p:cNvPr>
              <p:cNvSpPr/>
              <p:nvPr/>
            </p:nvSpPr>
            <p:spPr>
              <a:xfrm>
                <a:off x="4275932" y="975725"/>
                <a:ext cx="3640136" cy="292608"/>
              </a:xfrm>
              <a:prstGeom prst="rect">
                <a:avLst/>
              </a:prstGeom>
              <a:solidFill>
                <a:srgbClr val="1B5E20"/>
              </a:solidFill>
              <a:ln w="12700">
                <a:solidFill>
                  <a:srgbClr val="1B5E20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2" name="Text 36">
                <a:extLst>
                  <a:ext uri="{FF2B5EF4-FFF2-40B4-BE49-F238E27FC236}">
                    <a16:creationId xmlns:a16="http://schemas.microsoft.com/office/drawing/2014/main" id="{858EC05C-E97A-1AC8-84FE-52C9208C5DCE}"/>
                  </a:ext>
                </a:extLst>
              </p:cNvPr>
              <p:cNvSpPr/>
              <p:nvPr/>
            </p:nvSpPr>
            <p:spPr>
              <a:xfrm>
                <a:off x="4275932" y="975725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</a:rPr>
                  <a:t>RTX Pro 6000 Blackwell 1장  Passthrough →  VM 1</a:t>
                </a:r>
                <a:r>
                  <a:rPr lang="ko-KR" altLang="en-US" sz="1050" b="1" dirty="0">
                    <a:solidFill>
                      <a:srgbClr val="FFFFFF"/>
                    </a:solidFill>
                  </a:rPr>
                  <a:t>개 전용 할당</a:t>
                </a:r>
                <a:endParaRPr lang="en-US" sz="1050" dirty="0"/>
              </a:p>
            </p:txBody>
          </p:sp>
          <p:sp>
            <p:nvSpPr>
              <p:cNvPr id="123" name="Shape 55">
                <a:extLst>
                  <a:ext uri="{FF2B5EF4-FFF2-40B4-BE49-F238E27FC236}">
                    <a16:creationId xmlns:a16="http://schemas.microsoft.com/office/drawing/2014/main" id="{3CBF1064-4840-F25F-A363-AE0AAC80EBAA}"/>
                  </a:ext>
                </a:extLst>
              </p:cNvPr>
              <p:cNvSpPr/>
              <p:nvPr/>
            </p:nvSpPr>
            <p:spPr>
              <a:xfrm>
                <a:off x="4275932" y="6120000"/>
                <a:ext cx="3640136" cy="292608"/>
              </a:xfrm>
              <a:prstGeom prst="rect">
                <a:avLst/>
              </a:prstGeom>
              <a:solidFill>
                <a:srgbClr val="607D8B"/>
              </a:solidFill>
              <a:ln w="12700">
                <a:solidFill>
                  <a:srgbClr val="607D8B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 dirty="0"/>
              </a:p>
            </p:txBody>
          </p:sp>
          <p:sp>
            <p:nvSpPr>
              <p:cNvPr id="124" name="Text 56">
                <a:extLst>
                  <a:ext uri="{FF2B5EF4-FFF2-40B4-BE49-F238E27FC236}">
                    <a16:creationId xmlns:a16="http://schemas.microsoft.com/office/drawing/2014/main" id="{CDD1BC3F-2260-85B2-8076-B3C3B50A9995}"/>
                  </a:ext>
                </a:extLst>
              </p:cNvPr>
              <p:cNvSpPr/>
              <p:nvPr/>
            </p:nvSpPr>
            <p:spPr>
              <a:xfrm>
                <a:off x="4275932" y="6120000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하이퍼바이저 (KVM) / Nova-compute</a:t>
                </a:r>
                <a:endParaRPr lang="en-US" sz="1100" dirty="0"/>
              </a:p>
            </p:txBody>
          </p:sp>
          <p:sp>
            <p:nvSpPr>
              <p:cNvPr id="125" name="Shape 57">
                <a:extLst>
                  <a:ext uri="{FF2B5EF4-FFF2-40B4-BE49-F238E27FC236}">
                    <a16:creationId xmlns:a16="http://schemas.microsoft.com/office/drawing/2014/main" id="{ADC9EB35-4541-BDF0-4D07-55F73A2C967C}"/>
                  </a:ext>
                </a:extLst>
              </p:cNvPr>
              <p:cNvSpPr/>
              <p:nvPr/>
            </p:nvSpPr>
            <p:spPr>
              <a:xfrm>
                <a:off x="4275932" y="6440040"/>
                <a:ext cx="3640136" cy="201168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 wrap="none">
                <a:normAutofit fontScale="25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6" name="Text 58">
                <a:extLst>
                  <a:ext uri="{FF2B5EF4-FFF2-40B4-BE49-F238E27FC236}">
                    <a16:creationId xmlns:a16="http://schemas.microsoft.com/office/drawing/2014/main" id="{EED0E208-F420-65D3-D0C1-7B13497C6263}"/>
                  </a:ext>
                </a:extLst>
              </p:cNvPr>
              <p:cNvSpPr/>
              <p:nvPr/>
            </p:nvSpPr>
            <p:spPr>
              <a:xfrm>
                <a:off x="4275932" y="6440040"/>
                <a:ext cx="3640136" cy="20116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333333"/>
                    </a:solidFill>
                  </a:rPr>
                  <a:t>OS (Ubuntu)  </a:t>
                </a:r>
                <a:endParaRPr lang="en-US" sz="1050" dirty="0"/>
              </a:p>
            </p:txBody>
          </p:sp>
          <p:sp>
            <p:nvSpPr>
              <p:cNvPr id="127" name="Shape 37">
                <a:extLst>
                  <a:ext uri="{FF2B5EF4-FFF2-40B4-BE49-F238E27FC236}">
                    <a16:creationId xmlns:a16="http://schemas.microsoft.com/office/drawing/2014/main" id="{F89C50CA-23A7-231A-0838-8D291F4D7AD7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429002"/>
              </a:xfrm>
              <a:prstGeom prst="rect">
                <a:avLst/>
              </a:prstGeom>
              <a:solidFill>
                <a:srgbClr val="F9FBE7"/>
              </a:solidFill>
              <a:ln w="19050">
                <a:solidFill>
                  <a:srgbClr val="7CB342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8" name="Shape 38">
                <a:extLst>
                  <a:ext uri="{FF2B5EF4-FFF2-40B4-BE49-F238E27FC236}">
                    <a16:creationId xmlns:a16="http://schemas.microsoft.com/office/drawing/2014/main" id="{112800E8-9B42-A642-C64B-93D268CC3EAF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solidFill>
                <a:srgbClr val="7CB342"/>
              </a:solidFill>
              <a:ln w="12700">
                <a:solidFill>
                  <a:srgbClr val="7CB342"/>
                </a:solidFill>
                <a:prstDash val="solid"/>
              </a:ln>
            </p:spPr>
            <p:txBody>
              <a:bodyPr wrap="none">
                <a:normAutofit fontScale="4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9" name="Text 39">
                <a:extLst>
                  <a:ext uri="{FF2B5EF4-FFF2-40B4-BE49-F238E27FC236}">
                    <a16:creationId xmlns:a16="http://schemas.microsoft.com/office/drawing/2014/main" id="{A1A3E77A-4FDD-3DA0-7A85-A260171E3279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VM-expensive  </a:t>
                </a:r>
                <a:endParaRPr lang="en-US" sz="1200" dirty="0"/>
              </a:p>
            </p:txBody>
          </p:sp>
          <p:sp>
            <p:nvSpPr>
              <p:cNvPr id="130" name="Shape 40">
                <a:extLst>
                  <a:ext uri="{FF2B5EF4-FFF2-40B4-BE49-F238E27FC236}">
                    <a16:creationId xmlns:a16="http://schemas.microsoft.com/office/drawing/2014/main" id="{25B8A1EB-12F1-3F5B-94F9-ECC5EFB56CDA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solidFill>
                <a:srgbClr val="E3F2FD"/>
              </a:solidFill>
              <a:ln w="12700">
                <a:solidFill>
                  <a:srgbClr val="1976D2"/>
                </a:solidFill>
                <a:prstDash val="solid"/>
              </a:ln>
            </p:spPr>
            <p:txBody>
              <a:bodyPr wrap="none">
                <a:normAutofit lnSpcReduction="1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31" name="Text 41">
                <a:extLst>
                  <a:ext uri="{FF2B5EF4-FFF2-40B4-BE49-F238E27FC236}">
                    <a16:creationId xmlns:a16="http://schemas.microsoft.com/office/drawing/2014/main" id="{C70E9DFA-06AF-3433-39DA-1B9F0BAFA322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0D47A1"/>
                    </a:solidFill>
                  </a:rPr>
                  <a:t>Docker  :  사용자 작업 실행</a:t>
                </a:r>
                <a:endParaRPr lang="en-US" sz="1100" dirty="0"/>
              </a:p>
            </p:txBody>
          </p:sp>
          <p:sp>
            <p:nvSpPr>
              <p:cNvPr id="132" name="Shape 42">
                <a:extLst>
                  <a:ext uri="{FF2B5EF4-FFF2-40B4-BE49-F238E27FC236}">
                    <a16:creationId xmlns:a16="http://schemas.microsoft.com/office/drawing/2014/main" id="{D707A755-3259-18F6-5F59-C9B290D32812}"/>
                  </a:ext>
                </a:extLst>
              </p:cNvPr>
              <p:cNvSpPr/>
              <p:nvPr/>
            </p:nvSpPr>
            <p:spPr>
              <a:xfrm>
                <a:off x="4376346" y="2595753"/>
                <a:ext cx="3439301" cy="609976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222222"/>
                    </a:solidFill>
                  </a:rPr>
                  <a:t>DCGM Exporter</a:t>
                </a:r>
                <a:endParaRPr lang="en-US" altLang="ko-KR" sz="1100" dirty="0"/>
              </a:p>
            </p:txBody>
          </p:sp>
          <p:sp>
            <p:nvSpPr>
              <p:cNvPr id="133" name="Shape 44">
                <a:extLst>
                  <a:ext uri="{FF2B5EF4-FFF2-40B4-BE49-F238E27FC236}">
                    <a16:creationId xmlns:a16="http://schemas.microsoft.com/office/drawing/2014/main" id="{0CCE7730-EAA7-566C-A389-A308FD851610}"/>
                  </a:ext>
                </a:extLst>
              </p:cNvPr>
              <p:cNvSpPr/>
              <p:nvPr/>
            </p:nvSpPr>
            <p:spPr>
              <a:xfrm>
                <a:off x="4376347" y="3546580"/>
                <a:ext cx="3439300" cy="79413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(MIG disable) (96GB)</a:t>
                </a:r>
                <a:endParaRPr lang="en-US" altLang="ko-KR" sz="1100" dirty="0"/>
              </a:p>
            </p:txBody>
          </p:sp>
          <p:sp>
            <p:nvSpPr>
              <p:cNvPr id="134" name="Shape 44">
                <a:extLst>
                  <a:ext uri="{FF2B5EF4-FFF2-40B4-BE49-F238E27FC236}">
                    <a16:creationId xmlns:a16="http://schemas.microsoft.com/office/drawing/2014/main" id="{4F0F7C14-C942-6193-AD69-147D33DE746C}"/>
                  </a:ext>
                </a:extLst>
              </p:cNvPr>
              <p:cNvSpPr/>
              <p:nvPr/>
            </p:nvSpPr>
            <p:spPr>
              <a:xfrm>
                <a:off x="4376348" y="4958807"/>
                <a:ext cx="3439301" cy="428377"/>
              </a:xfrm>
              <a:prstGeom prst="rect">
                <a:avLst/>
              </a:prstGeom>
              <a:solidFill>
                <a:srgbClr val="263238"/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(Passthrough) (96GB)</a:t>
                </a:r>
                <a:endParaRPr lang="en-US" altLang="ko-KR" sz="1100" dirty="0"/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9544ED31-7872-1692-90E3-AA83F7FAFCE6}"/>
                </a:ext>
              </a:extLst>
            </p:cNvPr>
            <p:cNvGrpSpPr/>
            <p:nvPr/>
          </p:nvGrpSpPr>
          <p:grpSpPr>
            <a:xfrm>
              <a:off x="8167111" y="1348079"/>
              <a:ext cx="4017559" cy="5434086"/>
              <a:chOff x="8167112" y="655685"/>
              <a:chExt cx="3891180" cy="6126480"/>
            </a:xfrm>
          </p:grpSpPr>
          <p:sp>
            <p:nvSpPr>
              <p:cNvPr id="155" name="Shape 59">
                <a:extLst>
                  <a:ext uri="{FF2B5EF4-FFF2-40B4-BE49-F238E27FC236}">
                    <a16:creationId xmlns:a16="http://schemas.microsoft.com/office/drawing/2014/main" id="{5CCECBF7-9C01-7F6F-3100-D6366998C607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6126480"/>
              </a:xfrm>
              <a:prstGeom prst="rect">
                <a:avLst/>
              </a:prstGeom>
              <a:solidFill>
                <a:srgbClr val="FFF3E0"/>
              </a:solidFill>
              <a:ln w="1905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6" name="Shape 60">
                <a:extLst>
                  <a:ext uri="{FF2B5EF4-FFF2-40B4-BE49-F238E27FC236}">
                    <a16:creationId xmlns:a16="http://schemas.microsoft.com/office/drawing/2014/main" id="{EB5E31F4-AA8D-2081-95F1-A4180F1BFAC7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256032"/>
              </a:xfrm>
              <a:prstGeom prst="rect">
                <a:avLst/>
              </a:prstGeom>
              <a:solidFill>
                <a:srgbClr val="EF6C00"/>
              </a:solidFill>
              <a:ln w="1270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7" name="Text 61">
                <a:extLst>
                  <a:ext uri="{FF2B5EF4-FFF2-40B4-BE49-F238E27FC236}">
                    <a16:creationId xmlns:a16="http://schemas.microsoft.com/office/drawing/2014/main" id="{97DCDCD8-7841-71FB-D316-73DFF923CC24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2  —  RTX A6000 Ada × 4</a:t>
                </a:r>
                <a:endParaRPr lang="en-US" sz="1200" dirty="0"/>
              </a:p>
            </p:txBody>
          </p:sp>
          <p:sp>
            <p:nvSpPr>
              <p:cNvPr id="158" name="Shape 62">
                <a:extLst>
                  <a:ext uri="{FF2B5EF4-FFF2-40B4-BE49-F238E27FC236}">
                    <a16:creationId xmlns:a16="http://schemas.microsoft.com/office/drawing/2014/main" id="{3EAB1024-5F6B-4DDF-A774-A2FE917230EA}"/>
                  </a:ext>
                </a:extLst>
              </p:cNvPr>
              <p:cNvSpPr/>
              <p:nvPr/>
            </p:nvSpPr>
            <p:spPr>
              <a:xfrm>
                <a:off x="8292634" y="975725"/>
                <a:ext cx="3640136" cy="292608"/>
              </a:xfrm>
              <a:prstGeom prst="rect">
                <a:avLst/>
              </a:prstGeom>
              <a:solidFill>
                <a:srgbClr val="BF360C"/>
              </a:solidFill>
              <a:ln w="12700">
                <a:solidFill>
                  <a:srgbClr val="BF360C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9" name="Text 63">
                <a:extLst>
                  <a:ext uri="{FF2B5EF4-FFF2-40B4-BE49-F238E27FC236}">
                    <a16:creationId xmlns:a16="http://schemas.microsoft.com/office/drawing/2014/main" id="{28ED08E4-8FA8-E0AF-D9B3-A1B7692867DA}"/>
                  </a:ext>
                </a:extLst>
              </p:cNvPr>
              <p:cNvSpPr/>
              <p:nvPr/>
            </p:nvSpPr>
            <p:spPr>
              <a:xfrm>
                <a:off x="8292634" y="975725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RTX A6000 Ada  2장  Passthrough  →  VM 1개 전용 할당</a:t>
                </a:r>
                <a:endParaRPr lang="en-US" sz="1050" dirty="0"/>
              </a:p>
            </p:txBody>
          </p: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BBE2152C-DBE9-5731-E9E0-31CB95BDB3C1}"/>
                  </a:ext>
                </a:extLst>
              </p:cNvPr>
              <p:cNvGrpSpPr/>
              <p:nvPr/>
            </p:nvGrpSpPr>
            <p:grpSpPr>
              <a:xfrm>
                <a:off x="8292633" y="6120000"/>
                <a:ext cx="3640136" cy="521208"/>
                <a:chOff x="8291041" y="5913485"/>
                <a:chExt cx="3640136" cy="521208"/>
              </a:xfrm>
            </p:grpSpPr>
            <p:sp>
              <p:nvSpPr>
                <p:cNvPr id="173" name="Shape 92">
                  <a:extLst>
                    <a:ext uri="{FF2B5EF4-FFF2-40B4-BE49-F238E27FC236}">
                      <a16:creationId xmlns:a16="http://schemas.microsoft.com/office/drawing/2014/main" id="{C73DF9D9-2ADA-C7CA-704F-77C59222D055}"/>
                    </a:ext>
                  </a:extLst>
                </p:cNvPr>
                <p:cNvSpPr/>
                <p:nvPr/>
              </p:nvSpPr>
              <p:spPr>
                <a:xfrm>
                  <a:off x="8291041" y="5913485"/>
                  <a:ext cx="3640136" cy="292608"/>
                </a:xfrm>
                <a:prstGeom prst="rect">
                  <a:avLst/>
                </a:prstGeom>
                <a:solidFill>
                  <a:srgbClr val="607D8B"/>
                </a:solidFill>
                <a:ln w="12700">
                  <a:solidFill>
                    <a:srgbClr val="607D8B"/>
                  </a:solidFill>
                  <a:prstDash val="solid"/>
                </a:ln>
              </p:spPr>
              <p:txBody>
                <a:bodyPr wrap="none">
                  <a:normAutofit fontScale="40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74" name="Text 93">
                  <a:extLst>
                    <a:ext uri="{FF2B5EF4-FFF2-40B4-BE49-F238E27FC236}">
                      <a16:creationId xmlns:a16="http://schemas.microsoft.com/office/drawing/2014/main" id="{65674F62-D2B7-A27E-872B-1DD436F705AE}"/>
                    </a:ext>
                  </a:extLst>
                </p:cNvPr>
                <p:cNvSpPr/>
                <p:nvPr/>
              </p:nvSpPr>
              <p:spPr>
                <a:xfrm>
                  <a:off x="8291041" y="5913485"/>
                  <a:ext cx="3640136" cy="29260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</a:rPr>
                    <a:t>하이퍼바이저 (KVM) / Nova-compute</a:t>
                  </a:r>
                  <a:endParaRPr lang="en-US" sz="1100" dirty="0"/>
                </a:p>
              </p:txBody>
            </p:sp>
            <p:sp>
              <p:nvSpPr>
                <p:cNvPr id="175" name="Shape 94">
                  <a:extLst>
                    <a:ext uri="{FF2B5EF4-FFF2-40B4-BE49-F238E27FC236}">
                      <a16:creationId xmlns:a16="http://schemas.microsoft.com/office/drawing/2014/main" id="{59BA48DD-6358-04A0-0E6F-2BFC0A914FFB}"/>
                    </a:ext>
                  </a:extLst>
                </p:cNvPr>
                <p:cNvSpPr/>
                <p:nvPr/>
              </p:nvSpPr>
              <p:spPr>
                <a:xfrm>
                  <a:off x="8291041" y="6233525"/>
                  <a:ext cx="3640136" cy="201168"/>
                </a:xfrm>
                <a:prstGeom prst="rect">
                  <a:avLst/>
                </a:prstGeom>
                <a:solidFill>
                  <a:srgbClr val="F5F5F5"/>
                </a:solidFill>
                <a:ln w="12700">
                  <a:solidFill>
                    <a:srgbClr val="888888"/>
                  </a:solidFill>
                  <a:prstDash val="solid"/>
                </a:ln>
              </p:spPr>
              <p:txBody>
                <a:bodyPr wrap="none">
                  <a:normAutofit fontScale="25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76" name="Text 95">
                  <a:extLst>
                    <a:ext uri="{FF2B5EF4-FFF2-40B4-BE49-F238E27FC236}">
                      <a16:creationId xmlns:a16="http://schemas.microsoft.com/office/drawing/2014/main" id="{0A21D932-C485-4340-33AF-1E65481FF19F}"/>
                    </a:ext>
                  </a:extLst>
                </p:cNvPr>
                <p:cNvSpPr/>
                <p:nvPr/>
              </p:nvSpPr>
              <p:spPr>
                <a:xfrm>
                  <a:off x="8291041" y="6233525"/>
                  <a:ext cx="3640136" cy="20116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050" dirty="0">
                      <a:solidFill>
                        <a:srgbClr val="333333"/>
                      </a:solidFill>
                    </a:rPr>
                    <a:t>OS (Ubuntu)</a:t>
                  </a:r>
                  <a:endParaRPr lang="en-US" sz="1050" dirty="0"/>
                </a:p>
              </p:txBody>
            </p:sp>
          </p:grpSp>
          <p:sp>
            <p:nvSpPr>
              <p:cNvPr id="161" name="Shape 37">
                <a:extLst>
                  <a:ext uri="{FF2B5EF4-FFF2-40B4-BE49-F238E27FC236}">
                    <a16:creationId xmlns:a16="http://schemas.microsoft.com/office/drawing/2014/main" id="{3007220E-CD7F-59D2-2247-DEA0979CD3AA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4290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 dirty="0"/>
              </a:p>
            </p:txBody>
          </p:sp>
          <p:sp>
            <p:nvSpPr>
              <p:cNvPr id="162" name="Shape 38">
                <a:extLst>
                  <a:ext uri="{FF2B5EF4-FFF2-40B4-BE49-F238E27FC236}">
                    <a16:creationId xmlns:a16="http://schemas.microsoft.com/office/drawing/2014/main" id="{1931F773-2B25-6EFB-10CE-907470C40F38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15646"/>
              </a:xfrm>
              <a:prstGeom prst="rect">
                <a:avLst/>
              </a:prstGeom>
              <a:solidFill>
                <a:srgbClr val="EF6C00"/>
              </a:solidFill>
              <a:ln w="1270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 fontScale="4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63" name="Text 39">
                <a:extLst>
                  <a:ext uri="{FF2B5EF4-FFF2-40B4-BE49-F238E27FC236}">
                    <a16:creationId xmlns:a16="http://schemas.microsoft.com/office/drawing/2014/main" id="{EA42E1D6-18CF-56F1-23B0-29036D054B35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156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VM-cheap  </a:t>
                </a:r>
                <a:endParaRPr lang="en-US" sz="1200" dirty="0"/>
              </a:p>
            </p:txBody>
          </p:sp>
          <p:sp>
            <p:nvSpPr>
              <p:cNvPr id="164" name="Shape 40">
                <a:extLst>
                  <a:ext uri="{FF2B5EF4-FFF2-40B4-BE49-F238E27FC236}">
                    <a16:creationId xmlns:a16="http://schemas.microsoft.com/office/drawing/2014/main" id="{A0EC788C-34DB-46CE-3E84-1BD6787BECDD}"/>
                  </a:ext>
                </a:extLst>
              </p:cNvPr>
              <p:cNvSpPr/>
              <p:nvPr/>
            </p:nvSpPr>
            <p:spPr>
              <a:xfrm>
                <a:off x="8393050" y="1733360"/>
                <a:ext cx="3439301" cy="620018"/>
              </a:xfrm>
              <a:prstGeom prst="rect">
                <a:avLst/>
              </a:prstGeom>
              <a:solidFill>
                <a:srgbClr val="E3F2FD"/>
              </a:solidFill>
              <a:ln w="12700">
                <a:solidFill>
                  <a:srgbClr val="1976D2"/>
                </a:solidFill>
                <a:prstDash val="solid"/>
              </a:ln>
            </p:spPr>
            <p:txBody>
              <a:bodyPr wrap="none">
                <a:normAutofit lnSpcReduction="1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65" name="Text 41">
                <a:extLst>
                  <a:ext uri="{FF2B5EF4-FFF2-40B4-BE49-F238E27FC236}">
                    <a16:creationId xmlns:a16="http://schemas.microsoft.com/office/drawing/2014/main" id="{9FFBBC40-528E-6BC2-4A4C-12A6E9BD2CF4}"/>
                  </a:ext>
                </a:extLst>
              </p:cNvPr>
              <p:cNvSpPr/>
              <p:nvPr/>
            </p:nvSpPr>
            <p:spPr>
              <a:xfrm>
                <a:off x="8393050" y="1733360"/>
                <a:ext cx="3439301" cy="620018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0D47A1"/>
                    </a:solidFill>
                  </a:rPr>
                  <a:t>Docker  :  사용자 작업 실행</a:t>
                </a:r>
                <a:endParaRPr lang="en-US" sz="1100" dirty="0"/>
              </a:p>
            </p:txBody>
          </p:sp>
          <p:sp>
            <p:nvSpPr>
              <p:cNvPr id="166" name="Shape 42">
                <a:extLst>
                  <a:ext uri="{FF2B5EF4-FFF2-40B4-BE49-F238E27FC236}">
                    <a16:creationId xmlns:a16="http://schemas.microsoft.com/office/drawing/2014/main" id="{EFA1EE37-3F51-E108-CB95-12C5F1A4B6BB}"/>
                  </a:ext>
                </a:extLst>
              </p:cNvPr>
              <p:cNvSpPr/>
              <p:nvPr/>
            </p:nvSpPr>
            <p:spPr>
              <a:xfrm>
                <a:off x="8393047" y="2565639"/>
                <a:ext cx="3439301" cy="609976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222222"/>
                    </a:solidFill>
                  </a:rPr>
                  <a:t>DCGM Exporter</a:t>
                </a:r>
                <a:endParaRPr lang="en-US" altLang="ko-KR" sz="1100" dirty="0"/>
              </a:p>
            </p:txBody>
          </p:sp>
          <p:sp>
            <p:nvSpPr>
              <p:cNvPr id="167" name="Shape 44">
                <a:extLst>
                  <a:ext uri="{FF2B5EF4-FFF2-40B4-BE49-F238E27FC236}">
                    <a16:creationId xmlns:a16="http://schemas.microsoft.com/office/drawing/2014/main" id="{E0032F5A-8C91-B462-85E4-FBEB71C16E10}"/>
                  </a:ext>
                </a:extLst>
              </p:cNvPr>
              <p:cNvSpPr/>
              <p:nvPr/>
            </p:nvSpPr>
            <p:spPr>
              <a:xfrm>
                <a:off x="8393046" y="3356887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A6000 Ada #1 (48GB)</a:t>
                </a:r>
                <a:endParaRPr lang="en-US" altLang="ko-KR" sz="1100" dirty="0"/>
              </a:p>
            </p:txBody>
          </p:sp>
          <p:sp>
            <p:nvSpPr>
              <p:cNvPr id="168" name="Shape 44">
                <a:extLst>
                  <a:ext uri="{FF2B5EF4-FFF2-40B4-BE49-F238E27FC236}">
                    <a16:creationId xmlns:a16="http://schemas.microsoft.com/office/drawing/2014/main" id="{903A4C19-8481-1374-D683-F3A494724194}"/>
                  </a:ext>
                </a:extLst>
              </p:cNvPr>
              <p:cNvSpPr/>
              <p:nvPr/>
            </p:nvSpPr>
            <p:spPr>
              <a:xfrm>
                <a:off x="8393048" y="4159727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A6000 Ada #2 (48GB)</a:t>
                </a:r>
                <a:endParaRPr lang="en-US" altLang="ko-KR" sz="1100" dirty="0"/>
              </a:p>
            </p:txBody>
          </p:sp>
          <p:sp>
            <p:nvSpPr>
              <p:cNvPr id="169" name="Shape 44">
                <a:extLst>
                  <a:ext uri="{FF2B5EF4-FFF2-40B4-BE49-F238E27FC236}">
                    <a16:creationId xmlns:a16="http://schemas.microsoft.com/office/drawing/2014/main" id="{688F143C-C872-6289-CCCB-AB0E6A545384}"/>
                  </a:ext>
                </a:extLst>
              </p:cNvPr>
              <p:cNvSpPr/>
              <p:nvPr/>
            </p:nvSpPr>
            <p:spPr>
              <a:xfrm>
                <a:off x="8393049" y="4928693"/>
                <a:ext cx="3439301" cy="428377"/>
              </a:xfrm>
              <a:prstGeom prst="rect">
                <a:avLst/>
              </a:prstGeom>
              <a:solidFill>
                <a:srgbClr val="263238"/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(Passthrough) (96GB)</a:t>
                </a:r>
                <a:endParaRPr lang="en-US" altLang="ko-KR" sz="1100" dirty="0"/>
              </a:p>
            </p:txBody>
          </p:sp>
          <p:cxnSp>
            <p:nvCxnSpPr>
              <p:cNvPr id="170" name="직선 화살표 연결선 169">
                <a:extLst>
                  <a:ext uri="{FF2B5EF4-FFF2-40B4-BE49-F238E27FC236}">
                    <a16:creationId xmlns:a16="http://schemas.microsoft.com/office/drawing/2014/main" id="{183315FC-2F1B-C94C-06B6-2B1AD437CC1D}"/>
                  </a:ext>
                </a:extLst>
              </p:cNvPr>
              <p:cNvCxnSpPr/>
              <p:nvPr/>
            </p:nvCxnSpPr>
            <p:spPr>
              <a:xfrm>
                <a:off x="9592336" y="3785264"/>
                <a:ext cx="0" cy="374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7CB07B83-123C-B2F4-2DB3-C622E7C880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1043" y="3785263"/>
                <a:ext cx="0" cy="374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99D69FD-DB4E-B349-AC6E-07BDD12C1701}"/>
                  </a:ext>
                </a:extLst>
              </p:cNvPr>
              <p:cNvSpPr txBox="1"/>
              <p:nvPr/>
            </p:nvSpPr>
            <p:spPr>
              <a:xfrm>
                <a:off x="9702081" y="3766601"/>
                <a:ext cx="969443" cy="430887"/>
              </a:xfrm>
              <a:prstGeom prst="rect">
                <a:avLst/>
              </a:prstGeom>
              <a:noFill/>
            </p:spPr>
            <p:txBody>
              <a:bodyPr wrap="none" rtlCol="0">
                <a:normAutofit fontScale="92500" lnSpcReduction="10000"/>
              </a:bodyPr>
              <a:lstStyle/>
              <a:p>
                <a:r>
                  <a:rPr lang="en-US" altLang="ko-KR" sz="1100" b="1" dirty="0"/>
                  <a:t>PCIe </a:t>
                </a:r>
                <a:r>
                  <a:rPr lang="ko-KR" altLang="en-US" sz="1100" b="1" dirty="0"/>
                  <a:t>통신</a:t>
                </a:r>
                <a:br>
                  <a:rPr lang="en-US" altLang="ko-KR" sz="1100" b="1" dirty="0"/>
                </a:br>
                <a:r>
                  <a:rPr lang="en-US" altLang="ko-KR" sz="1100" b="1" dirty="0"/>
                  <a:t>(over</a:t>
                </a:r>
                <a:r>
                  <a:rPr lang="ko-KR" altLang="en-US" sz="1100" b="1" dirty="0"/>
                  <a:t> </a:t>
                </a:r>
                <a:r>
                  <a:rPr lang="en-US" altLang="ko-KR" sz="1100" b="1" dirty="0"/>
                  <a:t>CPU)</a:t>
                </a:r>
                <a:endParaRPr lang="ko-KR" altLang="en-US" sz="11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677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517C-1DB0-FB1C-FECB-831BE355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818389-1050-349D-02D0-075A2EF24B53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35DA3-84E4-F728-293B-3D6C81803A89}"/>
              </a:ext>
            </a:extLst>
          </p:cNvPr>
          <p:cNvSpPr txBox="1"/>
          <p:nvPr/>
        </p:nvSpPr>
        <p:spPr>
          <a:xfrm>
            <a:off x="245806" y="265471"/>
            <a:ext cx="11285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오픈스택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기반 </a:t>
            </a:r>
            <a:r>
              <a:rPr lang="ko-KR" altLang="en-US" sz="4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프라이빗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클라우드 환경 구축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FB91C57-C325-729A-BE46-0B1E3F8A9306}"/>
              </a:ext>
            </a:extLst>
          </p:cNvPr>
          <p:cNvGrpSpPr/>
          <p:nvPr/>
        </p:nvGrpSpPr>
        <p:grpSpPr>
          <a:xfrm>
            <a:off x="938243" y="2066362"/>
            <a:ext cx="9900920" cy="4345070"/>
            <a:chOff x="1844040" y="1645920"/>
            <a:chExt cx="8503920" cy="356616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3FCB2C90-58AF-5B8D-1080-68FA905D3DB7}"/>
                </a:ext>
              </a:extLst>
            </p:cNvPr>
            <p:cNvSpPr/>
            <p:nvPr/>
          </p:nvSpPr>
          <p:spPr>
            <a:xfrm>
              <a:off x="1844040" y="164592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AB4281CF-CB7C-3054-4EEF-3D47003B096B}"/>
                </a:ext>
              </a:extLst>
            </p:cNvPr>
            <p:cNvSpPr/>
            <p:nvPr/>
          </p:nvSpPr>
          <p:spPr>
            <a:xfrm>
              <a:off x="1844040" y="1645920"/>
              <a:ext cx="64008" cy="1097280"/>
            </a:xfrm>
            <a:prstGeom prst="rect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7D913114-D689-ABDA-B20C-A710209BA77E}"/>
                </a:ext>
              </a:extLst>
            </p:cNvPr>
            <p:cNvSpPr/>
            <p:nvPr/>
          </p:nvSpPr>
          <p:spPr>
            <a:xfrm>
              <a:off x="2008632" y="175564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8E44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Keystone</a:t>
              </a:r>
              <a:endParaRPr lang="en-US" sz="1600" dirty="0"/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91C14A6C-B0C7-7480-61E0-15F21C85E3FF}"/>
                </a:ext>
              </a:extLst>
            </p:cNvPr>
            <p:cNvSpPr/>
            <p:nvPr/>
          </p:nvSpPr>
          <p:spPr>
            <a:xfrm>
              <a:off x="2008632" y="21488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사용자 인증 및 권한 관리</a:t>
              </a:r>
              <a:endParaRPr lang="en-US" sz="1200" dirty="0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E0C9BEAE-C654-4D7B-9AD5-8BF29CB847BE}"/>
                </a:ext>
              </a:extLst>
            </p:cNvPr>
            <p:cNvSpPr/>
            <p:nvPr/>
          </p:nvSpPr>
          <p:spPr>
            <a:xfrm>
              <a:off x="1844040" y="288036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F2797567-EBF9-694F-9423-66AFCC38B042}"/>
                </a:ext>
              </a:extLst>
            </p:cNvPr>
            <p:cNvSpPr/>
            <p:nvPr/>
          </p:nvSpPr>
          <p:spPr>
            <a:xfrm>
              <a:off x="1844040" y="2880360"/>
              <a:ext cx="64008" cy="1097280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BD3F1FE-4381-6528-4412-79E88F5B8864}"/>
                </a:ext>
              </a:extLst>
            </p:cNvPr>
            <p:cNvSpPr/>
            <p:nvPr/>
          </p:nvSpPr>
          <p:spPr>
            <a:xfrm>
              <a:off x="2008632" y="299008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Glance</a:t>
              </a:r>
              <a:endParaRPr lang="en-US" sz="1600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8FA98CB8-D57B-7198-2278-BBDFBB28C915}"/>
                </a:ext>
              </a:extLst>
            </p:cNvPr>
            <p:cNvSpPr/>
            <p:nvPr/>
          </p:nvSpPr>
          <p:spPr>
            <a:xfrm>
              <a:off x="2008632" y="338328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 OS 이미지 관리</a:t>
              </a:r>
              <a:endParaRPr lang="en-US" sz="1200" dirty="0"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6A6F52E7-EF7D-58F6-D618-17FBDEF7DD30}"/>
                </a:ext>
              </a:extLst>
            </p:cNvPr>
            <p:cNvSpPr/>
            <p:nvPr/>
          </p:nvSpPr>
          <p:spPr>
            <a:xfrm>
              <a:off x="1844040" y="411480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5AE86FC9-0C04-095E-9351-031CE083259E}"/>
                </a:ext>
              </a:extLst>
            </p:cNvPr>
            <p:cNvSpPr/>
            <p:nvPr/>
          </p:nvSpPr>
          <p:spPr>
            <a:xfrm>
              <a:off x="1844040" y="4114800"/>
              <a:ext cx="64008" cy="1097280"/>
            </a:xfrm>
            <a:prstGeom prst="rect">
              <a:avLst/>
            </a:prstGeom>
            <a:solidFill>
              <a:srgbClr val="148F77"/>
            </a:solidFill>
            <a:ln w="1270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2F8606AA-147F-AD55-56C0-EB5F6DBF5B39}"/>
                </a:ext>
              </a:extLst>
            </p:cNvPr>
            <p:cNvSpPr/>
            <p:nvPr/>
          </p:nvSpPr>
          <p:spPr>
            <a:xfrm>
              <a:off x="2008632" y="422452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148F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Placement</a:t>
              </a:r>
              <a:endParaRPr lang="en-US" sz="1600" dirty="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235303EC-28A6-973F-7DFB-D6AAAC8E11E0}"/>
                </a:ext>
              </a:extLst>
            </p:cNvPr>
            <p:cNvSpPr/>
            <p:nvPr/>
          </p:nvSpPr>
          <p:spPr>
            <a:xfrm>
              <a:off x="2008632" y="46177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노드별 자원 추적</a:t>
              </a:r>
              <a:endParaRPr lang="en-US" sz="1200" dirty="0"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CDAA073E-356C-2D7F-454C-315A5D2489F2}"/>
                </a:ext>
              </a:extLst>
            </p:cNvPr>
            <p:cNvSpPr/>
            <p:nvPr/>
          </p:nvSpPr>
          <p:spPr>
            <a:xfrm>
              <a:off x="6233160" y="164592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092A27EF-F86A-BD4F-91A8-982F11B02583}"/>
                </a:ext>
              </a:extLst>
            </p:cNvPr>
            <p:cNvSpPr/>
            <p:nvPr/>
          </p:nvSpPr>
          <p:spPr>
            <a:xfrm>
              <a:off x="6233160" y="1645920"/>
              <a:ext cx="64008" cy="1097280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E1FC2C26-4101-2700-89E2-2A1C9A87380F}"/>
                </a:ext>
              </a:extLst>
            </p:cNvPr>
            <p:cNvSpPr/>
            <p:nvPr/>
          </p:nvSpPr>
          <p:spPr>
            <a:xfrm>
              <a:off x="6397752" y="175564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E67E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Horizon</a:t>
              </a:r>
              <a:endParaRPr lang="en-US" sz="1600" dirty="0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1EEF3171-05FA-68E6-1D60-7B9FED28D12A}"/>
                </a:ext>
              </a:extLst>
            </p:cNvPr>
            <p:cNvSpPr/>
            <p:nvPr/>
          </p:nvSpPr>
          <p:spPr>
            <a:xfrm>
              <a:off x="6397752" y="21488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웹 기반 클라우드 제어 UI</a:t>
              </a:r>
              <a:endParaRPr lang="en-US" sz="120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71EBB63C-7291-2AF5-E413-C4FC319EC636}"/>
                </a:ext>
              </a:extLst>
            </p:cNvPr>
            <p:cNvSpPr/>
            <p:nvPr/>
          </p:nvSpPr>
          <p:spPr>
            <a:xfrm>
              <a:off x="6233160" y="288036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B639CC92-72F8-7A88-0B3B-C7789DE04896}"/>
                </a:ext>
              </a:extLst>
            </p:cNvPr>
            <p:cNvSpPr/>
            <p:nvPr/>
          </p:nvSpPr>
          <p:spPr>
            <a:xfrm>
              <a:off x="6233160" y="2880360"/>
              <a:ext cx="64008" cy="1097280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454B14A3-5E1A-DBDA-4066-C1284F4130CC}"/>
                </a:ext>
              </a:extLst>
            </p:cNvPr>
            <p:cNvSpPr/>
            <p:nvPr/>
          </p:nvSpPr>
          <p:spPr>
            <a:xfrm>
              <a:off x="6397752" y="299008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Nova</a:t>
              </a:r>
              <a:endParaRPr lang="en-US" sz="1600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A4951F46-B968-D08B-1846-9A83118EFF59}"/>
                </a:ext>
              </a:extLst>
            </p:cNvPr>
            <p:cNvSpPr/>
            <p:nvPr/>
          </p:nvSpPr>
          <p:spPr>
            <a:xfrm>
              <a:off x="6397752" y="338328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 생성 및 스케줄링</a:t>
              </a:r>
              <a:endParaRPr lang="en-US" sz="1200" dirty="0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5BDD1EA7-CC88-46B9-13BB-5291C51A2E65}"/>
                </a:ext>
              </a:extLst>
            </p:cNvPr>
            <p:cNvSpPr/>
            <p:nvPr/>
          </p:nvSpPr>
          <p:spPr>
            <a:xfrm>
              <a:off x="6233160" y="4114800"/>
              <a:ext cx="4114800" cy="109728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1A67D8BD-EA9E-6ABB-228A-66640952B21B}"/>
                </a:ext>
              </a:extLst>
            </p:cNvPr>
            <p:cNvSpPr/>
            <p:nvPr/>
          </p:nvSpPr>
          <p:spPr>
            <a:xfrm>
              <a:off x="6233160" y="4114800"/>
              <a:ext cx="64008" cy="1097280"/>
            </a:xfrm>
            <a:prstGeom prst="rect">
              <a:avLst/>
            </a:prstGeom>
            <a:solidFill>
              <a:srgbClr val="17A589"/>
            </a:solidFill>
            <a:ln w="12700">
              <a:solidFill>
                <a:srgbClr val="17A58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943629A7-C4DA-40C5-2D7C-B7B4273C2506}"/>
                </a:ext>
              </a:extLst>
            </p:cNvPr>
            <p:cNvSpPr/>
            <p:nvPr/>
          </p:nvSpPr>
          <p:spPr>
            <a:xfrm>
              <a:off x="6397752" y="4224528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17A5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Neutron</a:t>
              </a:r>
              <a:endParaRPr lang="en-US" sz="1600" dirty="0"/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ECB11C36-0486-0ABD-7BCB-C8AD052E3E00}"/>
                </a:ext>
              </a:extLst>
            </p:cNvPr>
            <p:cNvSpPr/>
            <p:nvPr/>
          </p:nvSpPr>
          <p:spPr>
            <a:xfrm>
              <a:off x="6397752" y="46177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클라우드 네트워크 관리</a:t>
              </a:r>
              <a:endParaRPr lang="en-US" sz="1200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4C507CD-274F-410F-389F-BC9BF661E1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78AE63E-AE9A-42F4-ABA8-433AE9775433}"/>
              </a:ext>
            </a:extLst>
          </p:cNvPr>
          <p:cNvSpPr/>
          <p:nvPr/>
        </p:nvSpPr>
        <p:spPr>
          <a:xfrm>
            <a:off x="142240" y="1351280"/>
            <a:ext cx="1717040" cy="7150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Control Node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45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0914-310A-31FB-183E-F1A0854C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75CBE93-CB68-249A-E498-0FF82EDDC7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555"/>
          <a:stretch>
            <a:fillRect/>
          </a:stretch>
        </p:blipFill>
        <p:spPr>
          <a:xfrm>
            <a:off x="391521" y="1626498"/>
            <a:ext cx="11408958" cy="392799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0508569-9774-CBE7-1358-06A2F102C55B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72E029-7352-A6A8-08E9-FD754D5C1B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3C51F-7453-9558-A765-B9F8FF474BB2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Horizon</a:t>
            </a:r>
            <a:endParaRPr lang="ko-KR" altLang="en-US" sz="4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93DE06F9-8B41-1446-2802-B2936EF157F9}"/>
              </a:ext>
            </a:extLst>
          </p:cNvPr>
          <p:cNvSpPr/>
          <p:nvPr/>
        </p:nvSpPr>
        <p:spPr>
          <a:xfrm>
            <a:off x="8930640" y="2905760"/>
            <a:ext cx="1270000" cy="599440"/>
          </a:xfrm>
          <a:prstGeom prst="frame">
            <a:avLst/>
          </a:prstGeom>
          <a:solidFill>
            <a:srgbClr val="FFC0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2C847-627F-E2A0-D472-59D843E8A977}"/>
              </a:ext>
            </a:extLst>
          </p:cNvPr>
          <p:cNvSpPr txBox="1"/>
          <p:nvPr/>
        </p:nvSpPr>
        <p:spPr>
          <a:xfrm>
            <a:off x="8467575" y="2573774"/>
            <a:ext cx="157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VM </a:t>
            </a:r>
            <a:r>
              <a:rPr lang="ko-KR" altLang="en-US" b="1" dirty="0"/>
              <a:t>생성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DD67E4-9F9D-C03A-02EE-822095CA740E}"/>
              </a:ext>
            </a:extLst>
          </p:cNvPr>
          <p:cNvSpPr/>
          <p:nvPr/>
        </p:nvSpPr>
        <p:spPr>
          <a:xfrm>
            <a:off x="1861428" y="3027680"/>
            <a:ext cx="1097280" cy="355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VM </a:t>
            </a:r>
            <a:r>
              <a:rPr lang="ko-KR" altLang="en-US" dirty="0">
                <a:solidFill>
                  <a:sysClr val="windowText" lastClr="000000"/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C62484-7298-EBC4-4C65-B8269D007626}"/>
              </a:ext>
            </a:extLst>
          </p:cNvPr>
          <p:cNvSpPr/>
          <p:nvPr/>
        </p:nvSpPr>
        <p:spPr>
          <a:xfrm>
            <a:off x="3209987" y="3126573"/>
            <a:ext cx="1218628" cy="355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OS </a:t>
            </a:r>
            <a:r>
              <a:rPr lang="ko-KR" altLang="en-US" dirty="0">
                <a:solidFill>
                  <a:sysClr val="windowText" lastClr="000000"/>
                </a:solidFill>
              </a:rPr>
              <a:t>이미지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0F5BA0-A9F2-D61E-C7CF-EE8F9709E03D}"/>
              </a:ext>
            </a:extLst>
          </p:cNvPr>
          <p:cNvCxnSpPr/>
          <p:nvPr/>
        </p:nvCxnSpPr>
        <p:spPr>
          <a:xfrm>
            <a:off x="2316480" y="3383280"/>
            <a:ext cx="93588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4392CCD-742A-A5C9-1C6A-02F9CFCC89A3}"/>
              </a:ext>
            </a:extLst>
          </p:cNvPr>
          <p:cNvCxnSpPr/>
          <p:nvPr/>
        </p:nvCxnSpPr>
        <p:spPr>
          <a:xfrm>
            <a:off x="3535680" y="3482173"/>
            <a:ext cx="0" cy="297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7F633D-25B6-8367-0D55-2F2C8B0A3870}"/>
              </a:ext>
            </a:extLst>
          </p:cNvPr>
          <p:cNvSpPr/>
          <p:nvPr/>
        </p:nvSpPr>
        <p:spPr>
          <a:xfrm>
            <a:off x="4697568" y="2849880"/>
            <a:ext cx="1218628" cy="355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IP</a:t>
            </a:r>
            <a:r>
              <a:rPr lang="ko-KR" altLang="en-US" dirty="0">
                <a:solidFill>
                  <a:sysClr val="windowText" lastClr="000000"/>
                </a:solidFill>
              </a:rPr>
              <a:t> 주소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90FD2F4-8731-9A0E-BA6B-72EEDEF731B7}"/>
              </a:ext>
            </a:extLst>
          </p:cNvPr>
          <p:cNvCxnSpPr/>
          <p:nvPr/>
        </p:nvCxnSpPr>
        <p:spPr>
          <a:xfrm flipH="1">
            <a:off x="4697568" y="3205480"/>
            <a:ext cx="280832" cy="574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57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0AF4-17DC-C26E-58A1-88A1CC77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C94D8E-D4F7-0FA9-8483-D45BACEC6CD5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51C00-B8F1-E09D-6CDB-BDDFC77828C2}"/>
              </a:ext>
            </a:extLst>
          </p:cNvPr>
          <p:cNvSpPr txBox="1"/>
          <p:nvPr/>
        </p:nvSpPr>
        <p:spPr>
          <a:xfrm>
            <a:off x="245806" y="265471"/>
            <a:ext cx="1049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모니터링 환경 구축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072A86E-A784-F852-BFBB-E06E0333D89B}"/>
              </a:ext>
            </a:extLst>
          </p:cNvPr>
          <p:cNvGrpSpPr/>
          <p:nvPr/>
        </p:nvGrpSpPr>
        <p:grpSpPr>
          <a:xfrm>
            <a:off x="70518" y="1302359"/>
            <a:ext cx="12050963" cy="5443246"/>
            <a:chOff x="133707" y="1348079"/>
            <a:chExt cx="12050963" cy="544324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54EA7A6-B25A-04CD-7960-363DD49AE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9887249" y="6228552"/>
              <a:ext cx="2126032" cy="562773"/>
            </a:xfrm>
            <a:prstGeom prst="rect">
              <a:avLst/>
            </a:prstGeom>
          </p:spPr>
        </p:pic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CCB3A9A4-E7B8-92E1-BD95-84761E50EF98}"/>
                </a:ext>
              </a:extLst>
            </p:cNvPr>
            <p:cNvGrpSpPr/>
            <p:nvPr/>
          </p:nvGrpSpPr>
          <p:grpSpPr>
            <a:xfrm>
              <a:off x="133707" y="1348079"/>
              <a:ext cx="4020004" cy="5434086"/>
              <a:chOff x="133707" y="655685"/>
              <a:chExt cx="3891180" cy="6126480"/>
            </a:xfrm>
          </p:grpSpPr>
          <p:sp>
            <p:nvSpPr>
              <p:cNvPr id="86" name="Shape 3">
                <a:extLst>
                  <a:ext uri="{FF2B5EF4-FFF2-40B4-BE49-F238E27FC236}">
                    <a16:creationId xmlns:a16="http://schemas.microsoft.com/office/drawing/2014/main" id="{2557D98E-60DA-C1BC-94D5-45F5D4B48FF0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6126480"/>
              </a:xfrm>
              <a:prstGeom prst="rect">
                <a:avLst/>
              </a:prstGeom>
              <a:solidFill>
                <a:srgbClr val="EAF0FB"/>
              </a:solidFill>
              <a:ln w="1905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87" name="Shape 4">
                <a:extLst>
                  <a:ext uri="{FF2B5EF4-FFF2-40B4-BE49-F238E27FC236}">
                    <a16:creationId xmlns:a16="http://schemas.microsoft.com/office/drawing/2014/main" id="{2299154C-A8F2-6F94-CAEB-18AE053C4C7D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256032"/>
              </a:xfrm>
              <a:prstGeom prst="rect">
                <a:avLst/>
              </a:prstGeom>
              <a:solidFill>
                <a:srgbClr val="5B8DD9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88" name="Text 5">
                <a:extLst>
                  <a:ext uri="{FF2B5EF4-FFF2-40B4-BE49-F238E27FC236}">
                    <a16:creationId xmlns:a16="http://schemas.microsoft.com/office/drawing/2014/main" id="{A2A2B678-A6AD-6207-2115-20B2D57DDF6F}"/>
                  </a:ext>
                </a:extLst>
              </p:cNvPr>
              <p:cNvSpPr/>
              <p:nvPr/>
            </p:nvSpPr>
            <p:spPr>
              <a:xfrm>
                <a:off x="133707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Control Node</a:t>
                </a:r>
                <a:endParaRPr lang="en-US" dirty="0"/>
              </a:p>
            </p:txBody>
          </p: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8430EDE1-71D3-4BEE-093A-23D2C8F77CDF}"/>
                  </a:ext>
                </a:extLst>
              </p:cNvPr>
              <p:cNvGrpSpPr/>
              <p:nvPr/>
            </p:nvGrpSpPr>
            <p:grpSpPr>
              <a:xfrm>
                <a:off x="259229" y="1250045"/>
                <a:ext cx="3640136" cy="3264408"/>
                <a:chOff x="260823" y="1003157"/>
                <a:chExt cx="3640136" cy="2286000"/>
              </a:xfrm>
            </p:grpSpPr>
            <p:sp>
              <p:nvSpPr>
                <p:cNvPr id="101" name="Shape 6">
                  <a:extLst>
                    <a:ext uri="{FF2B5EF4-FFF2-40B4-BE49-F238E27FC236}">
                      <a16:creationId xmlns:a16="http://schemas.microsoft.com/office/drawing/2014/main" id="{B7B379C4-7220-375F-E47F-C0642096133D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286000"/>
                </a:xfrm>
                <a:prstGeom prst="rect">
                  <a:avLst/>
                </a:prstGeom>
                <a:solidFill>
                  <a:srgbClr val="E8EEF8"/>
                </a:solidFill>
                <a:ln w="19050">
                  <a:solidFill>
                    <a:srgbClr val="3A6BC4"/>
                  </a:solidFill>
                  <a:prstDash val="solid"/>
                </a:ln>
              </p:spPr>
              <p:txBody>
                <a:bodyPr wrap="none">
                  <a:normAutofit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2" name="Shape 7">
                  <a:extLst>
                    <a:ext uri="{FF2B5EF4-FFF2-40B4-BE49-F238E27FC236}">
                      <a16:creationId xmlns:a16="http://schemas.microsoft.com/office/drawing/2014/main" id="{2DC59B82-A0C2-4368-1165-D38368C6D3B6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56032"/>
                </a:xfrm>
                <a:prstGeom prst="rect">
                  <a:avLst/>
                </a:prstGeom>
                <a:solidFill>
                  <a:srgbClr val="3A6BC4"/>
                </a:solidFill>
                <a:ln w="12700">
                  <a:solidFill>
                    <a:srgbClr val="3A6BC4"/>
                  </a:solidFill>
                  <a:prstDash val="solid"/>
                </a:ln>
              </p:spPr>
              <p:txBody>
                <a:bodyPr wrap="none">
                  <a:normAutofit fontScale="55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3" name="Text 8">
                  <a:extLst>
                    <a:ext uri="{FF2B5EF4-FFF2-40B4-BE49-F238E27FC236}">
                      <a16:creationId xmlns:a16="http://schemas.microsoft.com/office/drawing/2014/main" id="{407DB04F-3A3C-4529-D123-F8440BBFA148}"/>
                    </a:ext>
                  </a:extLst>
                </p:cNvPr>
                <p:cNvSpPr/>
                <p:nvPr/>
              </p:nvSpPr>
              <p:spPr>
                <a:xfrm>
                  <a:off x="260823" y="1003157"/>
                  <a:ext cx="3640136" cy="256032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OpenStack Controller</a:t>
                  </a:r>
                  <a:endParaRPr lang="en-US" sz="1200" dirty="0"/>
                </a:p>
              </p:txBody>
            </p:sp>
            <p:sp>
              <p:nvSpPr>
                <p:cNvPr id="104" name="Shape 9">
                  <a:extLst>
                    <a:ext uri="{FF2B5EF4-FFF2-40B4-BE49-F238E27FC236}">
                      <a16:creationId xmlns:a16="http://schemas.microsoft.com/office/drawing/2014/main" id="{A7C40449-F72D-3F1F-91C4-05D902421FF8}"/>
                    </a:ext>
                  </a:extLst>
                </p:cNvPr>
                <p:cNvSpPr/>
                <p:nvPr/>
              </p:nvSpPr>
              <p:spPr>
                <a:xfrm>
                  <a:off x="361240" y="132319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5" name="Text 10">
                  <a:extLst>
                    <a:ext uri="{FF2B5EF4-FFF2-40B4-BE49-F238E27FC236}">
                      <a16:creationId xmlns:a16="http://schemas.microsoft.com/office/drawing/2014/main" id="{30844D33-BDEE-E895-BF78-25984568490A}"/>
                    </a:ext>
                  </a:extLst>
                </p:cNvPr>
                <p:cNvSpPr/>
                <p:nvPr/>
              </p:nvSpPr>
              <p:spPr>
                <a:xfrm>
                  <a:off x="361240" y="132319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Keystone</a:t>
                  </a:r>
                  <a:endParaRPr lang="en-US" sz="1100" dirty="0"/>
                </a:p>
              </p:txBody>
            </p:sp>
            <p:sp>
              <p:nvSpPr>
                <p:cNvPr id="106" name="Shape 11">
                  <a:extLst>
                    <a:ext uri="{FF2B5EF4-FFF2-40B4-BE49-F238E27FC236}">
                      <a16:creationId xmlns:a16="http://schemas.microsoft.com/office/drawing/2014/main" id="{B7FC7675-E12D-F462-B059-72905BD6E95E}"/>
                    </a:ext>
                  </a:extLst>
                </p:cNvPr>
                <p:cNvSpPr/>
                <p:nvPr/>
              </p:nvSpPr>
              <p:spPr>
                <a:xfrm>
                  <a:off x="2118548" y="132319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7" name="Text 12">
                  <a:extLst>
                    <a:ext uri="{FF2B5EF4-FFF2-40B4-BE49-F238E27FC236}">
                      <a16:creationId xmlns:a16="http://schemas.microsoft.com/office/drawing/2014/main" id="{215BE110-3B32-E1EA-6116-96FF456F5554}"/>
                    </a:ext>
                  </a:extLst>
                </p:cNvPr>
                <p:cNvSpPr/>
                <p:nvPr/>
              </p:nvSpPr>
              <p:spPr>
                <a:xfrm>
                  <a:off x="2118548" y="132319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Nova</a:t>
                  </a:r>
                  <a:endParaRPr lang="en-US" sz="1100" dirty="0"/>
                </a:p>
              </p:txBody>
            </p:sp>
            <p:sp>
              <p:nvSpPr>
                <p:cNvPr id="108" name="Shape 13">
                  <a:extLst>
                    <a:ext uri="{FF2B5EF4-FFF2-40B4-BE49-F238E27FC236}">
                      <a16:creationId xmlns:a16="http://schemas.microsoft.com/office/drawing/2014/main" id="{2DA1D3CB-4269-DC38-9DF1-98D313FFA98A}"/>
                    </a:ext>
                  </a:extLst>
                </p:cNvPr>
                <p:cNvSpPr/>
                <p:nvPr/>
              </p:nvSpPr>
              <p:spPr>
                <a:xfrm>
                  <a:off x="361240" y="191755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 dirty="0"/>
                </a:p>
              </p:txBody>
            </p:sp>
            <p:sp>
              <p:nvSpPr>
                <p:cNvPr id="109" name="Text 14">
                  <a:extLst>
                    <a:ext uri="{FF2B5EF4-FFF2-40B4-BE49-F238E27FC236}">
                      <a16:creationId xmlns:a16="http://schemas.microsoft.com/office/drawing/2014/main" id="{2478BBE9-8192-D8AE-246A-A55E7E458A08}"/>
                    </a:ext>
                  </a:extLst>
                </p:cNvPr>
                <p:cNvSpPr/>
                <p:nvPr/>
              </p:nvSpPr>
              <p:spPr>
                <a:xfrm>
                  <a:off x="361240" y="191755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Glance</a:t>
                  </a:r>
                  <a:endParaRPr lang="en-US" sz="1100" dirty="0"/>
                </a:p>
              </p:txBody>
            </p:sp>
            <p:sp>
              <p:nvSpPr>
                <p:cNvPr id="110" name="Shape 15">
                  <a:extLst>
                    <a:ext uri="{FF2B5EF4-FFF2-40B4-BE49-F238E27FC236}">
                      <a16:creationId xmlns:a16="http://schemas.microsoft.com/office/drawing/2014/main" id="{28464D82-3714-EF2D-F4BF-233FF95DDE9C}"/>
                    </a:ext>
                  </a:extLst>
                </p:cNvPr>
                <p:cNvSpPr/>
                <p:nvPr/>
              </p:nvSpPr>
              <p:spPr>
                <a:xfrm>
                  <a:off x="2118548" y="191755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1" name="Text 16">
                  <a:extLst>
                    <a:ext uri="{FF2B5EF4-FFF2-40B4-BE49-F238E27FC236}">
                      <a16:creationId xmlns:a16="http://schemas.microsoft.com/office/drawing/2014/main" id="{0901C03A-2319-437D-AF5C-ED06244EFD5E}"/>
                    </a:ext>
                  </a:extLst>
                </p:cNvPr>
                <p:cNvSpPr/>
                <p:nvPr/>
              </p:nvSpPr>
              <p:spPr>
                <a:xfrm>
                  <a:off x="2118548" y="191755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Neutron</a:t>
                  </a:r>
                  <a:endParaRPr lang="en-US" sz="1100" dirty="0"/>
                </a:p>
              </p:txBody>
            </p:sp>
            <p:sp>
              <p:nvSpPr>
                <p:cNvPr id="112" name="Shape 17">
                  <a:extLst>
                    <a:ext uri="{FF2B5EF4-FFF2-40B4-BE49-F238E27FC236}">
                      <a16:creationId xmlns:a16="http://schemas.microsoft.com/office/drawing/2014/main" id="{4A43E825-C8F9-3FEC-38C3-BEF21724551F}"/>
                    </a:ext>
                  </a:extLst>
                </p:cNvPr>
                <p:cNvSpPr/>
                <p:nvPr/>
              </p:nvSpPr>
              <p:spPr>
                <a:xfrm>
                  <a:off x="361240" y="251191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3" name="Text 18">
                  <a:extLst>
                    <a:ext uri="{FF2B5EF4-FFF2-40B4-BE49-F238E27FC236}">
                      <a16:creationId xmlns:a16="http://schemas.microsoft.com/office/drawing/2014/main" id="{4981A4FB-0E06-A5B0-27A3-7966E3916C6A}"/>
                    </a:ext>
                  </a:extLst>
                </p:cNvPr>
                <p:cNvSpPr/>
                <p:nvPr/>
              </p:nvSpPr>
              <p:spPr>
                <a:xfrm>
                  <a:off x="361240" y="251191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Placement</a:t>
                  </a:r>
                  <a:endParaRPr lang="en-US" sz="1100" dirty="0"/>
                </a:p>
              </p:txBody>
            </p:sp>
            <p:sp>
              <p:nvSpPr>
                <p:cNvPr id="114" name="Shape 19">
                  <a:extLst>
                    <a:ext uri="{FF2B5EF4-FFF2-40B4-BE49-F238E27FC236}">
                      <a16:creationId xmlns:a16="http://schemas.microsoft.com/office/drawing/2014/main" id="{DC5C02A9-5DF5-3188-5B5C-5FACCF32E20B}"/>
                    </a:ext>
                  </a:extLst>
                </p:cNvPr>
                <p:cNvSpPr/>
                <p:nvPr/>
              </p:nvSpPr>
              <p:spPr>
                <a:xfrm>
                  <a:off x="2118548" y="2511917"/>
                  <a:ext cx="1631785" cy="457200"/>
                </a:xfrm>
                <a:prstGeom prst="rect">
                  <a:avLst/>
                </a:prstGeom>
                <a:solidFill>
                  <a:srgbClr val="D6E4FF"/>
                </a:solidFill>
                <a:ln w="12700">
                  <a:solidFill>
                    <a:srgbClr val="5B8DD9"/>
                  </a:solidFill>
                  <a:prstDash val="solid"/>
                </a:ln>
              </p:spPr>
              <p:txBody>
                <a:bodyPr wrap="none">
                  <a:normAutofit lnSpcReduction="1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15" name="Text 20">
                  <a:extLst>
                    <a:ext uri="{FF2B5EF4-FFF2-40B4-BE49-F238E27FC236}">
                      <a16:creationId xmlns:a16="http://schemas.microsoft.com/office/drawing/2014/main" id="{64E20D9B-A114-DE1F-E08B-1EAE65885893}"/>
                    </a:ext>
                  </a:extLst>
                </p:cNvPr>
                <p:cNvSpPr/>
                <p:nvPr/>
              </p:nvSpPr>
              <p:spPr>
                <a:xfrm>
                  <a:off x="2118548" y="2511917"/>
                  <a:ext cx="1631785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Horizon</a:t>
                  </a:r>
                  <a:endParaRPr lang="en-US" sz="1100" dirty="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588579AA-2FD0-588A-AE99-773E26F4694F}"/>
                  </a:ext>
                </a:extLst>
              </p:cNvPr>
              <p:cNvGrpSpPr/>
              <p:nvPr/>
            </p:nvGrpSpPr>
            <p:grpSpPr>
              <a:xfrm>
                <a:off x="259229" y="4730838"/>
                <a:ext cx="3640136" cy="905256"/>
                <a:chOff x="260823" y="3426317"/>
                <a:chExt cx="3640136" cy="905256"/>
              </a:xfrm>
            </p:grpSpPr>
            <p:sp>
              <p:nvSpPr>
                <p:cNvPr id="94" name="Shape 21">
                  <a:extLst>
                    <a:ext uri="{FF2B5EF4-FFF2-40B4-BE49-F238E27FC236}">
                      <a16:creationId xmlns:a16="http://schemas.microsoft.com/office/drawing/2014/main" id="{17F8E46F-CEC1-8890-0F11-BFED8213CFF8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905256"/>
                </a:xfrm>
                <a:prstGeom prst="rect">
                  <a:avLst/>
                </a:prstGeom>
                <a:solidFill>
                  <a:srgbClr val="F3E5F5"/>
                </a:solidFill>
                <a:ln w="1905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5" name="Shape 22">
                  <a:extLst>
                    <a:ext uri="{FF2B5EF4-FFF2-40B4-BE49-F238E27FC236}">
                      <a16:creationId xmlns:a16="http://schemas.microsoft.com/office/drawing/2014/main" id="{31DD350B-11D6-489D-A8CB-408EBE27110A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256032"/>
                </a:xfrm>
                <a:prstGeom prst="rect">
                  <a:avLst/>
                </a:prstGeom>
                <a:solidFill>
                  <a:srgbClr val="7B1FA2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3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6" name="Text 23">
                  <a:extLst>
                    <a:ext uri="{FF2B5EF4-FFF2-40B4-BE49-F238E27FC236}">
                      <a16:creationId xmlns:a16="http://schemas.microsoft.com/office/drawing/2014/main" id="{3FA0A3C9-3BE1-0882-E8C0-7E6E8443B799}"/>
                    </a:ext>
                  </a:extLst>
                </p:cNvPr>
                <p:cNvSpPr/>
                <p:nvPr/>
              </p:nvSpPr>
              <p:spPr>
                <a:xfrm>
                  <a:off x="260823" y="3426317"/>
                  <a:ext cx="3640136" cy="256032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모니터링</a:t>
                  </a:r>
                  <a:endParaRPr lang="en-US" sz="1200" dirty="0"/>
                </a:p>
              </p:txBody>
            </p:sp>
            <p:sp>
              <p:nvSpPr>
                <p:cNvPr id="97" name="Shape 24">
                  <a:extLst>
                    <a:ext uri="{FF2B5EF4-FFF2-40B4-BE49-F238E27FC236}">
                      <a16:creationId xmlns:a16="http://schemas.microsoft.com/office/drawing/2014/main" id="{CD397FA3-2781-3521-99D5-960B8F4B8100}"/>
                    </a:ext>
                  </a:extLst>
                </p:cNvPr>
                <p:cNvSpPr/>
                <p:nvPr/>
              </p:nvSpPr>
              <p:spPr>
                <a:xfrm>
                  <a:off x="361240" y="3773789"/>
                  <a:ext cx="1569024" cy="411480"/>
                </a:xfrm>
                <a:prstGeom prst="rect">
                  <a:avLst/>
                </a:prstGeom>
                <a:solidFill>
                  <a:srgbClr val="EDE7F6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6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8" name="Text 25">
                  <a:extLst>
                    <a:ext uri="{FF2B5EF4-FFF2-40B4-BE49-F238E27FC236}">
                      <a16:creationId xmlns:a16="http://schemas.microsoft.com/office/drawing/2014/main" id="{210DAEDF-DC79-B43E-A331-573FB672C484}"/>
                    </a:ext>
                  </a:extLst>
                </p:cNvPr>
                <p:cNvSpPr/>
                <p:nvPr/>
              </p:nvSpPr>
              <p:spPr>
                <a:xfrm>
                  <a:off x="361240" y="3773789"/>
                  <a:ext cx="1569024" cy="41148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Prometheus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(서비스)</a:t>
                  </a:r>
                  <a:endParaRPr lang="en-US" sz="1100" dirty="0"/>
                </a:p>
              </p:txBody>
            </p:sp>
            <p:sp>
              <p:nvSpPr>
                <p:cNvPr id="99" name="Shape 26">
                  <a:extLst>
                    <a:ext uri="{FF2B5EF4-FFF2-40B4-BE49-F238E27FC236}">
                      <a16:creationId xmlns:a16="http://schemas.microsoft.com/office/drawing/2014/main" id="{5EA4C951-367D-3AF1-A184-34F4E16C0BFF}"/>
                    </a:ext>
                  </a:extLst>
                </p:cNvPr>
                <p:cNvSpPr/>
                <p:nvPr/>
              </p:nvSpPr>
              <p:spPr>
                <a:xfrm>
                  <a:off x="2055787" y="3773789"/>
                  <a:ext cx="1569024" cy="411480"/>
                </a:xfrm>
                <a:prstGeom prst="rect">
                  <a:avLst/>
                </a:prstGeom>
                <a:solidFill>
                  <a:srgbClr val="EDE7F6"/>
                </a:solidFill>
                <a:ln w="12700">
                  <a:solidFill>
                    <a:srgbClr val="7B1FA2"/>
                  </a:solidFill>
                  <a:prstDash val="solid"/>
                </a:ln>
              </p:spPr>
              <p:txBody>
                <a:bodyPr wrap="none">
                  <a:normAutofit fontScale="62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00" name="Text 27">
                  <a:extLst>
                    <a:ext uri="{FF2B5EF4-FFF2-40B4-BE49-F238E27FC236}">
                      <a16:creationId xmlns:a16="http://schemas.microsoft.com/office/drawing/2014/main" id="{F3230B6C-2EA2-4950-BA53-F5E3A42B4DE7}"/>
                    </a:ext>
                  </a:extLst>
                </p:cNvPr>
                <p:cNvSpPr/>
                <p:nvPr/>
              </p:nvSpPr>
              <p:spPr>
                <a:xfrm>
                  <a:off x="2055787" y="3773789"/>
                  <a:ext cx="1569024" cy="41148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ctr">
                  <a:normAutofit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Grafana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222222"/>
                      </a:solidFill>
                    </a:rPr>
                    <a:t>(서비스)</a:t>
                  </a:r>
                  <a:endParaRPr lang="en-US" sz="1100" dirty="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824FCE90-6D88-C21B-0489-85456BE81C70}"/>
                  </a:ext>
                </a:extLst>
              </p:cNvPr>
              <p:cNvGrpSpPr/>
              <p:nvPr/>
            </p:nvGrpSpPr>
            <p:grpSpPr>
              <a:xfrm>
                <a:off x="221573" y="5960915"/>
                <a:ext cx="3665240" cy="496428"/>
                <a:chOff x="235719" y="6194297"/>
                <a:chExt cx="3665240" cy="496428"/>
              </a:xfrm>
            </p:grpSpPr>
            <p:sp>
              <p:nvSpPr>
                <p:cNvPr id="92" name="Shape 30">
                  <a:extLst>
                    <a:ext uri="{FF2B5EF4-FFF2-40B4-BE49-F238E27FC236}">
                      <a16:creationId xmlns:a16="http://schemas.microsoft.com/office/drawing/2014/main" id="{7E97F3D7-8F72-9F86-BE76-B3E2616DB05B}"/>
                    </a:ext>
                  </a:extLst>
                </p:cNvPr>
                <p:cNvSpPr/>
                <p:nvPr/>
              </p:nvSpPr>
              <p:spPr>
                <a:xfrm>
                  <a:off x="235719" y="6194297"/>
                  <a:ext cx="3640136" cy="457200"/>
                </a:xfrm>
                <a:prstGeom prst="rect">
                  <a:avLst/>
                </a:prstGeom>
                <a:solidFill>
                  <a:srgbClr val="F5F5F5"/>
                </a:solidFill>
                <a:ln w="12700">
                  <a:solidFill>
                    <a:srgbClr val="888888"/>
                  </a:solidFill>
                  <a:prstDash val="solid"/>
                </a:ln>
              </p:spPr>
              <p:txBody>
                <a:bodyPr wrap="none">
                  <a:normAutofit fontScale="775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93" name="Text 31">
                  <a:extLst>
                    <a:ext uri="{FF2B5EF4-FFF2-40B4-BE49-F238E27FC236}">
                      <a16:creationId xmlns:a16="http://schemas.microsoft.com/office/drawing/2014/main" id="{AD637805-2CE8-B56F-36E9-4BB26F47959A}"/>
                    </a:ext>
                  </a:extLst>
                </p:cNvPr>
                <p:cNvSpPr/>
                <p:nvPr/>
              </p:nvSpPr>
              <p:spPr>
                <a:xfrm>
                  <a:off x="260823" y="6233525"/>
                  <a:ext cx="3640136" cy="45720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333333"/>
                      </a:solidFill>
                    </a:rPr>
                    <a:t>OS (Ubuntu)</a:t>
                  </a:r>
                  <a:endParaRPr lang="en-US" sz="1100" dirty="0"/>
                </a:p>
              </p:txBody>
            </p:sp>
          </p:grp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BC258877-00EF-EB7B-C9A4-FB87C9542956}"/>
                </a:ext>
              </a:extLst>
            </p:cNvPr>
            <p:cNvGrpSpPr/>
            <p:nvPr/>
          </p:nvGrpSpPr>
          <p:grpSpPr>
            <a:xfrm>
              <a:off x="4150410" y="1348079"/>
              <a:ext cx="4017558" cy="5434086"/>
              <a:chOff x="4150410" y="655685"/>
              <a:chExt cx="3891180" cy="6126480"/>
            </a:xfrm>
          </p:grpSpPr>
          <p:sp>
            <p:nvSpPr>
              <p:cNvPr id="117" name="Text 34">
                <a:extLst>
                  <a:ext uri="{FF2B5EF4-FFF2-40B4-BE49-F238E27FC236}">
                    <a16:creationId xmlns:a16="http://schemas.microsoft.com/office/drawing/2014/main" id="{551714A9-4102-79A1-C9B3-945F04BF5B0D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1  —  RTX Pro 6000 Blackwell</a:t>
                </a:r>
                <a:endParaRPr lang="en-US" sz="1200" dirty="0"/>
              </a:p>
            </p:txBody>
          </p:sp>
          <p:sp>
            <p:nvSpPr>
              <p:cNvPr id="118" name="Shape 32">
                <a:extLst>
                  <a:ext uri="{FF2B5EF4-FFF2-40B4-BE49-F238E27FC236}">
                    <a16:creationId xmlns:a16="http://schemas.microsoft.com/office/drawing/2014/main" id="{54225400-E63F-F7CA-1066-E0DAA3D6B05D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6126480"/>
              </a:xfrm>
              <a:prstGeom prst="rect">
                <a:avLst/>
              </a:prstGeom>
              <a:solidFill>
                <a:srgbClr val="E8F5E9"/>
              </a:solidFill>
              <a:ln w="19050">
                <a:solidFill>
                  <a:srgbClr val="388E3C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9" name="Shape 33">
                <a:extLst>
                  <a:ext uri="{FF2B5EF4-FFF2-40B4-BE49-F238E27FC236}">
                    <a16:creationId xmlns:a16="http://schemas.microsoft.com/office/drawing/2014/main" id="{0879B99C-C1A2-CE62-4243-63A448BEFDD0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solidFill>
                <a:srgbClr val="388E3C"/>
              </a:solidFill>
              <a:ln w="12700">
                <a:solidFill>
                  <a:srgbClr val="388E3C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0" name="Text 34">
                <a:extLst>
                  <a:ext uri="{FF2B5EF4-FFF2-40B4-BE49-F238E27FC236}">
                    <a16:creationId xmlns:a16="http://schemas.microsoft.com/office/drawing/2014/main" id="{CC948528-91FC-9BDE-DD4A-833E3FC3D0F4}"/>
                  </a:ext>
                </a:extLst>
              </p:cNvPr>
              <p:cNvSpPr/>
              <p:nvPr/>
            </p:nvSpPr>
            <p:spPr>
              <a:xfrm>
                <a:off x="4150410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1  —  RTX Pro 6000 Blackwell</a:t>
                </a:r>
                <a:endParaRPr lang="en-US" sz="1200" dirty="0"/>
              </a:p>
            </p:txBody>
          </p:sp>
          <p:sp>
            <p:nvSpPr>
              <p:cNvPr id="121" name="Shape 35">
                <a:extLst>
                  <a:ext uri="{FF2B5EF4-FFF2-40B4-BE49-F238E27FC236}">
                    <a16:creationId xmlns:a16="http://schemas.microsoft.com/office/drawing/2014/main" id="{EC2C7952-BBB9-85DE-A0AF-2A6F4F6BF75C}"/>
                  </a:ext>
                </a:extLst>
              </p:cNvPr>
              <p:cNvSpPr/>
              <p:nvPr/>
            </p:nvSpPr>
            <p:spPr>
              <a:xfrm>
                <a:off x="4275932" y="975725"/>
                <a:ext cx="3640136" cy="292608"/>
              </a:xfrm>
              <a:prstGeom prst="rect">
                <a:avLst/>
              </a:prstGeom>
              <a:solidFill>
                <a:srgbClr val="1B5E20"/>
              </a:solidFill>
              <a:ln w="12700">
                <a:solidFill>
                  <a:srgbClr val="1B5E20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2" name="Text 36">
                <a:extLst>
                  <a:ext uri="{FF2B5EF4-FFF2-40B4-BE49-F238E27FC236}">
                    <a16:creationId xmlns:a16="http://schemas.microsoft.com/office/drawing/2014/main" id="{5E585D78-014D-D490-AC54-B8B43374D16C}"/>
                  </a:ext>
                </a:extLst>
              </p:cNvPr>
              <p:cNvSpPr/>
              <p:nvPr/>
            </p:nvSpPr>
            <p:spPr>
              <a:xfrm>
                <a:off x="4275932" y="975725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</a:rPr>
                  <a:t>RTX Pro 6000 Blackwell 1장  Passthrough →  VM 1</a:t>
                </a:r>
                <a:r>
                  <a:rPr lang="ko-KR" altLang="en-US" sz="1050" b="1" dirty="0">
                    <a:solidFill>
                      <a:srgbClr val="FFFFFF"/>
                    </a:solidFill>
                  </a:rPr>
                  <a:t>개 전용 할당</a:t>
                </a:r>
                <a:endParaRPr lang="en-US" sz="1050" dirty="0"/>
              </a:p>
            </p:txBody>
          </p:sp>
          <p:sp>
            <p:nvSpPr>
              <p:cNvPr id="123" name="Shape 55">
                <a:extLst>
                  <a:ext uri="{FF2B5EF4-FFF2-40B4-BE49-F238E27FC236}">
                    <a16:creationId xmlns:a16="http://schemas.microsoft.com/office/drawing/2014/main" id="{2B778910-559D-C9D7-F989-C5776D67D4EA}"/>
                  </a:ext>
                </a:extLst>
              </p:cNvPr>
              <p:cNvSpPr/>
              <p:nvPr/>
            </p:nvSpPr>
            <p:spPr>
              <a:xfrm>
                <a:off x="4275932" y="6120000"/>
                <a:ext cx="3640136" cy="292608"/>
              </a:xfrm>
              <a:prstGeom prst="rect">
                <a:avLst/>
              </a:prstGeom>
              <a:solidFill>
                <a:srgbClr val="607D8B"/>
              </a:solidFill>
              <a:ln w="12700">
                <a:solidFill>
                  <a:srgbClr val="607D8B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 dirty="0"/>
              </a:p>
            </p:txBody>
          </p:sp>
          <p:sp>
            <p:nvSpPr>
              <p:cNvPr id="124" name="Text 56">
                <a:extLst>
                  <a:ext uri="{FF2B5EF4-FFF2-40B4-BE49-F238E27FC236}">
                    <a16:creationId xmlns:a16="http://schemas.microsoft.com/office/drawing/2014/main" id="{02996C39-6811-9B93-59D5-78528B2762EB}"/>
                  </a:ext>
                </a:extLst>
              </p:cNvPr>
              <p:cNvSpPr/>
              <p:nvPr/>
            </p:nvSpPr>
            <p:spPr>
              <a:xfrm>
                <a:off x="4275932" y="6120000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하이퍼바이저 (KVM) / Nova-compute</a:t>
                </a:r>
                <a:endParaRPr lang="en-US" sz="1100" dirty="0"/>
              </a:p>
            </p:txBody>
          </p:sp>
          <p:sp>
            <p:nvSpPr>
              <p:cNvPr id="125" name="Shape 57">
                <a:extLst>
                  <a:ext uri="{FF2B5EF4-FFF2-40B4-BE49-F238E27FC236}">
                    <a16:creationId xmlns:a16="http://schemas.microsoft.com/office/drawing/2014/main" id="{CBBB8DFA-64CA-41E6-BE6D-400DA0C741C5}"/>
                  </a:ext>
                </a:extLst>
              </p:cNvPr>
              <p:cNvSpPr/>
              <p:nvPr/>
            </p:nvSpPr>
            <p:spPr>
              <a:xfrm>
                <a:off x="4275932" y="6440040"/>
                <a:ext cx="3640136" cy="201168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 wrap="none">
                <a:normAutofit fontScale="25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6" name="Text 58">
                <a:extLst>
                  <a:ext uri="{FF2B5EF4-FFF2-40B4-BE49-F238E27FC236}">
                    <a16:creationId xmlns:a16="http://schemas.microsoft.com/office/drawing/2014/main" id="{8D477623-0CFD-B5A1-2204-AD9F2331DF8D}"/>
                  </a:ext>
                </a:extLst>
              </p:cNvPr>
              <p:cNvSpPr/>
              <p:nvPr/>
            </p:nvSpPr>
            <p:spPr>
              <a:xfrm>
                <a:off x="4275932" y="6440040"/>
                <a:ext cx="3640136" cy="20116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333333"/>
                    </a:solidFill>
                  </a:rPr>
                  <a:t>OS (Ubuntu)  </a:t>
                </a:r>
                <a:endParaRPr lang="en-US" sz="1050" dirty="0"/>
              </a:p>
            </p:txBody>
          </p:sp>
          <p:sp>
            <p:nvSpPr>
              <p:cNvPr id="127" name="Shape 37">
                <a:extLst>
                  <a:ext uri="{FF2B5EF4-FFF2-40B4-BE49-F238E27FC236}">
                    <a16:creationId xmlns:a16="http://schemas.microsoft.com/office/drawing/2014/main" id="{79DA92A3-F6A9-BB48-DAF4-83F72A8A25A9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429002"/>
              </a:xfrm>
              <a:prstGeom prst="rect">
                <a:avLst/>
              </a:prstGeom>
              <a:solidFill>
                <a:srgbClr val="F9FBE7"/>
              </a:solidFill>
              <a:ln w="19050">
                <a:solidFill>
                  <a:srgbClr val="7CB342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8" name="Shape 38">
                <a:extLst>
                  <a:ext uri="{FF2B5EF4-FFF2-40B4-BE49-F238E27FC236}">
                    <a16:creationId xmlns:a16="http://schemas.microsoft.com/office/drawing/2014/main" id="{986515A4-8363-62D9-3F33-DE934486F9E1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solidFill>
                <a:srgbClr val="7CB342"/>
              </a:solidFill>
              <a:ln w="12700">
                <a:solidFill>
                  <a:srgbClr val="7CB342"/>
                </a:solidFill>
                <a:prstDash val="solid"/>
              </a:ln>
            </p:spPr>
            <p:txBody>
              <a:bodyPr wrap="none">
                <a:normAutofit fontScale="4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9" name="Text 39">
                <a:extLst>
                  <a:ext uri="{FF2B5EF4-FFF2-40B4-BE49-F238E27FC236}">
                    <a16:creationId xmlns:a16="http://schemas.microsoft.com/office/drawing/2014/main" id="{8EF3D34D-6037-50D7-7653-2E045E193247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VM-expensive  </a:t>
                </a:r>
                <a:endParaRPr lang="en-US" sz="1200" dirty="0"/>
              </a:p>
            </p:txBody>
          </p:sp>
          <p:sp>
            <p:nvSpPr>
              <p:cNvPr id="130" name="Shape 40">
                <a:extLst>
                  <a:ext uri="{FF2B5EF4-FFF2-40B4-BE49-F238E27FC236}">
                    <a16:creationId xmlns:a16="http://schemas.microsoft.com/office/drawing/2014/main" id="{DAE6C1CE-2812-4C18-F3F1-9606DFF26177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solidFill>
                <a:srgbClr val="E3F2FD"/>
              </a:solidFill>
              <a:ln w="12700">
                <a:solidFill>
                  <a:srgbClr val="1976D2"/>
                </a:solidFill>
                <a:prstDash val="solid"/>
              </a:ln>
            </p:spPr>
            <p:txBody>
              <a:bodyPr wrap="none">
                <a:normAutofit lnSpcReduction="1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31" name="Text 41">
                <a:extLst>
                  <a:ext uri="{FF2B5EF4-FFF2-40B4-BE49-F238E27FC236}">
                    <a16:creationId xmlns:a16="http://schemas.microsoft.com/office/drawing/2014/main" id="{ECFE2FA3-C5DF-2C91-3164-225343AC6778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0D47A1"/>
                    </a:solidFill>
                  </a:rPr>
                  <a:t>Docker  :  사용자 작업 실행</a:t>
                </a:r>
                <a:endParaRPr lang="en-US" sz="1100" dirty="0"/>
              </a:p>
            </p:txBody>
          </p:sp>
          <p:sp>
            <p:nvSpPr>
              <p:cNvPr id="132" name="Shape 42">
                <a:extLst>
                  <a:ext uri="{FF2B5EF4-FFF2-40B4-BE49-F238E27FC236}">
                    <a16:creationId xmlns:a16="http://schemas.microsoft.com/office/drawing/2014/main" id="{95FFA4BF-935A-4FE7-55CA-86AE16F10BFE}"/>
                  </a:ext>
                </a:extLst>
              </p:cNvPr>
              <p:cNvSpPr/>
              <p:nvPr/>
            </p:nvSpPr>
            <p:spPr>
              <a:xfrm>
                <a:off x="4376346" y="2595753"/>
                <a:ext cx="3439301" cy="609976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222222"/>
                    </a:solidFill>
                  </a:rPr>
                  <a:t>DCGM Exporter</a:t>
                </a:r>
                <a:endParaRPr lang="en-US" altLang="ko-KR" sz="1100" dirty="0"/>
              </a:p>
            </p:txBody>
          </p:sp>
          <p:sp>
            <p:nvSpPr>
              <p:cNvPr id="133" name="Shape 44">
                <a:extLst>
                  <a:ext uri="{FF2B5EF4-FFF2-40B4-BE49-F238E27FC236}">
                    <a16:creationId xmlns:a16="http://schemas.microsoft.com/office/drawing/2014/main" id="{F684B2E8-E7E6-70AD-E586-1C41F91B7AA5}"/>
                  </a:ext>
                </a:extLst>
              </p:cNvPr>
              <p:cNvSpPr/>
              <p:nvPr/>
            </p:nvSpPr>
            <p:spPr>
              <a:xfrm>
                <a:off x="4376347" y="3546580"/>
                <a:ext cx="3439300" cy="79413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(MIG disable) (96GB)</a:t>
                </a:r>
                <a:endParaRPr lang="en-US" altLang="ko-KR" sz="1100" dirty="0"/>
              </a:p>
            </p:txBody>
          </p:sp>
          <p:sp>
            <p:nvSpPr>
              <p:cNvPr id="134" name="Shape 44">
                <a:extLst>
                  <a:ext uri="{FF2B5EF4-FFF2-40B4-BE49-F238E27FC236}">
                    <a16:creationId xmlns:a16="http://schemas.microsoft.com/office/drawing/2014/main" id="{219855E7-C971-9B61-5D3D-43DE79C998E4}"/>
                  </a:ext>
                </a:extLst>
              </p:cNvPr>
              <p:cNvSpPr/>
              <p:nvPr/>
            </p:nvSpPr>
            <p:spPr>
              <a:xfrm>
                <a:off x="4376348" y="4958807"/>
                <a:ext cx="3439301" cy="428377"/>
              </a:xfrm>
              <a:prstGeom prst="rect">
                <a:avLst/>
              </a:prstGeom>
              <a:solidFill>
                <a:srgbClr val="263238"/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(Passthrough) (96GB)</a:t>
                </a:r>
                <a:endParaRPr lang="en-US" altLang="ko-KR" sz="1100" dirty="0"/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B41220A2-F027-6DD0-FA2C-CF6C804D3E6F}"/>
                </a:ext>
              </a:extLst>
            </p:cNvPr>
            <p:cNvGrpSpPr/>
            <p:nvPr/>
          </p:nvGrpSpPr>
          <p:grpSpPr>
            <a:xfrm>
              <a:off x="8167111" y="1348079"/>
              <a:ext cx="4017559" cy="5434086"/>
              <a:chOff x="8167112" y="655685"/>
              <a:chExt cx="3891180" cy="6126480"/>
            </a:xfrm>
          </p:grpSpPr>
          <p:sp>
            <p:nvSpPr>
              <p:cNvPr id="155" name="Shape 59">
                <a:extLst>
                  <a:ext uri="{FF2B5EF4-FFF2-40B4-BE49-F238E27FC236}">
                    <a16:creationId xmlns:a16="http://schemas.microsoft.com/office/drawing/2014/main" id="{F2944324-B08C-151D-405A-8D42C6F31982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6126480"/>
              </a:xfrm>
              <a:prstGeom prst="rect">
                <a:avLst/>
              </a:prstGeom>
              <a:solidFill>
                <a:srgbClr val="FFF3E0"/>
              </a:solidFill>
              <a:ln w="1905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6" name="Shape 60">
                <a:extLst>
                  <a:ext uri="{FF2B5EF4-FFF2-40B4-BE49-F238E27FC236}">
                    <a16:creationId xmlns:a16="http://schemas.microsoft.com/office/drawing/2014/main" id="{9AE19072-FEE8-0344-8FEF-1F47E7FDCC84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256032"/>
              </a:xfrm>
              <a:prstGeom prst="rect">
                <a:avLst/>
              </a:prstGeom>
              <a:solidFill>
                <a:srgbClr val="EF6C00"/>
              </a:solidFill>
              <a:ln w="1270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 fontScale="3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7" name="Text 61">
                <a:extLst>
                  <a:ext uri="{FF2B5EF4-FFF2-40B4-BE49-F238E27FC236}">
                    <a16:creationId xmlns:a16="http://schemas.microsoft.com/office/drawing/2014/main" id="{F0A2B382-2069-276E-E1F8-BBDCD5D6712B}"/>
                  </a:ext>
                </a:extLst>
              </p:cNvPr>
              <p:cNvSpPr/>
              <p:nvPr/>
            </p:nvSpPr>
            <p:spPr>
              <a:xfrm>
                <a:off x="8167112" y="655685"/>
                <a:ext cx="3891180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Compute Node 2  —  RTX A6000 Ada × 4</a:t>
                </a:r>
                <a:endParaRPr lang="en-US" sz="1200" dirty="0"/>
              </a:p>
            </p:txBody>
          </p:sp>
          <p:sp>
            <p:nvSpPr>
              <p:cNvPr id="158" name="Shape 62">
                <a:extLst>
                  <a:ext uri="{FF2B5EF4-FFF2-40B4-BE49-F238E27FC236}">
                    <a16:creationId xmlns:a16="http://schemas.microsoft.com/office/drawing/2014/main" id="{E457EFBB-9208-F300-3D5F-E1C1068FB555}"/>
                  </a:ext>
                </a:extLst>
              </p:cNvPr>
              <p:cNvSpPr/>
              <p:nvPr/>
            </p:nvSpPr>
            <p:spPr>
              <a:xfrm>
                <a:off x="8292634" y="975725"/>
                <a:ext cx="3640136" cy="292608"/>
              </a:xfrm>
              <a:prstGeom prst="rect">
                <a:avLst/>
              </a:prstGeom>
              <a:solidFill>
                <a:srgbClr val="BF360C"/>
              </a:solidFill>
              <a:ln w="12700">
                <a:solidFill>
                  <a:srgbClr val="BF360C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59" name="Text 63">
                <a:extLst>
                  <a:ext uri="{FF2B5EF4-FFF2-40B4-BE49-F238E27FC236}">
                    <a16:creationId xmlns:a16="http://schemas.microsoft.com/office/drawing/2014/main" id="{873AE751-062A-010D-510A-FA15B523DDE3}"/>
                  </a:ext>
                </a:extLst>
              </p:cNvPr>
              <p:cNvSpPr/>
              <p:nvPr/>
            </p:nvSpPr>
            <p:spPr>
              <a:xfrm>
                <a:off x="8292634" y="975725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RTX A6000 Ada  2장  Passthrough  →  VM 1개 전용 할당</a:t>
                </a:r>
                <a:endParaRPr lang="en-US" sz="1050" dirty="0"/>
              </a:p>
            </p:txBody>
          </p: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2DCF37AE-3360-76AD-B05D-1EA95062C176}"/>
                  </a:ext>
                </a:extLst>
              </p:cNvPr>
              <p:cNvGrpSpPr/>
              <p:nvPr/>
            </p:nvGrpSpPr>
            <p:grpSpPr>
              <a:xfrm>
                <a:off x="8292633" y="6120000"/>
                <a:ext cx="3640136" cy="521208"/>
                <a:chOff x="8291041" y="5913485"/>
                <a:chExt cx="3640136" cy="521208"/>
              </a:xfrm>
            </p:grpSpPr>
            <p:sp>
              <p:nvSpPr>
                <p:cNvPr id="173" name="Shape 92">
                  <a:extLst>
                    <a:ext uri="{FF2B5EF4-FFF2-40B4-BE49-F238E27FC236}">
                      <a16:creationId xmlns:a16="http://schemas.microsoft.com/office/drawing/2014/main" id="{7BBB3F89-6E38-09FD-68A1-4D85668DEF0F}"/>
                    </a:ext>
                  </a:extLst>
                </p:cNvPr>
                <p:cNvSpPr/>
                <p:nvPr/>
              </p:nvSpPr>
              <p:spPr>
                <a:xfrm>
                  <a:off x="8291041" y="5913485"/>
                  <a:ext cx="3640136" cy="292608"/>
                </a:xfrm>
                <a:prstGeom prst="rect">
                  <a:avLst/>
                </a:prstGeom>
                <a:solidFill>
                  <a:srgbClr val="607D8B"/>
                </a:solidFill>
                <a:ln w="12700">
                  <a:solidFill>
                    <a:srgbClr val="607D8B"/>
                  </a:solidFill>
                  <a:prstDash val="solid"/>
                </a:ln>
              </p:spPr>
              <p:txBody>
                <a:bodyPr wrap="none">
                  <a:normAutofit fontScale="40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74" name="Text 93">
                  <a:extLst>
                    <a:ext uri="{FF2B5EF4-FFF2-40B4-BE49-F238E27FC236}">
                      <a16:creationId xmlns:a16="http://schemas.microsoft.com/office/drawing/2014/main" id="{1F8B2983-6F5E-7324-9E34-E692F783890A}"/>
                    </a:ext>
                  </a:extLst>
                </p:cNvPr>
                <p:cNvSpPr/>
                <p:nvPr/>
              </p:nvSpPr>
              <p:spPr>
                <a:xfrm>
                  <a:off x="8291041" y="5913485"/>
                  <a:ext cx="3640136" cy="29260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</a:rPr>
                    <a:t>하이퍼바이저 (KVM) / Nova-compute</a:t>
                  </a:r>
                  <a:endParaRPr lang="en-US" sz="1100" dirty="0"/>
                </a:p>
              </p:txBody>
            </p:sp>
            <p:sp>
              <p:nvSpPr>
                <p:cNvPr id="175" name="Shape 94">
                  <a:extLst>
                    <a:ext uri="{FF2B5EF4-FFF2-40B4-BE49-F238E27FC236}">
                      <a16:creationId xmlns:a16="http://schemas.microsoft.com/office/drawing/2014/main" id="{EF5B86D7-D94A-6321-9053-F22CBF6F14CB}"/>
                    </a:ext>
                  </a:extLst>
                </p:cNvPr>
                <p:cNvSpPr/>
                <p:nvPr/>
              </p:nvSpPr>
              <p:spPr>
                <a:xfrm>
                  <a:off x="8291041" y="6233525"/>
                  <a:ext cx="3640136" cy="201168"/>
                </a:xfrm>
                <a:prstGeom prst="rect">
                  <a:avLst/>
                </a:prstGeom>
                <a:solidFill>
                  <a:srgbClr val="F5F5F5"/>
                </a:solidFill>
                <a:ln w="12700">
                  <a:solidFill>
                    <a:srgbClr val="888888"/>
                  </a:solidFill>
                  <a:prstDash val="solid"/>
                </a:ln>
              </p:spPr>
              <p:txBody>
                <a:bodyPr wrap="none">
                  <a:normAutofit fontScale="25000" lnSpcReduction="20000"/>
                </a:bodyPr>
                <a:lstStyle/>
                <a:p>
                  <a:endParaRPr lang="ko-KR" altLang="en-US" sz="3200"/>
                </a:p>
              </p:txBody>
            </p:sp>
            <p:sp>
              <p:nvSpPr>
                <p:cNvPr id="176" name="Text 95">
                  <a:extLst>
                    <a:ext uri="{FF2B5EF4-FFF2-40B4-BE49-F238E27FC236}">
                      <a16:creationId xmlns:a16="http://schemas.microsoft.com/office/drawing/2014/main" id="{42A1D457-906D-BE30-13CC-7876520612D2}"/>
                    </a:ext>
                  </a:extLst>
                </p:cNvPr>
                <p:cNvSpPr/>
                <p:nvPr/>
              </p:nvSpPr>
              <p:spPr>
                <a:xfrm>
                  <a:off x="8291041" y="6233525"/>
                  <a:ext cx="3640136" cy="20116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050" dirty="0">
                      <a:solidFill>
                        <a:srgbClr val="333333"/>
                      </a:solidFill>
                    </a:rPr>
                    <a:t>OS (Ubuntu)</a:t>
                  </a:r>
                  <a:endParaRPr lang="en-US" sz="1050" dirty="0"/>
                </a:p>
              </p:txBody>
            </p:sp>
          </p:grpSp>
          <p:sp>
            <p:nvSpPr>
              <p:cNvPr id="161" name="Shape 37">
                <a:extLst>
                  <a:ext uri="{FF2B5EF4-FFF2-40B4-BE49-F238E27FC236}">
                    <a16:creationId xmlns:a16="http://schemas.microsoft.com/office/drawing/2014/main" id="{09F886A0-88BE-97DA-EB5D-46095020C6D9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4290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 dirty="0"/>
              </a:p>
            </p:txBody>
          </p:sp>
          <p:sp>
            <p:nvSpPr>
              <p:cNvPr id="162" name="Shape 38">
                <a:extLst>
                  <a:ext uri="{FF2B5EF4-FFF2-40B4-BE49-F238E27FC236}">
                    <a16:creationId xmlns:a16="http://schemas.microsoft.com/office/drawing/2014/main" id="{1831C781-867A-5E60-DF66-62FC9E575134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15646"/>
              </a:xfrm>
              <a:prstGeom prst="rect">
                <a:avLst/>
              </a:prstGeom>
              <a:solidFill>
                <a:srgbClr val="EF6C00"/>
              </a:solidFill>
              <a:ln w="12700">
                <a:solidFill>
                  <a:srgbClr val="EF6C00"/>
                </a:solidFill>
                <a:prstDash val="solid"/>
              </a:ln>
            </p:spPr>
            <p:txBody>
              <a:bodyPr wrap="none">
                <a:normAutofit fontScale="4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63" name="Text 39">
                <a:extLst>
                  <a:ext uri="{FF2B5EF4-FFF2-40B4-BE49-F238E27FC236}">
                    <a16:creationId xmlns:a16="http://schemas.microsoft.com/office/drawing/2014/main" id="{9F2FC86D-7B68-9867-B018-5167E4065CA2}"/>
                  </a:ext>
                </a:extLst>
              </p:cNvPr>
              <p:cNvSpPr/>
              <p:nvPr/>
            </p:nvSpPr>
            <p:spPr>
              <a:xfrm>
                <a:off x="8292633" y="1338802"/>
                <a:ext cx="3640136" cy="3156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VM-cheap  </a:t>
                </a:r>
                <a:endParaRPr lang="en-US" sz="1200" dirty="0"/>
              </a:p>
            </p:txBody>
          </p:sp>
          <p:sp>
            <p:nvSpPr>
              <p:cNvPr id="164" name="Shape 40">
                <a:extLst>
                  <a:ext uri="{FF2B5EF4-FFF2-40B4-BE49-F238E27FC236}">
                    <a16:creationId xmlns:a16="http://schemas.microsoft.com/office/drawing/2014/main" id="{F75010F1-C421-8459-E110-33B71A39361F}"/>
                  </a:ext>
                </a:extLst>
              </p:cNvPr>
              <p:cNvSpPr/>
              <p:nvPr/>
            </p:nvSpPr>
            <p:spPr>
              <a:xfrm>
                <a:off x="8393050" y="1733360"/>
                <a:ext cx="3439301" cy="620018"/>
              </a:xfrm>
              <a:prstGeom prst="rect">
                <a:avLst/>
              </a:prstGeom>
              <a:solidFill>
                <a:srgbClr val="E3F2FD"/>
              </a:solidFill>
              <a:ln w="12700">
                <a:solidFill>
                  <a:srgbClr val="1976D2"/>
                </a:solidFill>
                <a:prstDash val="solid"/>
              </a:ln>
            </p:spPr>
            <p:txBody>
              <a:bodyPr wrap="none">
                <a:normAutofit lnSpcReduction="1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65" name="Text 41">
                <a:extLst>
                  <a:ext uri="{FF2B5EF4-FFF2-40B4-BE49-F238E27FC236}">
                    <a16:creationId xmlns:a16="http://schemas.microsoft.com/office/drawing/2014/main" id="{C3F973AD-A1D8-D065-727E-C415805AD291}"/>
                  </a:ext>
                </a:extLst>
              </p:cNvPr>
              <p:cNvSpPr/>
              <p:nvPr/>
            </p:nvSpPr>
            <p:spPr>
              <a:xfrm>
                <a:off x="8393050" y="1733360"/>
                <a:ext cx="3439301" cy="620018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0D47A1"/>
                    </a:solidFill>
                  </a:rPr>
                  <a:t>Docker  :  사용자 작업 실행</a:t>
                </a:r>
                <a:endParaRPr lang="en-US" sz="1100" dirty="0"/>
              </a:p>
            </p:txBody>
          </p:sp>
          <p:sp>
            <p:nvSpPr>
              <p:cNvPr id="166" name="Shape 42">
                <a:extLst>
                  <a:ext uri="{FF2B5EF4-FFF2-40B4-BE49-F238E27FC236}">
                    <a16:creationId xmlns:a16="http://schemas.microsoft.com/office/drawing/2014/main" id="{591692A1-9F1C-6D58-873A-979D2A5A38C4}"/>
                  </a:ext>
                </a:extLst>
              </p:cNvPr>
              <p:cNvSpPr/>
              <p:nvPr/>
            </p:nvSpPr>
            <p:spPr>
              <a:xfrm>
                <a:off x="8393047" y="2565639"/>
                <a:ext cx="3439301" cy="609976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222222"/>
                    </a:solidFill>
                  </a:rPr>
                  <a:t>DCGM Exporter</a:t>
                </a:r>
                <a:endParaRPr lang="en-US" altLang="ko-KR" sz="1100" dirty="0"/>
              </a:p>
            </p:txBody>
          </p:sp>
          <p:sp>
            <p:nvSpPr>
              <p:cNvPr id="167" name="Shape 44">
                <a:extLst>
                  <a:ext uri="{FF2B5EF4-FFF2-40B4-BE49-F238E27FC236}">
                    <a16:creationId xmlns:a16="http://schemas.microsoft.com/office/drawing/2014/main" id="{328726AD-9F8D-26DF-D099-5024D5680299}"/>
                  </a:ext>
                </a:extLst>
              </p:cNvPr>
              <p:cNvSpPr/>
              <p:nvPr/>
            </p:nvSpPr>
            <p:spPr>
              <a:xfrm>
                <a:off x="8393046" y="3356887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A6000 Ada #1 (48GB)</a:t>
                </a:r>
                <a:endParaRPr lang="en-US" altLang="ko-KR" sz="1100" dirty="0"/>
              </a:p>
            </p:txBody>
          </p:sp>
          <p:sp>
            <p:nvSpPr>
              <p:cNvPr id="168" name="Shape 44">
                <a:extLst>
                  <a:ext uri="{FF2B5EF4-FFF2-40B4-BE49-F238E27FC236}">
                    <a16:creationId xmlns:a16="http://schemas.microsoft.com/office/drawing/2014/main" id="{F6DD44EA-DF7E-B415-31B6-22284FD66CBC}"/>
                  </a:ext>
                </a:extLst>
              </p:cNvPr>
              <p:cNvSpPr/>
              <p:nvPr/>
            </p:nvSpPr>
            <p:spPr>
              <a:xfrm>
                <a:off x="8393048" y="4159727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A6000 Ada #2 (48GB)</a:t>
                </a:r>
                <a:endParaRPr lang="en-US" altLang="ko-KR" sz="1100" dirty="0"/>
              </a:p>
            </p:txBody>
          </p:sp>
          <p:sp>
            <p:nvSpPr>
              <p:cNvPr id="169" name="Shape 44">
                <a:extLst>
                  <a:ext uri="{FF2B5EF4-FFF2-40B4-BE49-F238E27FC236}">
                    <a16:creationId xmlns:a16="http://schemas.microsoft.com/office/drawing/2014/main" id="{1A368CCB-6E99-4002-4261-BE89414B8A68}"/>
                  </a:ext>
                </a:extLst>
              </p:cNvPr>
              <p:cNvSpPr/>
              <p:nvPr/>
            </p:nvSpPr>
            <p:spPr>
              <a:xfrm>
                <a:off x="8393049" y="4928693"/>
                <a:ext cx="3439301" cy="428377"/>
              </a:xfrm>
              <a:prstGeom prst="rect">
                <a:avLst/>
              </a:prstGeom>
              <a:solidFill>
                <a:srgbClr val="263238"/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(Passthrough) (96GB)</a:t>
                </a:r>
                <a:endParaRPr lang="en-US" altLang="ko-KR" sz="1100" dirty="0"/>
              </a:p>
            </p:txBody>
          </p:sp>
          <p:cxnSp>
            <p:nvCxnSpPr>
              <p:cNvPr id="170" name="직선 화살표 연결선 169">
                <a:extLst>
                  <a:ext uri="{FF2B5EF4-FFF2-40B4-BE49-F238E27FC236}">
                    <a16:creationId xmlns:a16="http://schemas.microsoft.com/office/drawing/2014/main" id="{2DEF415B-6D3A-D985-68E8-1B2EA4AA0C05}"/>
                  </a:ext>
                </a:extLst>
              </p:cNvPr>
              <p:cNvCxnSpPr/>
              <p:nvPr/>
            </p:nvCxnSpPr>
            <p:spPr>
              <a:xfrm>
                <a:off x="9592336" y="3785264"/>
                <a:ext cx="0" cy="374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2D47437E-AFE6-19EE-CA76-E6C6D6A780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1043" y="3785263"/>
                <a:ext cx="0" cy="374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E7D08A1-3A01-0E55-B4D5-26AA5CD4E769}"/>
                  </a:ext>
                </a:extLst>
              </p:cNvPr>
              <p:cNvSpPr txBox="1"/>
              <p:nvPr/>
            </p:nvSpPr>
            <p:spPr>
              <a:xfrm>
                <a:off x="9702081" y="3766601"/>
                <a:ext cx="969443" cy="430887"/>
              </a:xfrm>
              <a:prstGeom prst="rect">
                <a:avLst/>
              </a:prstGeom>
              <a:noFill/>
            </p:spPr>
            <p:txBody>
              <a:bodyPr wrap="none" rtlCol="0">
                <a:normAutofit fontScale="92500" lnSpcReduction="10000"/>
              </a:bodyPr>
              <a:lstStyle/>
              <a:p>
                <a:r>
                  <a:rPr lang="en-US" altLang="ko-KR" sz="1100" b="1" dirty="0"/>
                  <a:t>PCIe </a:t>
                </a:r>
                <a:r>
                  <a:rPr lang="ko-KR" altLang="en-US" sz="1100" b="1" dirty="0"/>
                  <a:t>통신</a:t>
                </a:r>
                <a:br>
                  <a:rPr lang="en-US" altLang="ko-KR" sz="1100" b="1" dirty="0"/>
                </a:br>
                <a:r>
                  <a:rPr lang="en-US" altLang="ko-KR" sz="1100" b="1" dirty="0"/>
                  <a:t>(over</a:t>
                </a:r>
                <a:r>
                  <a:rPr lang="ko-KR" altLang="en-US" sz="1100" b="1" dirty="0"/>
                  <a:t> </a:t>
                </a:r>
                <a:r>
                  <a:rPr lang="en-US" altLang="ko-KR" sz="1100" b="1" dirty="0"/>
                  <a:t>CPU)</a:t>
                </a:r>
                <a:endParaRPr lang="ko-KR" altLang="en-US" sz="1100" b="1" dirty="0"/>
              </a:p>
            </p:txBody>
          </p:sp>
        </p:grpSp>
      </p:grpSp>
      <p:sp>
        <p:nvSpPr>
          <p:cNvPr id="5" name="액자 4">
            <a:extLst>
              <a:ext uri="{FF2B5EF4-FFF2-40B4-BE49-F238E27FC236}">
                <a16:creationId xmlns:a16="http://schemas.microsoft.com/office/drawing/2014/main" id="{427A43D2-9945-1F75-8A50-11F2135D214E}"/>
              </a:ext>
            </a:extLst>
          </p:cNvPr>
          <p:cNvSpPr/>
          <p:nvPr/>
        </p:nvSpPr>
        <p:spPr>
          <a:xfrm>
            <a:off x="0" y="4570921"/>
            <a:ext cx="4190897" cy="1471884"/>
          </a:xfrm>
          <a:prstGeom prst="frame">
            <a:avLst>
              <a:gd name="adj1" fmla="val 90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FBEB60EE-2FB6-6DF6-C039-ABFA369ED40A}"/>
              </a:ext>
            </a:extLst>
          </p:cNvPr>
          <p:cNvSpPr/>
          <p:nvPr/>
        </p:nvSpPr>
        <p:spPr>
          <a:xfrm>
            <a:off x="3938939" y="2633407"/>
            <a:ext cx="4190897" cy="1471884"/>
          </a:xfrm>
          <a:prstGeom prst="frame">
            <a:avLst>
              <a:gd name="adj1" fmla="val 90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74245564-7583-3BFE-E276-C7457B7F3ED6}"/>
              </a:ext>
            </a:extLst>
          </p:cNvPr>
          <p:cNvSpPr/>
          <p:nvPr/>
        </p:nvSpPr>
        <p:spPr>
          <a:xfrm>
            <a:off x="8017682" y="2633407"/>
            <a:ext cx="4190897" cy="1471884"/>
          </a:xfrm>
          <a:prstGeom prst="frame">
            <a:avLst>
              <a:gd name="adj1" fmla="val 90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0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89F2-D799-6428-89CD-7721E92D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942C5D-9B57-17F1-EFAF-FB106B30CA25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6BB8AB-29C0-CC9E-9A9E-FBC8A935F0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E5FEC2-DF35-227B-120D-3757181B5ECE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모니터링 환경 구축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6682EB7-7A61-A722-33A0-DB52633CE276}"/>
              </a:ext>
            </a:extLst>
          </p:cNvPr>
          <p:cNvGrpSpPr/>
          <p:nvPr/>
        </p:nvGrpSpPr>
        <p:grpSpPr>
          <a:xfrm>
            <a:off x="901700" y="1681487"/>
            <a:ext cx="10388600" cy="4759952"/>
            <a:chOff x="1935480" y="1933956"/>
            <a:chExt cx="8321040" cy="2990088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E109BE78-3C65-8B7B-9CB1-222E8D9AE7FC}"/>
                </a:ext>
              </a:extLst>
            </p:cNvPr>
            <p:cNvSpPr/>
            <p:nvPr/>
          </p:nvSpPr>
          <p:spPr>
            <a:xfrm>
              <a:off x="2026920" y="1933956"/>
              <a:ext cx="2468880" cy="1280160"/>
            </a:xfrm>
            <a:prstGeom prst="rect">
              <a:avLst/>
            </a:prstGeom>
            <a:solidFill>
              <a:srgbClr val="F4F6F7"/>
            </a:solidFill>
            <a:ln w="1905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658D8264-B3B1-C22A-6DEA-7B7EB1B9156B}"/>
                </a:ext>
              </a:extLst>
            </p:cNvPr>
            <p:cNvSpPr/>
            <p:nvPr/>
          </p:nvSpPr>
          <p:spPr>
            <a:xfrm>
              <a:off x="2026920" y="2025396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DCGM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Exporter</a:t>
              </a:r>
              <a:endParaRPr lang="en-US" sz="20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E99158E6-8BD6-C74C-A825-86F779C71478}"/>
                </a:ext>
              </a:extLst>
            </p:cNvPr>
            <p:cNvSpPr/>
            <p:nvPr/>
          </p:nvSpPr>
          <p:spPr>
            <a:xfrm>
              <a:off x="2026920" y="2665476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dirty="0" err="1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컴퓨트</a:t>
              </a:r>
              <a:r>
                <a:rPr lang="en-US" sz="16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노드</a:t>
              </a:r>
              <a:r>
                <a:rPr lang="en-US" sz="16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1, 2</a:t>
              </a:r>
              <a:endParaRPr lang="en-US" sz="1600" dirty="0"/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A01585C5-8C66-E328-5014-AF7B1A39148D}"/>
                </a:ext>
              </a:extLst>
            </p:cNvPr>
            <p:cNvSpPr/>
            <p:nvPr/>
          </p:nvSpPr>
          <p:spPr>
            <a:xfrm>
              <a:off x="4495800" y="2253996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200" dirty="0">
                  <a:solidFill>
                    <a:srgbClr val="7F8C8D"/>
                  </a:solidFill>
                </a:rPr>
                <a:t>→</a:t>
              </a:r>
              <a:endParaRPr lang="en-US" sz="2200" dirty="0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F9FD2A26-3A86-502E-25FB-2EBE147A9198}"/>
                </a:ext>
              </a:extLst>
            </p:cNvPr>
            <p:cNvSpPr/>
            <p:nvPr/>
          </p:nvSpPr>
          <p:spPr>
            <a:xfrm>
              <a:off x="4861560" y="1933956"/>
              <a:ext cx="2468880" cy="1280160"/>
            </a:xfrm>
            <a:prstGeom prst="rect">
              <a:avLst/>
            </a:prstGeom>
            <a:solidFill>
              <a:srgbClr val="F4F6F7"/>
            </a:solidFill>
            <a:ln w="1905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F7BF96D8-63B0-BA51-B263-5A0056C34360}"/>
                </a:ext>
              </a:extLst>
            </p:cNvPr>
            <p:cNvSpPr/>
            <p:nvPr/>
          </p:nvSpPr>
          <p:spPr>
            <a:xfrm>
              <a:off x="4861560" y="2025396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>
                  <a:solidFill>
                    <a:srgbClr val="8E44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Prometheus</a:t>
              </a:r>
              <a:endParaRPr lang="en-US" sz="20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2A9F8DCE-A826-7D78-90BF-B52F4F8735AF}"/>
                </a:ext>
              </a:extLst>
            </p:cNvPr>
            <p:cNvSpPr/>
            <p:nvPr/>
          </p:nvSpPr>
          <p:spPr>
            <a:xfrm>
              <a:off x="4861560" y="2665476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컨트롤러 노드</a:t>
              </a:r>
              <a:endParaRPr lang="en-US" sz="1600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1FF75A25-FF67-F8F2-D360-E1CC069570EC}"/>
                </a:ext>
              </a:extLst>
            </p:cNvPr>
            <p:cNvSpPr/>
            <p:nvPr/>
          </p:nvSpPr>
          <p:spPr>
            <a:xfrm>
              <a:off x="7330440" y="2253996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200" dirty="0">
                  <a:solidFill>
                    <a:srgbClr val="7F8C8D"/>
                  </a:solidFill>
                </a:rPr>
                <a:t>→</a:t>
              </a:r>
              <a:endParaRPr lang="en-US" sz="2200" dirty="0"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19B14577-B1F4-7E25-82D2-F9A123CADF1E}"/>
                </a:ext>
              </a:extLst>
            </p:cNvPr>
            <p:cNvSpPr/>
            <p:nvPr/>
          </p:nvSpPr>
          <p:spPr>
            <a:xfrm>
              <a:off x="7696200" y="1933956"/>
              <a:ext cx="2468880" cy="1280160"/>
            </a:xfrm>
            <a:prstGeom prst="rect">
              <a:avLst/>
            </a:prstGeom>
            <a:solidFill>
              <a:srgbClr val="F4F6F7"/>
            </a:solidFill>
            <a:ln w="1905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4C1F2A62-CEB8-8634-2839-C848733B9413}"/>
                </a:ext>
              </a:extLst>
            </p:cNvPr>
            <p:cNvSpPr/>
            <p:nvPr/>
          </p:nvSpPr>
          <p:spPr>
            <a:xfrm>
              <a:off x="7696200" y="2025396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>
                  <a:solidFill>
                    <a:srgbClr val="E67E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Grafana</a:t>
              </a:r>
              <a:endParaRPr lang="en-US" sz="2000" dirty="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6470BE6F-0D05-1FAD-78B4-4CE06BBE7FB3}"/>
                </a:ext>
              </a:extLst>
            </p:cNvPr>
            <p:cNvSpPr/>
            <p:nvPr/>
          </p:nvSpPr>
          <p:spPr>
            <a:xfrm>
              <a:off x="7696200" y="2665476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시각화 대시보드</a:t>
              </a:r>
              <a:endParaRPr lang="en-US" sz="1600" dirty="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39A0E53B-DAA4-6490-70AA-A9C3FC538CF8}"/>
                </a:ext>
              </a:extLst>
            </p:cNvPr>
            <p:cNvSpPr/>
            <p:nvPr/>
          </p:nvSpPr>
          <p:spPr>
            <a:xfrm>
              <a:off x="1935480" y="3442716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수집 핵심 지표</a:t>
              </a:r>
              <a:endParaRPr lang="en-US" dirty="0"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52665911-0A57-3125-9EA2-779808D582FB}"/>
                </a:ext>
              </a:extLst>
            </p:cNvPr>
            <p:cNvSpPr/>
            <p:nvPr/>
          </p:nvSpPr>
          <p:spPr>
            <a:xfrm>
              <a:off x="1935480" y="3854196"/>
              <a:ext cx="2651760" cy="475488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72968FBB-5F4B-3D67-2366-250B1A512CC9}"/>
                </a:ext>
              </a:extLst>
            </p:cNvPr>
            <p:cNvSpPr/>
            <p:nvPr/>
          </p:nvSpPr>
          <p:spPr>
            <a:xfrm>
              <a:off x="2026920" y="387248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메모리 대역폭 사용량</a:t>
              </a:r>
              <a:endParaRPr lang="en-US" sz="1600" dirty="0"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05023854-21EF-336B-7195-EBA36AEEBEA2}"/>
                </a:ext>
              </a:extLst>
            </p:cNvPr>
            <p:cNvSpPr/>
            <p:nvPr/>
          </p:nvSpPr>
          <p:spPr>
            <a:xfrm>
              <a:off x="4770120" y="3854196"/>
              <a:ext cx="2651760" cy="475488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172EF561-FA75-DA4E-6CF8-52058A85A921}"/>
                </a:ext>
              </a:extLst>
            </p:cNvPr>
            <p:cNvSpPr/>
            <p:nvPr/>
          </p:nvSpPr>
          <p:spPr>
            <a:xfrm>
              <a:off x="4861560" y="387248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5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텐서 코어 활용률</a:t>
              </a:r>
              <a:endParaRPr lang="en-US" sz="150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BD29D001-763E-7BB0-7D5B-0A0D0A649A5C}"/>
                </a:ext>
              </a:extLst>
            </p:cNvPr>
            <p:cNvSpPr/>
            <p:nvPr/>
          </p:nvSpPr>
          <p:spPr>
            <a:xfrm>
              <a:off x="7604760" y="3854196"/>
              <a:ext cx="2651760" cy="475488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BCDB6A9B-6201-BD1B-7E34-7F6BFCBB7CB1}"/>
                </a:ext>
              </a:extLst>
            </p:cNvPr>
            <p:cNvSpPr/>
            <p:nvPr/>
          </p:nvSpPr>
          <p:spPr>
            <a:xfrm>
              <a:off x="7696200" y="387248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PCIe 통신량</a:t>
              </a:r>
              <a:endParaRPr lang="en-US" sz="1600" dirty="0"/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3A379BA6-5CF8-B1E5-0873-2BBAB38C49E0}"/>
                </a:ext>
              </a:extLst>
            </p:cNvPr>
            <p:cNvSpPr/>
            <p:nvPr/>
          </p:nvSpPr>
          <p:spPr>
            <a:xfrm>
              <a:off x="1935480" y="4448556"/>
              <a:ext cx="2651760" cy="475488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A75DC653-685A-5AC2-9270-4FFF7D568EC1}"/>
                </a:ext>
              </a:extLst>
            </p:cNvPr>
            <p:cNvSpPr/>
            <p:nvPr/>
          </p:nvSpPr>
          <p:spPr>
            <a:xfrm>
              <a:off x="2026920" y="446684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GPU 온도</a:t>
              </a:r>
              <a:endParaRPr lang="en-US" sz="1600" dirty="0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9AC3945E-F7A5-C08A-A2C4-62B3628C8B2A}"/>
                </a:ext>
              </a:extLst>
            </p:cNvPr>
            <p:cNvSpPr/>
            <p:nvPr/>
          </p:nvSpPr>
          <p:spPr>
            <a:xfrm>
              <a:off x="4770120" y="4448556"/>
              <a:ext cx="2651760" cy="475488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C0A908D1-4860-FAFF-E3E3-BD7BF45572B4}"/>
                </a:ext>
              </a:extLst>
            </p:cNvPr>
            <p:cNvSpPr/>
            <p:nvPr/>
          </p:nvSpPr>
          <p:spPr>
            <a:xfrm>
              <a:off x="4861560" y="446684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소모 전력량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637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C75B9-3BA3-83A6-0AB3-C6AE5BB9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998E1A-53F7-4E0F-F4BF-EF469BF9DB11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C3FDB6-1D7F-66B3-B72F-1520314C85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6FDEE3-DFA7-E03C-2F5B-46114B6CA47A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모니터링 환경 구축</a:t>
            </a:r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D9B75685-E9EC-D5FD-BA50-7832C073D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23" y="1261908"/>
            <a:ext cx="11261757" cy="552941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639D591-2A14-3EE8-4CD3-3B281342E031}"/>
              </a:ext>
            </a:extLst>
          </p:cNvPr>
          <p:cNvSpPr/>
          <p:nvPr/>
        </p:nvSpPr>
        <p:spPr>
          <a:xfrm>
            <a:off x="4084320" y="1371600"/>
            <a:ext cx="1148080" cy="375920"/>
          </a:xfrm>
          <a:prstGeom prst="roundRect">
            <a:avLst/>
          </a:prstGeom>
          <a:solidFill>
            <a:srgbClr val="FFC000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GPU </a:t>
            </a:r>
            <a:r>
              <a:rPr lang="ko-KR" altLang="en-US" dirty="0"/>
              <a:t>온도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2051F50-3637-8B5E-0D17-EC42805B6223}"/>
              </a:ext>
            </a:extLst>
          </p:cNvPr>
          <p:cNvSpPr/>
          <p:nvPr/>
        </p:nvSpPr>
        <p:spPr>
          <a:xfrm>
            <a:off x="843280" y="2255520"/>
            <a:ext cx="1595120" cy="375920"/>
          </a:xfrm>
          <a:prstGeom prst="roundRect">
            <a:avLst/>
          </a:prstGeom>
          <a:solidFill>
            <a:srgbClr val="FFC000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소모 전력량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F4E255A-727D-015B-E29F-3B431BB4D2F7}"/>
              </a:ext>
            </a:extLst>
          </p:cNvPr>
          <p:cNvSpPr/>
          <p:nvPr/>
        </p:nvSpPr>
        <p:spPr>
          <a:xfrm>
            <a:off x="5902960" y="2286000"/>
            <a:ext cx="1595120" cy="375920"/>
          </a:xfrm>
          <a:prstGeom prst="roundRect">
            <a:avLst/>
          </a:prstGeom>
          <a:solidFill>
            <a:srgbClr val="FFC000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PCIe</a:t>
            </a:r>
            <a:r>
              <a:rPr lang="ko-KR" altLang="en-US" dirty="0"/>
              <a:t> </a:t>
            </a:r>
            <a:r>
              <a:rPr lang="ko-KR" altLang="en-US" dirty="0" err="1"/>
              <a:t>통신량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F75EAC-5DDB-A9C2-3211-61D10A973BF6}"/>
              </a:ext>
            </a:extLst>
          </p:cNvPr>
          <p:cNvSpPr/>
          <p:nvPr/>
        </p:nvSpPr>
        <p:spPr>
          <a:xfrm>
            <a:off x="0" y="4026617"/>
            <a:ext cx="121920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9627FC4-D12B-52D6-BD0B-81D4A7F58E53}"/>
              </a:ext>
            </a:extLst>
          </p:cNvPr>
          <p:cNvSpPr/>
          <p:nvPr/>
        </p:nvSpPr>
        <p:spPr>
          <a:xfrm>
            <a:off x="843280" y="3064494"/>
            <a:ext cx="1910080" cy="375920"/>
          </a:xfrm>
          <a:prstGeom prst="roundRect">
            <a:avLst/>
          </a:prstGeom>
          <a:solidFill>
            <a:srgbClr val="FFC000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메모리 대역폭 사용률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71083B7-75F7-6796-8FD8-734B35773599}"/>
              </a:ext>
            </a:extLst>
          </p:cNvPr>
          <p:cNvSpPr/>
          <p:nvPr/>
        </p:nvSpPr>
        <p:spPr>
          <a:xfrm>
            <a:off x="5902960" y="3060163"/>
            <a:ext cx="1595120" cy="375920"/>
          </a:xfrm>
          <a:prstGeom prst="roundRect">
            <a:avLst/>
          </a:prstGeom>
          <a:solidFill>
            <a:srgbClr val="FFC000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텐서코어</a:t>
            </a:r>
            <a:r>
              <a:rPr lang="ko-KR" altLang="en-US" sz="1400" dirty="0"/>
              <a:t> 활용률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595EE38-7A7A-28D1-AF2A-33B2753AD3BF}"/>
              </a:ext>
            </a:extLst>
          </p:cNvPr>
          <p:cNvSpPr/>
          <p:nvPr/>
        </p:nvSpPr>
        <p:spPr>
          <a:xfrm>
            <a:off x="1219200" y="1371600"/>
            <a:ext cx="1767840" cy="498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Compute Node 1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EC92AB5-8AAE-FD4E-6F6E-316B4391BBAD}"/>
              </a:ext>
            </a:extLst>
          </p:cNvPr>
          <p:cNvSpPr/>
          <p:nvPr/>
        </p:nvSpPr>
        <p:spPr>
          <a:xfrm>
            <a:off x="1219200" y="4187298"/>
            <a:ext cx="1767840" cy="498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Compute Node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56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F602-2A77-86A3-451B-680F5AC9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97ED84-E4F3-0A87-27E2-E67BFD2E3C8F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80F66-A987-8924-B67B-B12756BAD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40BF47-A79C-6954-1A5B-3E5FC4A85DA8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벤치마크 실험 설계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0F9B363-714A-DF4B-A030-211CE0784BC2}"/>
              </a:ext>
            </a:extLst>
          </p:cNvPr>
          <p:cNvGrpSpPr/>
          <p:nvPr/>
        </p:nvGrpSpPr>
        <p:grpSpPr>
          <a:xfrm>
            <a:off x="1087120" y="1253395"/>
            <a:ext cx="10017760" cy="4932680"/>
            <a:chOff x="1889760" y="1508760"/>
            <a:chExt cx="8412480" cy="3840480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E4FCC49F-4038-8732-C339-0C4385F0D142}"/>
                </a:ext>
              </a:extLst>
            </p:cNvPr>
            <p:cNvSpPr/>
            <p:nvPr/>
          </p:nvSpPr>
          <p:spPr>
            <a:xfrm>
              <a:off x="1889760" y="1508760"/>
              <a:ext cx="4023360" cy="1920240"/>
            </a:xfrm>
            <a:prstGeom prst="rect">
              <a:avLst/>
            </a:prstGeom>
            <a:solidFill>
              <a:srgbClr val="F4F6F7"/>
            </a:solidFill>
            <a:ln w="1905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F9331DB8-194B-C9E6-2498-11B6637EA948}"/>
                </a:ext>
              </a:extLst>
            </p:cNvPr>
            <p:cNvSpPr/>
            <p:nvPr/>
          </p:nvSpPr>
          <p:spPr>
            <a:xfrm>
              <a:off x="2026920" y="1572768"/>
              <a:ext cx="36576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3200" b="1" dirty="0">
                  <a:solidFill>
                    <a:srgbClr val="148F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 1 </a:t>
              </a:r>
              <a:endParaRPr lang="en-US" sz="3200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16DC8AEC-971A-055E-AD93-3769BE7E54AE}"/>
                </a:ext>
              </a:extLst>
            </p:cNvPr>
            <p:cNvSpPr/>
            <p:nvPr/>
          </p:nvSpPr>
          <p:spPr>
            <a:xfrm>
              <a:off x="2026920" y="2029968"/>
              <a:ext cx="374904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GPU: 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RTX Pro 6000 Blackwell
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VRAM: 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96GB × 1장
</a:t>
              </a:r>
              <a:r>
                <a:rPr lang="en-US" sz="20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방식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</a:p>
            <a:p>
              <a:r>
                <a:rPr lang="en-US" altLang="ko-KR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PCIe </a:t>
              </a:r>
              <a:r>
                <a:rPr lang="en-US" altLang="ko-KR" sz="20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패스스루</a:t>
              </a:r>
              <a:r>
                <a:rPr lang="en-US" altLang="ko-KR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후 </a:t>
              </a:r>
              <a:r>
                <a:rPr lang="en-US" altLang="ko-KR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 </a:t>
              </a:r>
              <a:r>
                <a:rPr lang="ko-KR" alt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내에서         </a:t>
              </a:r>
              <a:r>
                <a:rPr lang="en-US" altLang="ko-KR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MIG</a:t>
              </a:r>
              <a:r>
                <a:rPr lang="ko-KR" alt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로 쪼갬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2000" dirty="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3A4FAD50-C5B3-021C-8BD4-F705E8045937}"/>
                </a:ext>
              </a:extLst>
            </p:cNvPr>
            <p:cNvSpPr/>
            <p:nvPr/>
          </p:nvSpPr>
          <p:spPr>
            <a:xfrm>
              <a:off x="6278880" y="1508760"/>
              <a:ext cx="4023360" cy="1920240"/>
            </a:xfrm>
            <a:prstGeom prst="rect">
              <a:avLst/>
            </a:prstGeom>
            <a:solidFill>
              <a:srgbClr val="F4F6F7"/>
            </a:solidFill>
            <a:ln w="1905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E0C8A557-812E-5811-7915-0B83C5EF4119}"/>
                </a:ext>
              </a:extLst>
            </p:cNvPr>
            <p:cNvSpPr/>
            <p:nvPr/>
          </p:nvSpPr>
          <p:spPr>
            <a:xfrm>
              <a:off x="6416040" y="1572768"/>
              <a:ext cx="36576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3200" b="1" dirty="0">
                  <a:solidFill>
                    <a:srgbClr val="E67E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 2</a:t>
              </a:r>
              <a:endParaRPr lang="en-US" sz="32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883E102C-BF9A-BC31-4088-6D60F2CEBB57}"/>
                </a:ext>
              </a:extLst>
            </p:cNvPr>
            <p:cNvSpPr/>
            <p:nvPr/>
          </p:nvSpPr>
          <p:spPr>
            <a:xfrm>
              <a:off x="6416040" y="2029968"/>
              <a:ext cx="374904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GPU: 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RTX A6000 Ada
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VRAM: 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48GB × 2장
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방식: </a:t>
              </a:r>
              <a:r>
                <a:rPr lang="ko-KR" alt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각 </a:t>
              </a:r>
              <a:r>
                <a:rPr lang="en-US" altLang="ko-KR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PCIe </a:t>
              </a:r>
              <a:r>
                <a:rPr lang="en-US" sz="20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패스스루</a:t>
              </a:r>
              <a:r>
                <a:rPr 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2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연결</a:t>
              </a:r>
              <a:endParaRPr lang="en-US" sz="200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CEE6CD56-6329-386F-1132-B22C2217E66B}"/>
                </a:ext>
              </a:extLst>
            </p:cNvPr>
            <p:cNvSpPr/>
            <p:nvPr/>
          </p:nvSpPr>
          <p:spPr>
            <a:xfrm>
              <a:off x="1889760" y="3566160"/>
              <a:ext cx="8229600" cy="548640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B95F3FD5-D2C1-1B67-A380-91A374317E93}"/>
                </a:ext>
              </a:extLst>
            </p:cNvPr>
            <p:cNvSpPr/>
            <p:nvPr/>
          </p:nvSpPr>
          <p:spPr>
            <a:xfrm>
              <a:off x="1981200" y="3630168"/>
              <a:ext cx="804672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공통 모델: LLaMA 3.1-8B  |  파인튜닝(Fine-Tuning) 워크로드 기준</a:t>
              </a:r>
              <a:endParaRPr lang="en-US" sz="20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CEAD912E-82B5-D96D-3C57-B15F5F14745A}"/>
                </a:ext>
              </a:extLst>
            </p:cNvPr>
            <p:cNvSpPr/>
            <p:nvPr/>
          </p:nvSpPr>
          <p:spPr>
            <a:xfrm>
              <a:off x="1889760" y="4251960"/>
              <a:ext cx="1920240" cy="1097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DC01F2CD-6D9D-48F4-9C00-8A3EC64B0D8F}"/>
                </a:ext>
              </a:extLst>
            </p:cNvPr>
            <p:cNvSpPr/>
            <p:nvPr/>
          </p:nvSpPr>
          <p:spPr>
            <a:xfrm>
              <a:off x="1889760" y="4251960"/>
              <a:ext cx="1920240" cy="64008"/>
            </a:xfrm>
            <a:prstGeom prst="rect">
              <a:avLst/>
            </a:prstGeom>
            <a:solidFill>
              <a:srgbClr val="148F77"/>
            </a:solidFill>
            <a:ln w="1270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61A55D18-7E7D-0EB2-69A2-B29096DDD84D}"/>
                </a:ext>
              </a:extLst>
            </p:cNvPr>
            <p:cNvSpPr/>
            <p:nvPr/>
          </p:nvSpPr>
          <p:spPr>
            <a:xfrm>
              <a:off x="1962912" y="434340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solidFill>
                    <a:srgbClr val="148F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MIG 48</a:t>
              </a:r>
              <a:endParaRPr lang="en-US" sz="20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85C47902-D242-26D8-D6B8-355019EFFD9E}"/>
                </a:ext>
              </a:extLst>
            </p:cNvPr>
            <p:cNvSpPr/>
            <p:nvPr/>
          </p:nvSpPr>
          <p:spPr>
            <a:xfrm>
              <a:off x="1962912" y="4681728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96GB GPU → MIG로 48GB 분할 사용</a:t>
              </a:r>
              <a:endParaRPr lang="en-US" sz="1600" dirty="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060F8701-D7C2-DA12-FF1D-246DA01871E7}"/>
                </a:ext>
              </a:extLst>
            </p:cNvPr>
            <p:cNvSpPr/>
            <p:nvPr/>
          </p:nvSpPr>
          <p:spPr>
            <a:xfrm>
              <a:off x="3992880" y="4251960"/>
              <a:ext cx="1920240" cy="1097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873F344A-BBB0-CFEB-D454-AB1C4B53F8FC}"/>
                </a:ext>
              </a:extLst>
            </p:cNvPr>
            <p:cNvSpPr/>
            <p:nvPr/>
          </p:nvSpPr>
          <p:spPr>
            <a:xfrm>
              <a:off x="3992880" y="4251960"/>
              <a:ext cx="1920240" cy="64008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EFF9555F-CCA1-2095-21E8-14899E74E678}"/>
                </a:ext>
              </a:extLst>
            </p:cNvPr>
            <p:cNvSpPr/>
            <p:nvPr/>
          </p:nvSpPr>
          <p:spPr>
            <a:xfrm>
              <a:off x="4066032" y="434340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48</a:t>
              </a:r>
              <a:endParaRPr lang="en-US" sz="200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74C92416-FFFB-BC46-28DC-0DBA795F5AFD}"/>
                </a:ext>
              </a:extLst>
            </p:cNvPr>
            <p:cNvSpPr/>
            <p:nvPr/>
          </p:nvSpPr>
          <p:spPr>
            <a:xfrm>
              <a:off x="4066032" y="4681728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 48GB GPU 1장 </a:t>
              </a:r>
            </a:p>
            <a:p>
              <a:pPr marL="0" indent="0">
                <a:buNone/>
              </a:pPr>
              <a:r>
                <a:rPr lang="en-US" sz="16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단독</a:t>
              </a: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사용</a:t>
              </a:r>
              <a:endParaRPr lang="en-US" sz="160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FF8E792D-D08C-6B33-57CE-13C59A26FACA}"/>
                </a:ext>
              </a:extLst>
            </p:cNvPr>
            <p:cNvSpPr/>
            <p:nvPr/>
          </p:nvSpPr>
          <p:spPr>
            <a:xfrm>
              <a:off x="6096000" y="4251960"/>
              <a:ext cx="1920240" cy="1097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CC11F439-3680-E96A-756E-694B070684B0}"/>
                </a:ext>
              </a:extLst>
            </p:cNvPr>
            <p:cNvSpPr/>
            <p:nvPr/>
          </p:nvSpPr>
          <p:spPr>
            <a:xfrm>
              <a:off x="6096000" y="4251960"/>
              <a:ext cx="1920240" cy="64008"/>
            </a:xfrm>
            <a:prstGeom prst="rect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43A2DE08-CE9D-483C-D036-0C5A72E2CDA6}"/>
                </a:ext>
              </a:extLst>
            </p:cNvPr>
            <p:cNvSpPr/>
            <p:nvPr/>
          </p:nvSpPr>
          <p:spPr>
            <a:xfrm>
              <a:off x="6169152" y="434340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solidFill>
                    <a:srgbClr val="8E44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96</a:t>
              </a:r>
              <a:endParaRPr lang="en-US" sz="200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FF819C16-79C1-D0A3-6162-957E95A216A8}"/>
                </a:ext>
              </a:extLst>
            </p:cNvPr>
            <p:cNvSpPr/>
            <p:nvPr/>
          </p:nvSpPr>
          <p:spPr>
            <a:xfrm>
              <a:off x="6169152" y="4681728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96GB Blackwell </a:t>
              </a:r>
            </a:p>
            <a:p>
              <a:pPr marL="0" indent="0">
                <a:buNone/>
              </a:pPr>
              <a:r>
                <a:rPr lang="en-US" sz="16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전체</a:t>
              </a: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사용</a:t>
              </a:r>
              <a:endParaRPr lang="en-US" sz="1600" dirty="0"/>
            </a:p>
          </p:txBody>
        </p:sp>
        <p:sp>
          <p:nvSpPr>
            <p:cNvPr id="26" name="Shape 22">
              <a:extLst>
                <a:ext uri="{FF2B5EF4-FFF2-40B4-BE49-F238E27FC236}">
                  <a16:creationId xmlns:a16="http://schemas.microsoft.com/office/drawing/2014/main" id="{5D2A1D2E-AC92-6A18-9115-491CD3701032}"/>
                </a:ext>
              </a:extLst>
            </p:cNvPr>
            <p:cNvSpPr/>
            <p:nvPr/>
          </p:nvSpPr>
          <p:spPr>
            <a:xfrm>
              <a:off x="8199120" y="4251960"/>
              <a:ext cx="1920240" cy="1097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4565AE34-0E89-D2C5-4616-0F38355384A8}"/>
                </a:ext>
              </a:extLst>
            </p:cNvPr>
            <p:cNvSpPr/>
            <p:nvPr/>
          </p:nvSpPr>
          <p:spPr>
            <a:xfrm>
              <a:off x="8199120" y="4251960"/>
              <a:ext cx="1920240" cy="64008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1D5A5764-93EA-D6AA-B126-34E7407F8182}"/>
                </a:ext>
              </a:extLst>
            </p:cNvPr>
            <p:cNvSpPr/>
            <p:nvPr/>
          </p:nvSpPr>
          <p:spPr>
            <a:xfrm>
              <a:off x="8272272" y="434340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solidFill>
                    <a:srgbClr val="E67E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FSDP 48</a:t>
              </a:r>
              <a:endParaRPr lang="en-US" sz="2000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53BD229A-715A-4C5C-DBB7-346665741809}"/>
                </a:ext>
              </a:extLst>
            </p:cNvPr>
            <p:cNvSpPr/>
            <p:nvPr/>
          </p:nvSpPr>
          <p:spPr>
            <a:xfrm>
              <a:off x="8272272" y="4681728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 48GB × 2장 병렬 (96GB 등가)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1067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003B-83A6-9357-DDA5-A9D55C86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4BA87F3-0CAE-69BF-7316-9705A46DC6AA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F644C1-9C66-4134-06EC-2C4D97B707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553A36-737B-D998-F0C4-6DB39CEC27AF}"/>
              </a:ext>
            </a:extLst>
          </p:cNvPr>
          <p:cNvSpPr txBox="1"/>
          <p:nvPr/>
        </p:nvSpPr>
        <p:spPr>
          <a:xfrm>
            <a:off x="245806" y="265471"/>
            <a:ext cx="9060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벤치마크 실험 설계 </a:t>
            </a:r>
            <a:r>
              <a:rPr lang="en-US" altLang="ko-KR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- 48GB 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시나리오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33CB9E-4711-78BD-43B6-25310885561D}"/>
              </a:ext>
            </a:extLst>
          </p:cNvPr>
          <p:cNvSpPr/>
          <p:nvPr/>
        </p:nvSpPr>
        <p:spPr>
          <a:xfrm>
            <a:off x="751840" y="1584960"/>
            <a:ext cx="4836160" cy="3068320"/>
          </a:xfrm>
          <a:prstGeom prst="rect">
            <a:avLst/>
          </a:prstGeom>
          <a:solidFill>
            <a:srgbClr val="EFF9E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2ABE1-DDAC-F02A-342E-2C07BB9E19BB}"/>
              </a:ext>
            </a:extLst>
          </p:cNvPr>
          <p:cNvSpPr txBox="1"/>
          <p:nvPr/>
        </p:nvSpPr>
        <p:spPr>
          <a:xfrm>
            <a:off x="843280" y="1757680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VM 1 – MIG 48 </a:t>
            </a:r>
            <a:r>
              <a:rPr lang="ko-KR" altLang="en-US" sz="2400" b="1" dirty="0"/>
              <a:t>모드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49E87-6EDB-3830-B30A-0E752070DC6F}"/>
              </a:ext>
            </a:extLst>
          </p:cNvPr>
          <p:cNvSpPr txBox="1"/>
          <p:nvPr/>
        </p:nvSpPr>
        <p:spPr>
          <a:xfrm>
            <a:off x="1016000" y="2392065"/>
            <a:ext cx="430784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RTX Pro 6000 Blackwell 96GB GPU</a:t>
            </a:r>
            <a:r>
              <a:rPr lang="ko-KR" altLang="en-US" dirty="0"/>
              <a:t>를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MIG</a:t>
            </a:r>
            <a:r>
              <a:rPr lang="ko-KR" altLang="en-US" dirty="0"/>
              <a:t>로 절반 분할</a:t>
            </a:r>
            <a:r>
              <a:rPr lang="en-US" altLang="ko-KR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5A214F-73F0-A132-84A2-F327ABBB3E62}"/>
              </a:ext>
            </a:extLst>
          </p:cNvPr>
          <p:cNvSpPr/>
          <p:nvPr/>
        </p:nvSpPr>
        <p:spPr>
          <a:xfrm>
            <a:off x="6512560" y="1584960"/>
            <a:ext cx="4836160" cy="3068320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altLang="ko-KR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7449281-A83D-46B7-6A82-3AA6E2D186C9}"/>
              </a:ext>
            </a:extLst>
          </p:cNvPr>
          <p:cNvSpPr/>
          <p:nvPr/>
        </p:nvSpPr>
        <p:spPr>
          <a:xfrm>
            <a:off x="5642809" y="2525693"/>
            <a:ext cx="814941" cy="8210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BFCEF-4BA5-1450-BC00-FA3EA3C7CACF}"/>
              </a:ext>
            </a:extLst>
          </p:cNvPr>
          <p:cNvSpPr txBox="1"/>
          <p:nvPr/>
        </p:nvSpPr>
        <p:spPr>
          <a:xfrm>
            <a:off x="6614160" y="1757680"/>
            <a:ext cx="388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VM 2 – SINGLE 48 </a:t>
            </a:r>
            <a:r>
              <a:rPr lang="ko-KR" altLang="en-US" sz="2400" b="1" dirty="0"/>
              <a:t>모드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20635-D4E2-3720-6CAA-C7CD331DE401}"/>
              </a:ext>
            </a:extLst>
          </p:cNvPr>
          <p:cNvSpPr txBox="1"/>
          <p:nvPr/>
        </p:nvSpPr>
        <p:spPr>
          <a:xfrm>
            <a:off x="6776720" y="2424479"/>
            <a:ext cx="44704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연결된 두개의 </a:t>
            </a:r>
            <a:r>
              <a:rPr lang="en-US" altLang="ko-KR" dirty="0"/>
              <a:t>RTX A6000 Ada48GB GPU </a:t>
            </a:r>
            <a:r>
              <a:rPr lang="ko-KR" altLang="en-US" dirty="0"/>
              <a:t>중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딱 한 장만 사용</a:t>
            </a:r>
            <a:r>
              <a:rPr lang="en-US" altLang="ko-KR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3F9710-5666-E7E6-8A9C-BDC1049EAFBC}"/>
              </a:ext>
            </a:extLst>
          </p:cNvPr>
          <p:cNvSpPr txBox="1"/>
          <p:nvPr/>
        </p:nvSpPr>
        <p:spPr>
          <a:xfrm>
            <a:off x="843280" y="3454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환경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806B41-F7F8-B85D-A29E-45641D14C290}"/>
              </a:ext>
            </a:extLst>
          </p:cNvPr>
          <p:cNvSpPr txBox="1"/>
          <p:nvPr/>
        </p:nvSpPr>
        <p:spPr>
          <a:xfrm>
            <a:off x="1087120" y="3823707"/>
            <a:ext cx="430784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MIG</a:t>
            </a:r>
            <a:r>
              <a:rPr lang="ko-KR" altLang="en-US" dirty="0"/>
              <a:t>로 쪼개진 </a:t>
            </a:r>
            <a:r>
              <a:rPr lang="en-US" altLang="ko-KR" b="1" dirty="0"/>
              <a:t>48GB</a:t>
            </a:r>
            <a:r>
              <a:rPr lang="en-US" altLang="ko-KR" dirty="0"/>
              <a:t> </a:t>
            </a:r>
            <a:r>
              <a:rPr lang="ko-KR" altLang="en-US" dirty="0"/>
              <a:t>인스턴스 환경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DCCA3-85B2-206C-31AC-BE88782D115B}"/>
              </a:ext>
            </a:extLst>
          </p:cNvPr>
          <p:cNvSpPr txBox="1"/>
          <p:nvPr/>
        </p:nvSpPr>
        <p:spPr>
          <a:xfrm>
            <a:off x="6614160" y="3561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환경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2A62E-800C-7904-BE40-7A8873C11F4F}"/>
              </a:ext>
            </a:extLst>
          </p:cNvPr>
          <p:cNvSpPr txBox="1"/>
          <p:nvPr/>
        </p:nvSpPr>
        <p:spPr>
          <a:xfrm>
            <a:off x="6858000" y="3931295"/>
            <a:ext cx="430784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온전한 </a:t>
            </a:r>
            <a:r>
              <a:rPr lang="en-US" altLang="ko-KR" b="1" dirty="0"/>
              <a:t>48GB</a:t>
            </a:r>
            <a:r>
              <a:rPr lang="en-US" altLang="ko-KR" dirty="0"/>
              <a:t> </a:t>
            </a:r>
            <a:r>
              <a:rPr lang="ko-KR" altLang="en-US" dirty="0"/>
              <a:t>하나의 물리 </a:t>
            </a:r>
            <a:r>
              <a:rPr lang="en-US" altLang="ko-KR" dirty="0"/>
              <a:t>GPU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C3A9CD-83A1-C9AD-8ACF-17C7A9141C95}"/>
              </a:ext>
            </a:extLst>
          </p:cNvPr>
          <p:cNvSpPr txBox="1"/>
          <p:nvPr/>
        </p:nvSpPr>
        <p:spPr>
          <a:xfrm>
            <a:off x="0" y="5051634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48GB </a:t>
            </a: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환경에서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가상화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오버헤드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(MIG) vs </a:t>
            </a: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GPU(Single) </a:t>
            </a: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r>
              <a:rPr lang="en-US" altLang="ko-KR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200" b="1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19445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CCDD-62D1-E9B6-AD09-18CDA100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3C9D11-394E-649B-3CB6-26CCBFF7F6FC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7CC2FB-E5F7-5CD8-B3EA-6089691D28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6A4039-C881-50BF-0F1B-3DCEA75A4105}"/>
              </a:ext>
            </a:extLst>
          </p:cNvPr>
          <p:cNvSpPr txBox="1"/>
          <p:nvPr/>
        </p:nvSpPr>
        <p:spPr>
          <a:xfrm>
            <a:off x="245806" y="265471"/>
            <a:ext cx="9081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벤치마크 실험 설계 </a:t>
            </a:r>
            <a:r>
              <a:rPr lang="en-US" altLang="ko-KR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– 96GB </a:t>
            </a:r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시나리오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F5F28-A522-E2F2-3B5F-7668603E1497}"/>
              </a:ext>
            </a:extLst>
          </p:cNvPr>
          <p:cNvSpPr txBox="1"/>
          <p:nvPr/>
        </p:nvSpPr>
        <p:spPr>
          <a:xfrm>
            <a:off x="465279" y="4913772"/>
            <a:ext cx="112614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96GB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환경에서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 vs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(FSDP)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오버헤드</a:t>
            </a:r>
            <a:r>
              <a:rPr lang="en-US" altLang="ko-KR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altLang="ko-KR" sz="3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4BBA30-B5F4-FE6C-AED7-0CA9089DE378}"/>
              </a:ext>
            </a:extLst>
          </p:cNvPr>
          <p:cNvSpPr/>
          <p:nvPr/>
        </p:nvSpPr>
        <p:spPr>
          <a:xfrm>
            <a:off x="751840" y="1584960"/>
            <a:ext cx="4836160" cy="3068320"/>
          </a:xfrm>
          <a:prstGeom prst="rect">
            <a:avLst/>
          </a:prstGeom>
          <a:solidFill>
            <a:srgbClr val="EFF9E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D9DD2-3AD2-AF75-CDCB-61F52F10BCE1}"/>
              </a:ext>
            </a:extLst>
          </p:cNvPr>
          <p:cNvSpPr txBox="1"/>
          <p:nvPr/>
        </p:nvSpPr>
        <p:spPr>
          <a:xfrm>
            <a:off x="843280" y="1757680"/>
            <a:ext cx="3738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VM 1 – SINGLE 96 </a:t>
            </a:r>
            <a:r>
              <a:rPr lang="ko-KR" altLang="en-US" sz="2400" b="1" dirty="0"/>
              <a:t>모드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8F3F3-EB47-86D5-9041-746B5B4F42F9}"/>
              </a:ext>
            </a:extLst>
          </p:cNvPr>
          <p:cNvSpPr txBox="1"/>
          <p:nvPr/>
        </p:nvSpPr>
        <p:spPr>
          <a:xfrm>
            <a:off x="1016000" y="2392065"/>
            <a:ext cx="430784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RTX Pro 6000 Blackwell 96GB GPU</a:t>
            </a:r>
            <a:r>
              <a:rPr lang="ko-KR" altLang="en-US" dirty="0"/>
              <a:t>를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MIG</a:t>
            </a:r>
            <a:r>
              <a:rPr lang="ko-KR" altLang="en-US" dirty="0"/>
              <a:t>로 분할하지 않고 전체 사용</a:t>
            </a:r>
            <a:endParaRPr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125EDB-B096-400B-A43F-5C02902E5F72}"/>
              </a:ext>
            </a:extLst>
          </p:cNvPr>
          <p:cNvSpPr/>
          <p:nvPr/>
        </p:nvSpPr>
        <p:spPr>
          <a:xfrm>
            <a:off x="6512560" y="1584960"/>
            <a:ext cx="4836160" cy="3068320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altLang="ko-KR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D28CE61-6530-FD3D-261A-782B9A96C375}"/>
              </a:ext>
            </a:extLst>
          </p:cNvPr>
          <p:cNvSpPr/>
          <p:nvPr/>
        </p:nvSpPr>
        <p:spPr>
          <a:xfrm>
            <a:off x="5642809" y="2525693"/>
            <a:ext cx="814941" cy="8210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2F796-2BE1-ACD3-F813-D5702F121917}"/>
              </a:ext>
            </a:extLst>
          </p:cNvPr>
          <p:cNvSpPr txBox="1"/>
          <p:nvPr/>
        </p:nvSpPr>
        <p:spPr>
          <a:xfrm>
            <a:off x="6614160" y="1757680"/>
            <a:ext cx="388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VM 2 – FSDP 48 </a:t>
            </a:r>
            <a:r>
              <a:rPr lang="ko-KR" altLang="en-US" sz="2400" b="1" dirty="0"/>
              <a:t>모드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2AA02-93FE-D8B0-3C2B-5655706CF471}"/>
              </a:ext>
            </a:extLst>
          </p:cNvPr>
          <p:cNvSpPr txBox="1"/>
          <p:nvPr/>
        </p:nvSpPr>
        <p:spPr>
          <a:xfrm>
            <a:off x="6776720" y="2385720"/>
            <a:ext cx="44704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연결된 두개의 </a:t>
            </a:r>
            <a:r>
              <a:rPr lang="en-US" altLang="ko-KR" dirty="0"/>
              <a:t>RTX A6000 Ada48GB GPU </a:t>
            </a:r>
            <a:r>
              <a:rPr lang="ko-KR" altLang="en-US" dirty="0"/>
              <a:t>를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네트워크로 묶어 </a:t>
            </a:r>
            <a:r>
              <a:rPr lang="en-US" altLang="ko-KR" dirty="0"/>
              <a:t>96GB </a:t>
            </a:r>
            <a:r>
              <a:rPr lang="ko-KR" altLang="en-US" dirty="0"/>
              <a:t>처럼 사용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023B3-EAFC-1AA4-8C94-A266B12ACE27}"/>
              </a:ext>
            </a:extLst>
          </p:cNvPr>
          <p:cNvSpPr txBox="1"/>
          <p:nvPr/>
        </p:nvSpPr>
        <p:spPr>
          <a:xfrm>
            <a:off x="843280" y="3454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환경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3BB77-8C87-ED82-1ACC-F7228B54CD5C}"/>
              </a:ext>
            </a:extLst>
          </p:cNvPr>
          <p:cNvSpPr txBox="1"/>
          <p:nvPr/>
        </p:nvSpPr>
        <p:spPr>
          <a:xfrm>
            <a:off x="1087120" y="3823707"/>
            <a:ext cx="430784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단일 고성능 </a:t>
            </a:r>
            <a:r>
              <a:rPr lang="en-US" altLang="ko-KR" b="1" dirty="0"/>
              <a:t>96GB</a:t>
            </a:r>
            <a:r>
              <a:rPr lang="en-US" altLang="ko-KR" dirty="0"/>
              <a:t> GPU </a:t>
            </a:r>
            <a:r>
              <a:rPr lang="ko-KR" altLang="en-US" dirty="0"/>
              <a:t>환경</a:t>
            </a:r>
            <a:endParaRPr lang="en-US" altLang="ko-K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B644ED-0385-0AC9-D7B1-851F1C042C9B}"/>
              </a:ext>
            </a:extLst>
          </p:cNvPr>
          <p:cNvSpPr txBox="1"/>
          <p:nvPr/>
        </p:nvSpPr>
        <p:spPr>
          <a:xfrm>
            <a:off x="6858000" y="3833292"/>
            <a:ext cx="430784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GPU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장이 </a:t>
            </a:r>
            <a:r>
              <a:rPr lang="ko-KR" altLang="en-US" b="1" dirty="0"/>
              <a:t>서로 통신</a:t>
            </a:r>
            <a:r>
              <a:rPr lang="ko-KR" altLang="en-US" dirty="0"/>
              <a:t>하는 </a:t>
            </a:r>
            <a:r>
              <a:rPr lang="en-US" altLang="ko-KR" b="1" dirty="0"/>
              <a:t>96GB</a:t>
            </a:r>
            <a:r>
              <a:rPr lang="en-US" altLang="ko-KR" dirty="0"/>
              <a:t> </a:t>
            </a:r>
            <a:r>
              <a:rPr lang="ko-KR" altLang="en-US" dirty="0"/>
              <a:t>환경</a:t>
            </a:r>
            <a:endParaRPr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9FE4C6-943F-6814-9D38-32A23A453537}"/>
              </a:ext>
            </a:extLst>
          </p:cNvPr>
          <p:cNvSpPr txBox="1"/>
          <p:nvPr/>
        </p:nvSpPr>
        <p:spPr>
          <a:xfrm>
            <a:off x="6705600" y="3454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환경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144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F1AD-C5F0-2660-A613-BC5C8DCF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C7B868-AE49-61A0-3251-5527685F38D2}"/>
              </a:ext>
            </a:extLst>
          </p:cNvPr>
          <p:cNvSpPr/>
          <p:nvPr/>
        </p:nvSpPr>
        <p:spPr>
          <a:xfrm>
            <a:off x="0" y="1165199"/>
            <a:ext cx="12192000" cy="45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25A00D-A41E-FC12-DFE9-4096390FB4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87249" y="6228552"/>
            <a:ext cx="2126032" cy="562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0B1CBF-93A6-7609-28CB-21C9E82C4F0F}"/>
              </a:ext>
            </a:extLst>
          </p:cNvPr>
          <p:cNvSpPr txBox="1"/>
          <p:nvPr/>
        </p:nvSpPr>
        <p:spPr>
          <a:xfrm>
            <a:off x="245806" y="265471"/>
            <a:ext cx="6929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향후 추진할 내용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D35304A-C423-339A-329C-7E0C15C83E6B}"/>
              </a:ext>
            </a:extLst>
          </p:cNvPr>
          <p:cNvGrpSpPr/>
          <p:nvPr/>
        </p:nvGrpSpPr>
        <p:grpSpPr>
          <a:xfrm>
            <a:off x="1277945" y="1402761"/>
            <a:ext cx="9672320" cy="4742652"/>
            <a:chOff x="1981200" y="1485900"/>
            <a:chExt cx="8229600" cy="388620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C9550D80-A831-102A-07A2-968EF3BF0566}"/>
                </a:ext>
              </a:extLst>
            </p:cNvPr>
            <p:cNvSpPr/>
            <p:nvPr/>
          </p:nvSpPr>
          <p:spPr>
            <a:xfrm>
              <a:off x="1981200" y="1485900"/>
              <a:ext cx="594360" cy="594360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A372BE0D-6D14-199C-1AF6-AC2065CA54C1}"/>
                </a:ext>
              </a:extLst>
            </p:cNvPr>
            <p:cNvSpPr/>
            <p:nvPr/>
          </p:nvSpPr>
          <p:spPr>
            <a:xfrm>
              <a:off x="1981200" y="148590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C0FD89BE-6773-8212-4825-C9F3D1345A50}"/>
                </a:ext>
              </a:extLst>
            </p:cNvPr>
            <p:cNvSpPr/>
            <p:nvPr/>
          </p:nvSpPr>
          <p:spPr>
            <a:xfrm>
              <a:off x="2712720" y="1485900"/>
              <a:ext cx="7498080" cy="91440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14662019-40E2-58F4-2B66-63FA27F68BA6}"/>
                </a:ext>
              </a:extLst>
            </p:cNvPr>
            <p:cNvSpPr/>
            <p:nvPr/>
          </p:nvSpPr>
          <p:spPr>
            <a:xfrm>
              <a:off x="2712720" y="1485900"/>
              <a:ext cx="64008" cy="914400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70BB76E6-40FF-60E3-BA6E-7611C19C46AB}"/>
                </a:ext>
              </a:extLst>
            </p:cNvPr>
            <p:cNvSpPr/>
            <p:nvPr/>
          </p:nvSpPr>
          <p:spPr>
            <a:xfrm>
              <a:off x="2895600" y="1540764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 파인튜닝 실측 실험</a:t>
              </a:r>
              <a:endParaRPr lang="en-US" sz="16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9064592D-7E4A-4E58-CEC4-25D92F703F41}"/>
                </a:ext>
              </a:extLst>
            </p:cNvPr>
            <p:cNvSpPr/>
            <p:nvPr/>
          </p:nvSpPr>
          <p:spPr>
            <a:xfrm>
              <a:off x="2895600" y="1943100"/>
              <a:ext cx="722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4가지 모드(MIG48, Single48, Single96, FSDP48) 실측 벤치마크 수행</a:t>
              </a:r>
              <a:endParaRPr lang="en-US" sz="160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3FAF430D-9B7C-8EE2-30ED-027046F77641}"/>
                </a:ext>
              </a:extLst>
            </p:cNvPr>
            <p:cNvSpPr/>
            <p:nvPr/>
          </p:nvSpPr>
          <p:spPr>
            <a:xfrm>
              <a:off x="1981200" y="2583180"/>
              <a:ext cx="594360" cy="594360"/>
            </a:xfrm>
            <a:prstGeom prst="ellipse">
              <a:avLst/>
            </a:prstGeom>
            <a:solidFill>
              <a:srgbClr val="148F77"/>
            </a:solidFill>
            <a:ln w="1270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77C2B63B-2ED5-74B2-8907-1F6754E12255}"/>
                </a:ext>
              </a:extLst>
            </p:cNvPr>
            <p:cNvSpPr/>
            <p:nvPr/>
          </p:nvSpPr>
          <p:spPr>
            <a:xfrm>
              <a:off x="1981200" y="258318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E9FE20FC-45D9-468D-05BA-F7A2DE167562}"/>
                </a:ext>
              </a:extLst>
            </p:cNvPr>
            <p:cNvSpPr/>
            <p:nvPr/>
          </p:nvSpPr>
          <p:spPr>
            <a:xfrm>
              <a:off x="2712720" y="2583180"/>
              <a:ext cx="7498080" cy="91440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6DDC1602-608B-8806-75D2-D25CCF73C282}"/>
                </a:ext>
              </a:extLst>
            </p:cNvPr>
            <p:cNvSpPr/>
            <p:nvPr/>
          </p:nvSpPr>
          <p:spPr>
            <a:xfrm>
              <a:off x="2712720" y="2583180"/>
              <a:ext cx="64008" cy="914400"/>
            </a:xfrm>
            <a:prstGeom prst="rect">
              <a:avLst/>
            </a:prstGeom>
            <a:solidFill>
              <a:srgbClr val="148F77"/>
            </a:solidFill>
            <a:ln w="12700">
              <a:solidFill>
                <a:srgbClr val="148F7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36ED5934-FC84-F598-E3DF-6C0E6C550DF9}"/>
                </a:ext>
              </a:extLst>
            </p:cNvPr>
            <p:cNvSpPr/>
            <p:nvPr/>
          </p:nvSpPr>
          <p:spPr>
            <a:xfrm>
              <a:off x="2895600" y="2638044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148F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 수집 및 분석</a:t>
              </a:r>
              <a:endParaRPr lang="en-US" sz="160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2FBF0B41-72C6-4DCC-4C9B-59709E324805}"/>
                </a:ext>
              </a:extLst>
            </p:cNvPr>
            <p:cNvSpPr/>
            <p:nvPr/>
          </p:nvSpPr>
          <p:spPr>
            <a:xfrm>
              <a:off x="2895600" y="3040380"/>
              <a:ext cx="722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Grafana 모니터링 + 벤치마크 결과 종합 분석 및 비교</a:t>
              </a:r>
              <a:endParaRPr lang="en-US" sz="1600" dirty="0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4C1584F-0CF4-E934-32EE-81163AAC868D}"/>
                </a:ext>
              </a:extLst>
            </p:cNvPr>
            <p:cNvSpPr/>
            <p:nvPr/>
          </p:nvSpPr>
          <p:spPr>
            <a:xfrm>
              <a:off x="1981200" y="3680460"/>
              <a:ext cx="594360" cy="594360"/>
            </a:xfrm>
            <a:prstGeom prst="ellipse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658A1E22-BEE6-1CD0-3341-204BFE6EE9A0}"/>
                </a:ext>
              </a:extLst>
            </p:cNvPr>
            <p:cNvSpPr/>
            <p:nvPr/>
          </p:nvSpPr>
          <p:spPr>
            <a:xfrm>
              <a:off x="1981200" y="368046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E78BD1DD-9BF4-19F4-1D95-97FED3B48F2D}"/>
                </a:ext>
              </a:extLst>
            </p:cNvPr>
            <p:cNvSpPr/>
            <p:nvPr/>
          </p:nvSpPr>
          <p:spPr>
            <a:xfrm>
              <a:off x="2712720" y="3680460"/>
              <a:ext cx="7498080" cy="914400"/>
            </a:xfrm>
            <a:prstGeom prst="rect">
              <a:avLst/>
            </a:prstGeom>
            <a:solidFill>
              <a:srgbClr val="F4F6F7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89474A57-D8C5-2D54-A41C-89645BA58FB3}"/>
                </a:ext>
              </a:extLst>
            </p:cNvPr>
            <p:cNvSpPr/>
            <p:nvPr/>
          </p:nvSpPr>
          <p:spPr>
            <a:xfrm>
              <a:off x="2712720" y="3680460"/>
              <a:ext cx="64008" cy="914400"/>
            </a:xfrm>
            <a:prstGeom prst="rect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8BA99A98-FF4C-8A8B-43CF-245768F22411}"/>
                </a:ext>
              </a:extLst>
            </p:cNvPr>
            <p:cNvSpPr/>
            <p:nvPr/>
          </p:nvSpPr>
          <p:spPr>
            <a:xfrm>
              <a:off x="2895600" y="3735324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8E44A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논문 및 보고서 작성</a:t>
              </a:r>
              <a:endParaRPr lang="en-US" sz="1600" dirty="0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BA90F3E3-286C-9937-AEE2-FA6A7D43DC24}"/>
                </a:ext>
              </a:extLst>
            </p:cNvPr>
            <p:cNvSpPr/>
            <p:nvPr/>
          </p:nvSpPr>
          <p:spPr>
            <a:xfrm>
              <a:off x="2895600" y="4137660"/>
              <a:ext cx="72237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실험 결과 기반 최종 논문 및 결과 보고서 작성</a:t>
              </a:r>
              <a:endParaRPr lang="en-US" sz="1600" dirty="0"/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D7847914-0471-2A1F-141A-D68642584F2B}"/>
                </a:ext>
              </a:extLst>
            </p:cNvPr>
            <p:cNvSpPr/>
            <p:nvPr/>
          </p:nvSpPr>
          <p:spPr>
            <a:xfrm>
              <a:off x="1981200" y="4823460"/>
              <a:ext cx="8229600" cy="548640"/>
            </a:xfrm>
            <a:prstGeom prst="rect">
              <a:avLst/>
            </a:prstGeom>
            <a:solidFill>
              <a:srgbClr val="EAF2FF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73C91082-1BE5-36D8-939D-5772AE1D4194}"/>
                </a:ext>
              </a:extLst>
            </p:cNvPr>
            <p:cNvSpPr/>
            <p:nvPr/>
          </p:nvSpPr>
          <p:spPr>
            <a:xfrm>
              <a:off x="2164080" y="4887468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🏛  투고 예정 학술대회:</a:t>
              </a:r>
              <a:endParaRPr lang="en-US" sz="1600" dirty="0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4E66FC3E-AEF5-D5E7-C8A1-ABFB92452E0B}"/>
                </a:ext>
              </a:extLst>
            </p:cNvPr>
            <p:cNvSpPr/>
            <p:nvPr/>
          </p:nvSpPr>
          <p:spPr>
            <a:xfrm>
              <a:off x="4118497" y="4878324"/>
              <a:ext cx="57607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한국정보기술학회 (2026.06.04~06, 제주)  |  KCC 2026 (2026.06.24~26, 제주)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86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2DE3-935B-4477-1643-90EAA03C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08A3723-2E38-14F2-400C-476CFC3F2115}"/>
              </a:ext>
            </a:extLst>
          </p:cNvPr>
          <p:cNvGrpSpPr>
            <a:grpSpLocks noChangeAspect="1"/>
          </p:cNvGrpSpPr>
          <p:nvPr/>
        </p:nvGrpSpPr>
        <p:grpSpPr>
          <a:xfrm>
            <a:off x="5101200" y="263941"/>
            <a:ext cx="1989599" cy="2636990"/>
            <a:chOff x="5428238" y="179966"/>
            <a:chExt cx="1335524" cy="177008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" name="Freeform 41">
              <a:extLst>
                <a:ext uri="{FF2B5EF4-FFF2-40B4-BE49-F238E27FC236}">
                  <a16:creationId xmlns:a16="http://schemas.microsoft.com/office/drawing/2014/main" id="{8FB579C5-3880-C46D-30D8-AF373077B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667" y="179966"/>
              <a:ext cx="1224666" cy="1204232"/>
            </a:xfrm>
            <a:custGeom>
              <a:avLst/>
              <a:gdLst>
                <a:gd name="T0" fmla="*/ 686 w 1614"/>
                <a:gd name="T1" fmla="*/ 784 h 1587"/>
                <a:gd name="T2" fmla="*/ 686 w 1614"/>
                <a:gd name="T3" fmla="*/ 714 h 1587"/>
                <a:gd name="T4" fmla="*/ 926 w 1614"/>
                <a:gd name="T5" fmla="*/ 714 h 1587"/>
                <a:gd name="T6" fmla="*/ 679 w 1614"/>
                <a:gd name="T7" fmla="*/ 1012 h 1587"/>
                <a:gd name="T8" fmla="*/ 919 w 1614"/>
                <a:gd name="T9" fmla="*/ 986 h 1587"/>
                <a:gd name="T10" fmla="*/ 904 w 1614"/>
                <a:gd name="T11" fmla="*/ 869 h 1587"/>
                <a:gd name="T12" fmla="*/ 708 w 1614"/>
                <a:gd name="T13" fmla="*/ 869 h 1587"/>
                <a:gd name="T14" fmla="*/ 938 w 1614"/>
                <a:gd name="T15" fmla="*/ 544 h 1587"/>
                <a:gd name="T16" fmla="*/ 847 w 1614"/>
                <a:gd name="T17" fmla="*/ 528 h 1587"/>
                <a:gd name="T18" fmla="*/ 711 w 1614"/>
                <a:gd name="T19" fmla="*/ 955 h 1587"/>
                <a:gd name="T20" fmla="*/ 711 w 1614"/>
                <a:gd name="T21" fmla="*/ 914 h 1587"/>
                <a:gd name="T22" fmla="*/ 983 w 1614"/>
                <a:gd name="T23" fmla="*/ 1141 h 1587"/>
                <a:gd name="T24" fmla="*/ 641 w 1614"/>
                <a:gd name="T25" fmla="*/ 1170 h 1587"/>
                <a:gd name="T26" fmla="*/ 1147 w 1614"/>
                <a:gd name="T27" fmla="*/ 806 h 1587"/>
                <a:gd name="T28" fmla="*/ 1106 w 1614"/>
                <a:gd name="T29" fmla="*/ 891 h 1587"/>
                <a:gd name="T30" fmla="*/ 1128 w 1614"/>
                <a:gd name="T31" fmla="*/ 626 h 1587"/>
                <a:gd name="T32" fmla="*/ 1043 w 1614"/>
                <a:gd name="T33" fmla="*/ 667 h 1587"/>
                <a:gd name="T34" fmla="*/ 1611 w 1614"/>
                <a:gd name="T35" fmla="*/ 585 h 1587"/>
                <a:gd name="T36" fmla="*/ 1283 w 1614"/>
                <a:gd name="T37" fmla="*/ 389 h 1587"/>
                <a:gd name="T38" fmla="*/ 831 w 1614"/>
                <a:gd name="T39" fmla="*/ 13 h 1587"/>
                <a:gd name="T40" fmla="*/ 803 w 1614"/>
                <a:gd name="T41" fmla="*/ 0 h 1587"/>
                <a:gd name="T42" fmla="*/ 784 w 1614"/>
                <a:gd name="T43" fmla="*/ 10 h 1587"/>
                <a:gd name="T44" fmla="*/ 464 w 1614"/>
                <a:gd name="T45" fmla="*/ 376 h 1587"/>
                <a:gd name="T46" fmla="*/ 3 w 1614"/>
                <a:gd name="T47" fmla="*/ 582 h 1587"/>
                <a:gd name="T48" fmla="*/ 6 w 1614"/>
                <a:gd name="T49" fmla="*/ 613 h 1587"/>
                <a:gd name="T50" fmla="*/ 227 w 1614"/>
                <a:gd name="T51" fmla="*/ 1157 h 1587"/>
                <a:gd name="T52" fmla="*/ 303 w 1614"/>
                <a:gd name="T53" fmla="*/ 1527 h 1587"/>
                <a:gd name="T54" fmla="*/ 809 w 1614"/>
                <a:gd name="T55" fmla="*/ 1429 h 1587"/>
                <a:gd name="T56" fmla="*/ 1286 w 1614"/>
                <a:gd name="T57" fmla="*/ 1536 h 1587"/>
                <a:gd name="T58" fmla="*/ 1308 w 1614"/>
                <a:gd name="T59" fmla="*/ 1527 h 1587"/>
                <a:gd name="T60" fmla="*/ 1317 w 1614"/>
                <a:gd name="T61" fmla="*/ 1508 h 1587"/>
                <a:gd name="T62" fmla="*/ 1460 w 1614"/>
                <a:gd name="T63" fmla="*/ 936 h 1587"/>
                <a:gd name="T64" fmla="*/ 1614 w 1614"/>
                <a:gd name="T65" fmla="*/ 594 h 1587"/>
                <a:gd name="T66" fmla="*/ 720 w 1614"/>
                <a:gd name="T67" fmla="*/ 120 h 1587"/>
                <a:gd name="T68" fmla="*/ 1039 w 1614"/>
                <a:gd name="T69" fmla="*/ 294 h 1587"/>
                <a:gd name="T70" fmla="*/ 209 w 1614"/>
                <a:gd name="T71" fmla="*/ 901 h 1587"/>
                <a:gd name="T72" fmla="*/ 142 w 1614"/>
                <a:gd name="T73" fmla="*/ 541 h 1587"/>
                <a:gd name="T74" fmla="*/ 294 w 1614"/>
                <a:gd name="T75" fmla="*/ 847 h 1587"/>
                <a:gd name="T76" fmla="*/ 515 w 1614"/>
                <a:gd name="T77" fmla="*/ 1508 h 1587"/>
                <a:gd name="T78" fmla="*/ 284 w 1614"/>
                <a:gd name="T79" fmla="*/ 1186 h 1587"/>
                <a:gd name="T80" fmla="*/ 806 w 1614"/>
                <a:gd name="T81" fmla="*/ 1299 h 1587"/>
                <a:gd name="T82" fmla="*/ 1346 w 1614"/>
                <a:gd name="T83" fmla="*/ 1328 h 1587"/>
                <a:gd name="T84" fmla="*/ 967 w 1614"/>
                <a:gd name="T85" fmla="*/ 1448 h 1587"/>
                <a:gd name="T86" fmla="*/ 1330 w 1614"/>
                <a:gd name="T87" fmla="*/ 1186 h 1587"/>
                <a:gd name="T88" fmla="*/ 1406 w 1614"/>
                <a:gd name="T89" fmla="*/ 898 h 1587"/>
                <a:gd name="T90" fmla="*/ 1289 w 1614"/>
                <a:gd name="T91" fmla="*/ 455 h 1587"/>
                <a:gd name="T92" fmla="*/ 986 w 1614"/>
                <a:gd name="T93" fmla="*/ 1201 h 1587"/>
                <a:gd name="T94" fmla="*/ 986 w 1614"/>
                <a:gd name="T95" fmla="*/ 1239 h 1587"/>
                <a:gd name="T96" fmla="*/ 951 w 1614"/>
                <a:gd name="T97" fmla="*/ 1097 h 1587"/>
                <a:gd name="T98" fmla="*/ 651 w 1614"/>
                <a:gd name="T99" fmla="*/ 1072 h 1587"/>
                <a:gd name="T100" fmla="*/ 739 w 1614"/>
                <a:gd name="T101" fmla="*/ 594 h 1587"/>
                <a:gd name="T102" fmla="*/ 695 w 1614"/>
                <a:gd name="T103" fmla="*/ 512 h 1587"/>
                <a:gd name="T104" fmla="*/ 553 w 1614"/>
                <a:gd name="T105" fmla="*/ 591 h 1587"/>
                <a:gd name="T106" fmla="*/ 540 w 1614"/>
                <a:gd name="T107" fmla="*/ 686 h 1587"/>
                <a:gd name="T108" fmla="*/ 506 w 1614"/>
                <a:gd name="T109" fmla="*/ 812 h 1587"/>
                <a:gd name="T110" fmla="*/ 439 w 1614"/>
                <a:gd name="T111" fmla="*/ 879 h 1587"/>
                <a:gd name="T112" fmla="*/ 506 w 1614"/>
                <a:gd name="T113" fmla="*/ 812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14" h="1587">
                  <a:moveTo>
                    <a:pt x="926" y="800"/>
                  </a:moveTo>
                  <a:lnTo>
                    <a:pt x="926" y="784"/>
                  </a:lnTo>
                  <a:cubicBezTo>
                    <a:pt x="926" y="778"/>
                    <a:pt x="923" y="771"/>
                    <a:pt x="913" y="771"/>
                  </a:cubicBezTo>
                  <a:lnTo>
                    <a:pt x="698" y="771"/>
                  </a:lnTo>
                  <a:cubicBezTo>
                    <a:pt x="692" y="771"/>
                    <a:pt x="686" y="778"/>
                    <a:pt x="686" y="784"/>
                  </a:cubicBezTo>
                  <a:lnTo>
                    <a:pt x="686" y="800"/>
                  </a:lnTo>
                  <a:cubicBezTo>
                    <a:pt x="686" y="806"/>
                    <a:pt x="692" y="812"/>
                    <a:pt x="698" y="812"/>
                  </a:cubicBezTo>
                  <a:lnTo>
                    <a:pt x="913" y="812"/>
                  </a:lnTo>
                  <a:cubicBezTo>
                    <a:pt x="923" y="812"/>
                    <a:pt x="926" y="806"/>
                    <a:pt x="926" y="800"/>
                  </a:cubicBezTo>
                  <a:close/>
                  <a:moveTo>
                    <a:pt x="686" y="714"/>
                  </a:moveTo>
                  <a:lnTo>
                    <a:pt x="686" y="727"/>
                  </a:lnTo>
                  <a:cubicBezTo>
                    <a:pt x="686" y="733"/>
                    <a:pt x="692" y="740"/>
                    <a:pt x="698" y="740"/>
                  </a:cubicBezTo>
                  <a:lnTo>
                    <a:pt x="913" y="740"/>
                  </a:lnTo>
                  <a:cubicBezTo>
                    <a:pt x="923" y="740"/>
                    <a:pt x="926" y="733"/>
                    <a:pt x="926" y="727"/>
                  </a:cubicBezTo>
                  <a:lnTo>
                    <a:pt x="926" y="714"/>
                  </a:lnTo>
                  <a:cubicBezTo>
                    <a:pt x="926" y="705"/>
                    <a:pt x="923" y="699"/>
                    <a:pt x="913" y="699"/>
                  </a:cubicBezTo>
                  <a:lnTo>
                    <a:pt x="698" y="699"/>
                  </a:lnTo>
                  <a:cubicBezTo>
                    <a:pt x="692" y="699"/>
                    <a:pt x="686" y="705"/>
                    <a:pt x="686" y="714"/>
                  </a:cubicBezTo>
                  <a:close/>
                  <a:moveTo>
                    <a:pt x="679" y="999"/>
                  </a:moveTo>
                  <a:lnTo>
                    <a:pt x="679" y="1012"/>
                  </a:lnTo>
                  <a:cubicBezTo>
                    <a:pt x="679" y="1021"/>
                    <a:pt x="686" y="1024"/>
                    <a:pt x="692" y="1024"/>
                  </a:cubicBezTo>
                  <a:lnTo>
                    <a:pt x="919" y="1024"/>
                  </a:lnTo>
                  <a:cubicBezTo>
                    <a:pt x="926" y="1024"/>
                    <a:pt x="932" y="1021"/>
                    <a:pt x="932" y="1012"/>
                  </a:cubicBezTo>
                  <a:lnTo>
                    <a:pt x="932" y="999"/>
                  </a:lnTo>
                  <a:cubicBezTo>
                    <a:pt x="932" y="993"/>
                    <a:pt x="926" y="986"/>
                    <a:pt x="919" y="986"/>
                  </a:cubicBezTo>
                  <a:lnTo>
                    <a:pt x="692" y="986"/>
                  </a:lnTo>
                  <a:cubicBezTo>
                    <a:pt x="686" y="986"/>
                    <a:pt x="679" y="993"/>
                    <a:pt x="679" y="999"/>
                  </a:cubicBezTo>
                  <a:close/>
                  <a:moveTo>
                    <a:pt x="720" y="882"/>
                  </a:moveTo>
                  <a:lnTo>
                    <a:pt x="891" y="882"/>
                  </a:lnTo>
                  <a:cubicBezTo>
                    <a:pt x="897" y="882"/>
                    <a:pt x="904" y="876"/>
                    <a:pt x="904" y="869"/>
                  </a:cubicBezTo>
                  <a:lnTo>
                    <a:pt x="904" y="857"/>
                  </a:lnTo>
                  <a:cubicBezTo>
                    <a:pt x="904" y="850"/>
                    <a:pt x="897" y="844"/>
                    <a:pt x="891" y="844"/>
                  </a:cubicBezTo>
                  <a:lnTo>
                    <a:pt x="720" y="844"/>
                  </a:lnTo>
                  <a:cubicBezTo>
                    <a:pt x="714" y="844"/>
                    <a:pt x="708" y="850"/>
                    <a:pt x="708" y="857"/>
                  </a:cubicBezTo>
                  <a:lnTo>
                    <a:pt x="708" y="869"/>
                  </a:lnTo>
                  <a:cubicBezTo>
                    <a:pt x="708" y="876"/>
                    <a:pt x="714" y="882"/>
                    <a:pt x="720" y="882"/>
                  </a:cubicBezTo>
                  <a:close/>
                  <a:moveTo>
                    <a:pt x="878" y="594"/>
                  </a:moveTo>
                  <a:lnTo>
                    <a:pt x="910" y="569"/>
                  </a:lnTo>
                  <a:lnTo>
                    <a:pt x="951" y="582"/>
                  </a:lnTo>
                  <a:lnTo>
                    <a:pt x="938" y="544"/>
                  </a:lnTo>
                  <a:lnTo>
                    <a:pt x="964" y="512"/>
                  </a:lnTo>
                  <a:lnTo>
                    <a:pt x="923" y="512"/>
                  </a:lnTo>
                  <a:lnTo>
                    <a:pt x="897" y="477"/>
                  </a:lnTo>
                  <a:lnTo>
                    <a:pt x="885" y="515"/>
                  </a:lnTo>
                  <a:lnTo>
                    <a:pt x="847" y="528"/>
                  </a:lnTo>
                  <a:lnTo>
                    <a:pt x="878" y="553"/>
                  </a:lnTo>
                  <a:lnTo>
                    <a:pt x="878" y="594"/>
                  </a:lnTo>
                  <a:close/>
                  <a:moveTo>
                    <a:pt x="698" y="926"/>
                  </a:moveTo>
                  <a:lnTo>
                    <a:pt x="698" y="942"/>
                  </a:lnTo>
                  <a:cubicBezTo>
                    <a:pt x="698" y="948"/>
                    <a:pt x="701" y="955"/>
                    <a:pt x="711" y="955"/>
                  </a:cubicBezTo>
                  <a:lnTo>
                    <a:pt x="904" y="955"/>
                  </a:lnTo>
                  <a:cubicBezTo>
                    <a:pt x="910" y="955"/>
                    <a:pt x="916" y="948"/>
                    <a:pt x="916" y="942"/>
                  </a:cubicBezTo>
                  <a:lnTo>
                    <a:pt x="916" y="926"/>
                  </a:lnTo>
                  <a:cubicBezTo>
                    <a:pt x="916" y="920"/>
                    <a:pt x="910" y="914"/>
                    <a:pt x="904" y="914"/>
                  </a:cubicBezTo>
                  <a:lnTo>
                    <a:pt x="711" y="914"/>
                  </a:lnTo>
                  <a:cubicBezTo>
                    <a:pt x="701" y="914"/>
                    <a:pt x="698" y="920"/>
                    <a:pt x="698" y="926"/>
                  </a:cubicBezTo>
                  <a:close/>
                  <a:moveTo>
                    <a:pt x="641" y="1170"/>
                  </a:moveTo>
                  <a:lnTo>
                    <a:pt x="970" y="1170"/>
                  </a:lnTo>
                  <a:cubicBezTo>
                    <a:pt x="979" y="1170"/>
                    <a:pt x="983" y="1163"/>
                    <a:pt x="983" y="1157"/>
                  </a:cubicBezTo>
                  <a:lnTo>
                    <a:pt x="983" y="1141"/>
                  </a:lnTo>
                  <a:cubicBezTo>
                    <a:pt x="983" y="1135"/>
                    <a:pt x="979" y="1129"/>
                    <a:pt x="970" y="1129"/>
                  </a:cubicBezTo>
                  <a:lnTo>
                    <a:pt x="641" y="1129"/>
                  </a:lnTo>
                  <a:cubicBezTo>
                    <a:pt x="635" y="1129"/>
                    <a:pt x="629" y="1135"/>
                    <a:pt x="629" y="1141"/>
                  </a:cubicBezTo>
                  <a:lnTo>
                    <a:pt x="629" y="1157"/>
                  </a:lnTo>
                  <a:cubicBezTo>
                    <a:pt x="629" y="1163"/>
                    <a:pt x="635" y="1170"/>
                    <a:pt x="641" y="1170"/>
                  </a:cubicBezTo>
                  <a:close/>
                  <a:moveTo>
                    <a:pt x="1137" y="866"/>
                  </a:moveTo>
                  <a:lnTo>
                    <a:pt x="1178" y="879"/>
                  </a:lnTo>
                  <a:lnTo>
                    <a:pt x="1163" y="841"/>
                  </a:lnTo>
                  <a:lnTo>
                    <a:pt x="1188" y="806"/>
                  </a:lnTo>
                  <a:lnTo>
                    <a:pt x="1147" y="806"/>
                  </a:lnTo>
                  <a:lnTo>
                    <a:pt x="1125" y="774"/>
                  </a:lnTo>
                  <a:lnTo>
                    <a:pt x="1112" y="812"/>
                  </a:lnTo>
                  <a:lnTo>
                    <a:pt x="1071" y="825"/>
                  </a:lnTo>
                  <a:lnTo>
                    <a:pt x="1106" y="850"/>
                  </a:lnTo>
                  <a:lnTo>
                    <a:pt x="1106" y="891"/>
                  </a:lnTo>
                  <a:lnTo>
                    <a:pt x="1137" y="866"/>
                  </a:lnTo>
                  <a:close/>
                  <a:moveTo>
                    <a:pt x="1077" y="686"/>
                  </a:moveTo>
                  <a:lnTo>
                    <a:pt x="1115" y="699"/>
                  </a:lnTo>
                  <a:lnTo>
                    <a:pt x="1103" y="661"/>
                  </a:lnTo>
                  <a:lnTo>
                    <a:pt x="1128" y="626"/>
                  </a:lnTo>
                  <a:lnTo>
                    <a:pt x="1087" y="626"/>
                  </a:lnTo>
                  <a:lnTo>
                    <a:pt x="1062" y="591"/>
                  </a:lnTo>
                  <a:lnTo>
                    <a:pt x="1049" y="632"/>
                  </a:lnTo>
                  <a:lnTo>
                    <a:pt x="1011" y="645"/>
                  </a:lnTo>
                  <a:lnTo>
                    <a:pt x="1043" y="667"/>
                  </a:lnTo>
                  <a:lnTo>
                    <a:pt x="1043" y="708"/>
                  </a:lnTo>
                  <a:lnTo>
                    <a:pt x="1077" y="686"/>
                  </a:lnTo>
                  <a:close/>
                  <a:moveTo>
                    <a:pt x="1614" y="591"/>
                  </a:moveTo>
                  <a:lnTo>
                    <a:pt x="1611" y="588"/>
                  </a:lnTo>
                  <a:lnTo>
                    <a:pt x="1611" y="585"/>
                  </a:lnTo>
                  <a:cubicBezTo>
                    <a:pt x="1611" y="579"/>
                    <a:pt x="1605" y="572"/>
                    <a:pt x="1599" y="569"/>
                  </a:cubicBezTo>
                  <a:lnTo>
                    <a:pt x="1592" y="566"/>
                  </a:lnTo>
                  <a:cubicBezTo>
                    <a:pt x="1545" y="547"/>
                    <a:pt x="1539" y="534"/>
                    <a:pt x="1529" y="512"/>
                  </a:cubicBezTo>
                  <a:cubicBezTo>
                    <a:pt x="1520" y="493"/>
                    <a:pt x="1507" y="468"/>
                    <a:pt x="1475" y="436"/>
                  </a:cubicBezTo>
                  <a:cubicBezTo>
                    <a:pt x="1403" y="364"/>
                    <a:pt x="1317" y="379"/>
                    <a:pt x="1283" y="389"/>
                  </a:cubicBezTo>
                  <a:cubicBezTo>
                    <a:pt x="1232" y="364"/>
                    <a:pt x="1185" y="364"/>
                    <a:pt x="1150" y="373"/>
                  </a:cubicBezTo>
                  <a:cubicBezTo>
                    <a:pt x="1150" y="335"/>
                    <a:pt x="1134" y="294"/>
                    <a:pt x="1093" y="256"/>
                  </a:cubicBezTo>
                  <a:cubicBezTo>
                    <a:pt x="1093" y="218"/>
                    <a:pt x="1081" y="130"/>
                    <a:pt x="989" y="85"/>
                  </a:cubicBezTo>
                  <a:cubicBezTo>
                    <a:pt x="948" y="63"/>
                    <a:pt x="923" y="60"/>
                    <a:pt x="900" y="57"/>
                  </a:cubicBezTo>
                  <a:cubicBezTo>
                    <a:pt x="875" y="54"/>
                    <a:pt x="863" y="51"/>
                    <a:pt x="831" y="13"/>
                  </a:cubicBezTo>
                  <a:lnTo>
                    <a:pt x="825" y="6"/>
                  </a:lnTo>
                  <a:cubicBezTo>
                    <a:pt x="821" y="3"/>
                    <a:pt x="815" y="0"/>
                    <a:pt x="812" y="0"/>
                  </a:cubicBezTo>
                  <a:lnTo>
                    <a:pt x="809" y="0"/>
                  </a:lnTo>
                  <a:lnTo>
                    <a:pt x="806" y="0"/>
                  </a:lnTo>
                  <a:lnTo>
                    <a:pt x="803" y="0"/>
                  </a:lnTo>
                  <a:lnTo>
                    <a:pt x="799" y="0"/>
                  </a:lnTo>
                  <a:lnTo>
                    <a:pt x="796" y="0"/>
                  </a:lnTo>
                  <a:lnTo>
                    <a:pt x="793" y="3"/>
                  </a:lnTo>
                  <a:lnTo>
                    <a:pt x="787" y="6"/>
                  </a:lnTo>
                  <a:lnTo>
                    <a:pt x="784" y="10"/>
                  </a:lnTo>
                  <a:lnTo>
                    <a:pt x="780" y="13"/>
                  </a:lnTo>
                  <a:cubicBezTo>
                    <a:pt x="749" y="51"/>
                    <a:pt x="736" y="54"/>
                    <a:pt x="711" y="57"/>
                  </a:cubicBezTo>
                  <a:cubicBezTo>
                    <a:pt x="689" y="60"/>
                    <a:pt x="663" y="63"/>
                    <a:pt x="622" y="85"/>
                  </a:cubicBezTo>
                  <a:cubicBezTo>
                    <a:pt x="534" y="130"/>
                    <a:pt x="521" y="218"/>
                    <a:pt x="518" y="256"/>
                  </a:cubicBezTo>
                  <a:cubicBezTo>
                    <a:pt x="477" y="294"/>
                    <a:pt x="464" y="335"/>
                    <a:pt x="464" y="376"/>
                  </a:cubicBezTo>
                  <a:cubicBezTo>
                    <a:pt x="427" y="364"/>
                    <a:pt x="382" y="364"/>
                    <a:pt x="332" y="392"/>
                  </a:cubicBezTo>
                  <a:cubicBezTo>
                    <a:pt x="297" y="379"/>
                    <a:pt x="212" y="367"/>
                    <a:pt x="139" y="439"/>
                  </a:cubicBezTo>
                  <a:cubicBezTo>
                    <a:pt x="107" y="468"/>
                    <a:pt x="95" y="493"/>
                    <a:pt x="85" y="512"/>
                  </a:cubicBezTo>
                  <a:cubicBezTo>
                    <a:pt x="73" y="534"/>
                    <a:pt x="70" y="547"/>
                    <a:pt x="22" y="566"/>
                  </a:cubicBezTo>
                  <a:cubicBezTo>
                    <a:pt x="13" y="569"/>
                    <a:pt x="6" y="575"/>
                    <a:pt x="3" y="582"/>
                  </a:cubicBezTo>
                  <a:lnTo>
                    <a:pt x="3" y="585"/>
                  </a:lnTo>
                  <a:lnTo>
                    <a:pt x="0" y="588"/>
                  </a:lnTo>
                  <a:lnTo>
                    <a:pt x="0" y="591"/>
                  </a:lnTo>
                  <a:lnTo>
                    <a:pt x="0" y="594"/>
                  </a:lnTo>
                  <a:cubicBezTo>
                    <a:pt x="0" y="601"/>
                    <a:pt x="3" y="607"/>
                    <a:pt x="6" y="613"/>
                  </a:cubicBezTo>
                  <a:cubicBezTo>
                    <a:pt x="35" y="654"/>
                    <a:pt x="32" y="667"/>
                    <a:pt x="25" y="692"/>
                  </a:cubicBezTo>
                  <a:cubicBezTo>
                    <a:pt x="22" y="714"/>
                    <a:pt x="19" y="743"/>
                    <a:pt x="25" y="784"/>
                  </a:cubicBezTo>
                  <a:cubicBezTo>
                    <a:pt x="41" y="885"/>
                    <a:pt x="120" y="923"/>
                    <a:pt x="155" y="936"/>
                  </a:cubicBezTo>
                  <a:cubicBezTo>
                    <a:pt x="180" y="989"/>
                    <a:pt x="215" y="1015"/>
                    <a:pt x="253" y="1027"/>
                  </a:cubicBezTo>
                  <a:cubicBezTo>
                    <a:pt x="231" y="1059"/>
                    <a:pt x="215" y="1100"/>
                    <a:pt x="227" y="1157"/>
                  </a:cubicBezTo>
                  <a:cubicBezTo>
                    <a:pt x="205" y="1189"/>
                    <a:pt x="164" y="1265"/>
                    <a:pt x="212" y="1356"/>
                  </a:cubicBezTo>
                  <a:cubicBezTo>
                    <a:pt x="231" y="1397"/>
                    <a:pt x="250" y="1416"/>
                    <a:pt x="265" y="1429"/>
                  </a:cubicBezTo>
                  <a:cubicBezTo>
                    <a:pt x="284" y="1448"/>
                    <a:pt x="294" y="1457"/>
                    <a:pt x="297" y="1508"/>
                  </a:cubicBezTo>
                  <a:cubicBezTo>
                    <a:pt x="297" y="1511"/>
                    <a:pt x="297" y="1517"/>
                    <a:pt x="300" y="1521"/>
                  </a:cubicBezTo>
                  <a:lnTo>
                    <a:pt x="303" y="1527"/>
                  </a:lnTo>
                  <a:cubicBezTo>
                    <a:pt x="310" y="1536"/>
                    <a:pt x="322" y="1540"/>
                    <a:pt x="335" y="1536"/>
                  </a:cubicBezTo>
                  <a:cubicBezTo>
                    <a:pt x="385" y="1524"/>
                    <a:pt x="398" y="1530"/>
                    <a:pt x="420" y="1543"/>
                  </a:cubicBezTo>
                  <a:cubicBezTo>
                    <a:pt x="439" y="1552"/>
                    <a:pt x="461" y="1565"/>
                    <a:pt x="506" y="1571"/>
                  </a:cubicBezTo>
                  <a:cubicBezTo>
                    <a:pt x="607" y="1587"/>
                    <a:pt x="667" y="1524"/>
                    <a:pt x="692" y="1495"/>
                  </a:cubicBezTo>
                  <a:cubicBezTo>
                    <a:pt x="749" y="1489"/>
                    <a:pt x="784" y="1461"/>
                    <a:pt x="809" y="1429"/>
                  </a:cubicBezTo>
                  <a:cubicBezTo>
                    <a:pt x="831" y="1461"/>
                    <a:pt x="866" y="1486"/>
                    <a:pt x="923" y="1492"/>
                  </a:cubicBezTo>
                  <a:cubicBezTo>
                    <a:pt x="945" y="1521"/>
                    <a:pt x="1008" y="1587"/>
                    <a:pt x="1109" y="1571"/>
                  </a:cubicBezTo>
                  <a:cubicBezTo>
                    <a:pt x="1150" y="1562"/>
                    <a:pt x="1175" y="1549"/>
                    <a:pt x="1194" y="1540"/>
                  </a:cubicBezTo>
                  <a:cubicBezTo>
                    <a:pt x="1216" y="1527"/>
                    <a:pt x="1229" y="1521"/>
                    <a:pt x="1276" y="1536"/>
                  </a:cubicBezTo>
                  <a:lnTo>
                    <a:pt x="1286" y="1536"/>
                  </a:lnTo>
                  <a:lnTo>
                    <a:pt x="1295" y="1536"/>
                  </a:lnTo>
                  <a:lnTo>
                    <a:pt x="1302" y="1533"/>
                  </a:lnTo>
                  <a:lnTo>
                    <a:pt x="1305" y="1530"/>
                  </a:lnTo>
                  <a:lnTo>
                    <a:pt x="1308" y="1530"/>
                  </a:lnTo>
                  <a:lnTo>
                    <a:pt x="1308" y="1527"/>
                  </a:lnTo>
                  <a:lnTo>
                    <a:pt x="1311" y="1524"/>
                  </a:lnTo>
                  <a:lnTo>
                    <a:pt x="1311" y="1521"/>
                  </a:lnTo>
                  <a:lnTo>
                    <a:pt x="1314" y="1521"/>
                  </a:lnTo>
                  <a:lnTo>
                    <a:pt x="1317" y="1514"/>
                  </a:lnTo>
                  <a:lnTo>
                    <a:pt x="1317" y="1508"/>
                  </a:lnTo>
                  <a:cubicBezTo>
                    <a:pt x="1321" y="1454"/>
                    <a:pt x="1330" y="1448"/>
                    <a:pt x="1349" y="1429"/>
                  </a:cubicBezTo>
                  <a:cubicBezTo>
                    <a:pt x="1362" y="1413"/>
                    <a:pt x="1384" y="1394"/>
                    <a:pt x="1403" y="1356"/>
                  </a:cubicBezTo>
                  <a:cubicBezTo>
                    <a:pt x="1450" y="1265"/>
                    <a:pt x="1409" y="1186"/>
                    <a:pt x="1387" y="1157"/>
                  </a:cubicBezTo>
                  <a:cubicBezTo>
                    <a:pt x="1400" y="1100"/>
                    <a:pt x="1384" y="1056"/>
                    <a:pt x="1362" y="1027"/>
                  </a:cubicBezTo>
                  <a:cubicBezTo>
                    <a:pt x="1400" y="1015"/>
                    <a:pt x="1434" y="986"/>
                    <a:pt x="1460" y="936"/>
                  </a:cubicBezTo>
                  <a:cubicBezTo>
                    <a:pt x="1494" y="923"/>
                    <a:pt x="1573" y="885"/>
                    <a:pt x="1589" y="784"/>
                  </a:cubicBezTo>
                  <a:cubicBezTo>
                    <a:pt x="1596" y="740"/>
                    <a:pt x="1589" y="714"/>
                    <a:pt x="1586" y="692"/>
                  </a:cubicBezTo>
                  <a:cubicBezTo>
                    <a:pt x="1583" y="667"/>
                    <a:pt x="1580" y="654"/>
                    <a:pt x="1608" y="613"/>
                  </a:cubicBezTo>
                  <a:lnTo>
                    <a:pt x="1611" y="607"/>
                  </a:lnTo>
                  <a:cubicBezTo>
                    <a:pt x="1611" y="601"/>
                    <a:pt x="1614" y="598"/>
                    <a:pt x="1614" y="594"/>
                  </a:cubicBezTo>
                  <a:lnTo>
                    <a:pt x="1614" y="591"/>
                  </a:lnTo>
                  <a:close/>
                  <a:moveTo>
                    <a:pt x="572" y="294"/>
                  </a:moveTo>
                  <a:cubicBezTo>
                    <a:pt x="581" y="288"/>
                    <a:pt x="585" y="278"/>
                    <a:pt x="585" y="266"/>
                  </a:cubicBezTo>
                  <a:cubicBezTo>
                    <a:pt x="585" y="262"/>
                    <a:pt x="575" y="180"/>
                    <a:pt x="654" y="142"/>
                  </a:cubicBezTo>
                  <a:cubicBezTo>
                    <a:pt x="682" y="126"/>
                    <a:pt x="701" y="123"/>
                    <a:pt x="720" y="120"/>
                  </a:cubicBezTo>
                  <a:cubicBezTo>
                    <a:pt x="752" y="117"/>
                    <a:pt x="774" y="111"/>
                    <a:pt x="806" y="79"/>
                  </a:cubicBezTo>
                  <a:cubicBezTo>
                    <a:pt x="837" y="111"/>
                    <a:pt x="863" y="117"/>
                    <a:pt x="894" y="120"/>
                  </a:cubicBezTo>
                  <a:cubicBezTo>
                    <a:pt x="910" y="123"/>
                    <a:pt x="929" y="126"/>
                    <a:pt x="960" y="142"/>
                  </a:cubicBezTo>
                  <a:cubicBezTo>
                    <a:pt x="1036" y="180"/>
                    <a:pt x="1030" y="262"/>
                    <a:pt x="1030" y="266"/>
                  </a:cubicBezTo>
                  <a:cubicBezTo>
                    <a:pt x="1027" y="278"/>
                    <a:pt x="1033" y="288"/>
                    <a:pt x="1039" y="294"/>
                  </a:cubicBezTo>
                  <a:cubicBezTo>
                    <a:pt x="1099" y="341"/>
                    <a:pt x="1087" y="392"/>
                    <a:pt x="1077" y="417"/>
                  </a:cubicBezTo>
                  <a:cubicBezTo>
                    <a:pt x="998" y="367"/>
                    <a:pt x="904" y="338"/>
                    <a:pt x="806" y="338"/>
                  </a:cubicBezTo>
                  <a:cubicBezTo>
                    <a:pt x="705" y="338"/>
                    <a:pt x="613" y="367"/>
                    <a:pt x="534" y="417"/>
                  </a:cubicBezTo>
                  <a:cubicBezTo>
                    <a:pt x="524" y="389"/>
                    <a:pt x="515" y="338"/>
                    <a:pt x="572" y="294"/>
                  </a:cubicBezTo>
                  <a:close/>
                  <a:moveTo>
                    <a:pt x="209" y="901"/>
                  </a:moveTo>
                  <a:cubicBezTo>
                    <a:pt x="205" y="888"/>
                    <a:pt x="196" y="882"/>
                    <a:pt x="186" y="879"/>
                  </a:cubicBezTo>
                  <a:cubicBezTo>
                    <a:pt x="183" y="879"/>
                    <a:pt x="101" y="860"/>
                    <a:pt x="88" y="774"/>
                  </a:cubicBezTo>
                  <a:cubicBezTo>
                    <a:pt x="82" y="743"/>
                    <a:pt x="85" y="724"/>
                    <a:pt x="88" y="705"/>
                  </a:cubicBezTo>
                  <a:cubicBezTo>
                    <a:pt x="95" y="673"/>
                    <a:pt x="95" y="648"/>
                    <a:pt x="76" y="610"/>
                  </a:cubicBezTo>
                  <a:cubicBezTo>
                    <a:pt x="117" y="588"/>
                    <a:pt x="130" y="569"/>
                    <a:pt x="142" y="541"/>
                  </a:cubicBezTo>
                  <a:cubicBezTo>
                    <a:pt x="152" y="525"/>
                    <a:pt x="158" y="506"/>
                    <a:pt x="183" y="484"/>
                  </a:cubicBezTo>
                  <a:cubicBezTo>
                    <a:pt x="243" y="424"/>
                    <a:pt x="319" y="455"/>
                    <a:pt x="322" y="455"/>
                  </a:cubicBezTo>
                  <a:cubicBezTo>
                    <a:pt x="335" y="458"/>
                    <a:pt x="344" y="458"/>
                    <a:pt x="354" y="452"/>
                  </a:cubicBezTo>
                  <a:cubicBezTo>
                    <a:pt x="414" y="414"/>
                    <a:pt x="458" y="436"/>
                    <a:pt x="480" y="455"/>
                  </a:cubicBezTo>
                  <a:cubicBezTo>
                    <a:pt x="367" y="550"/>
                    <a:pt x="294" y="689"/>
                    <a:pt x="294" y="847"/>
                  </a:cubicBezTo>
                  <a:cubicBezTo>
                    <a:pt x="294" y="891"/>
                    <a:pt x="300" y="933"/>
                    <a:pt x="310" y="971"/>
                  </a:cubicBezTo>
                  <a:cubicBezTo>
                    <a:pt x="281" y="974"/>
                    <a:pt x="234" y="964"/>
                    <a:pt x="209" y="901"/>
                  </a:cubicBezTo>
                  <a:close/>
                  <a:moveTo>
                    <a:pt x="673" y="1432"/>
                  </a:moveTo>
                  <a:cubicBezTo>
                    <a:pt x="660" y="1432"/>
                    <a:pt x="651" y="1438"/>
                    <a:pt x="645" y="1448"/>
                  </a:cubicBezTo>
                  <a:cubicBezTo>
                    <a:pt x="645" y="1451"/>
                    <a:pt x="600" y="1521"/>
                    <a:pt x="515" y="1508"/>
                  </a:cubicBezTo>
                  <a:cubicBezTo>
                    <a:pt x="483" y="1505"/>
                    <a:pt x="464" y="1495"/>
                    <a:pt x="449" y="1486"/>
                  </a:cubicBezTo>
                  <a:cubicBezTo>
                    <a:pt x="420" y="1470"/>
                    <a:pt x="398" y="1461"/>
                    <a:pt x="354" y="1467"/>
                  </a:cubicBezTo>
                  <a:cubicBezTo>
                    <a:pt x="348" y="1426"/>
                    <a:pt x="332" y="1407"/>
                    <a:pt x="310" y="1385"/>
                  </a:cubicBezTo>
                  <a:cubicBezTo>
                    <a:pt x="297" y="1372"/>
                    <a:pt x="281" y="1356"/>
                    <a:pt x="269" y="1328"/>
                  </a:cubicBezTo>
                  <a:cubicBezTo>
                    <a:pt x="227" y="1252"/>
                    <a:pt x="281" y="1189"/>
                    <a:pt x="284" y="1186"/>
                  </a:cubicBezTo>
                  <a:cubicBezTo>
                    <a:pt x="291" y="1176"/>
                    <a:pt x="294" y="1167"/>
                    <a:pt x="291" y="1157"/>
                  </a:cubicBezTo>
                  <a:cubicBezTo>
                    <a:pt x="272" y="1087"/>
                    <a:pt x="306" y="1053"/>
                    <a:pt x="332" y="1037"/>
                  </a:cubicBezTo>
                  <a:cubicBezTo>
                    <a:pt x="404" y="1217"/>
                    <a:pt x="572" y="1344"/>
                    <a:pt x="771" y="1356"/>
                  </a:cubicBezTo>
                  <a:cubicBezTo>
                    <a:pt x="765" y="1385"/>
                    <a:pt x="742" y="1429"/>
                    <a:pt x="673" y="1432"/>
                  </a:cubicBezTo>
                  <a:close/>
                  <a:moveTo>
                    <a:pt x="806" y="1299"/>
                  </a:moveTo>
                  <a:cubicBezTo>
                    <a:pt x="556" y="1299"/>
                    <a:pt x="354" y="1097"/>
                    <a:pt x="354" y="847"/>
                  </a:cubicBezTo>
                  <a:cubicBezTo>
                    <a:pt x="354" y="598"/>
                    <a:pt x="556" y="395"/>
                    <a:pt x="806" y="395"/>
                  </a:cubicBezTo>
                  <a:cubicBezTo>
                    <a:pt x="1055" y="395"/>
                    <a:pt x="1257" y="598"/>
                    <a:pt x="1257" y="847"/>
                  </a:cubicBezTo>
                  <a:cubicBezTo>
                    <a:pt x="1257" y="1097"/>
                    <a:pt x="1055" y="1299"/>
                    <a:pt x="806" y="1299"/>
                  </a:cubicBezTo>
                  <a:close/>
                  <a:moveTo>
                    <a:pt x="1346" y="1328"/>
                  </a:moveTo>
                  <a:cubicBezTo>
                    <a:pt x="1330" y="1356"/>
                    <a:pt x="1317" y="1369"/>
                    <a:pt x="1305" y="1381"/>
                  </a:cubicBezTo>
                  <a:cubicBezTo>
                    <a:pt x="1283" y="1404"/>
                    <a:pt x="1267" y="1423"/>
                    <a:pt x="1257" y="1467"/>
                  </a:cubicBezTo>
                  <a:cubicBezTo>
                    <a:pt x="1216" y="1461"/>
                    <a:pt x="1191" y="1470"/>
                    <a:pt x="1166" y="1486"/>
                  </a:cubicBezTo>
                  <a:cubicBezTo>
                    <a:pt x="1147" y="1492"/>
                    <a:pt x="1131" y="1502"/>
                    <a:pt x="1096" y="1508"/>
                  </a:cubicBezTo>
                  <a:cubicBezTo>
                    <a:pt x="1014" y="1521"/>
                    <a:pt x="970" y="1448"/>
                    <a:pt x="967" y="1448"/>
                  </a:cubicBezTo>
                  <a:cubicBezTo>
                    <a:pt x="964" y="1438"/>
                    <a:pt x="954" y="1432"/>
                    <a:pt x="942" y="1432"/>
                  </a:cubicBezTo>
                  <a:cubicBezTo>
                    <a:pt x="872" y="1429"/>
                    <a:pt x="850" y="1385"/>
                    <a:pt x="844" y="1356"/>
                  </a:cubicBezTo>
                  <a:cubicBezTo>
                    <a:pt x="1043" y="1344"/>
                    <a:pt x="1210" y="1214"/>
                    <a:pt x="1280" y="1034"/>
                  </a:cubicBezTo>
                  <a:cubicBezTo>
                    <a:pt x="1302" y="1050"/>
                    <a:pt x="1343" y="1084"/>
                    <a:pt x="1321" y="1154"/>
                  </a:cubicBezTo>
                  <a:cubicBezTo>
                    <a:pt x="1317" y="1167"/>
                    <a:pt x="1321" y="1176"/>
                    <a:pt x="1330" y="1186"/>
                  </a:cubicBezTo>
                  <a:cubicBezTo>
                    <a:pt x="1330" y="1186"/>
                    <a:pt x="1384" y="1252"/>
                    <a:pt x="1346" y="1328"/>
                  </a:cubicBezTo>
                  <a:close/>
                  <a:moveTo>
                    <a:pt x="1523" y="705"/>
                  </a:moveTo>
                  <a:cubicBezTo>
                    <a:pt x="1529" y="721"/>
                    <a:pt x="1532" y="740"/>
                    <a:pt x="1526" y="774"/>
                  </a:cubicBezTo>
                  <a:cubicBezTo>
                    <a:pt x="1513" y="857"/>
                    <a:pt x="1431" y="879"/>
                    <a:pt x="1428" y="879"/>
                  </a:cubicBezTo>
                  <a:cubicBezTo>
                    <a:pt x="1419" y="882"/>
                    <a:pt x="1409" y="888"/>
                    <a:pt x="1406" y="898"/>
                  </a:cubicBezTo>
                  <a:cubicBezTo>
                    <a:pt x="1381" y="967"/>
                    <a:pt x="1327" y="974"/>
                    <a:pt x="1299" y="971"/>
                  </a:cubicBezTo>
                  <a:cubicBezTo>
                    <a:pt x="1308" y="933"/>
                    <a:pt x="1314" y="891"/>
                    <a:pt x="1314" y="847"/>
                  </a:cubicBezTo>
                  <a:cubicBezTo>
                    <a:pt x="1314" y="692"/>
                    <a:pt x="1242" y="550"/>
                    <a:pt x="1131" y="455"/>
                  </a:cubicBezTo>
                  <a:cubicBezTo>
                    <a:pt x="1150" y="439"/>
                    <a:pt x="1197" y="411"/>
                    <a:pt x="1261" y="452"/>
                  </a:cubicBezTo>
                  <a:cubicBezTo>
                    <a:pt x="1270" y="458"/>
                    <a:pt x="1280" y="458"/>
                    <a:pt x="1289" y="455"/>
                  </a:cubicBezTo>
                  <a:cubicBezTo>
                    <a:pt x="1292" y="452"/>
                    <a:pt x="1371" y="420"/>
                    <a:pt x="1431" y="481"/>
                  </a:cubicBezTo>
                  <a:cubicBezTo>
                    <a:pt x="1453" y="506"/>
                    <a:pt x="1463" y="522"/>
                    <a:pt x="1472" y="541"/>
                  </a:cubicBezTo>
                  <a:cubicBezTo>
                    <a:pt x="1485" y="566"/>
                    <a:pt x="1498" y="588"/>
                    <a:pt x="1535" y="610"/>
                  </a:cubicBezTo>
                  <a:cubicBezTo>
                    <a:pt x="1517" y="648"/>
                    <a:pt x="1520" y="673"/>
                    <a:pt x="1523" y="705"/>
                  </a:cubicBezTo>
                  <a:close/>
                  <a:moveTo>
                    <a:pt x="986" y="1201"/>
                  </a:moveTo>
                  <a:lnTo>
                    <a:pt x="629" y="1201"/>
                  </a:lnTo>
                  <a:cubicBezTo>
                    <a:pt x="619" y="1201"/>
                    <a:pt x="616" y="1208"/>
                    <a:pt x="616" y="1214"/>
                  </a:cubicBezTo>
                  <a:lnTo>
                    <a:pt x="616" y="1227"/>
                  </a:lnTo>
                  <a:cubicBezTo>
                    <a:pt x="616" y="1233"/>
                    <a:pt x="619" y="1239"/>
                    <a:pt x="629" y="1239"/>
                  </a:cubicBezTo>
                  <a:lnTo>
                    <a:pt x="986" y="1239"/>
                  </a:lnTo>
                  <a:cubicBezTo>
                    <a:pt x="992" y="1239"/>
                    <a:pt x="998" y="1233"/>
                    <a:pt x="998" y="1227"/>
                  </a:cubicBezTo>
                  <a:lnTo>
                    <a:pt x="998" y="1214"/>
                  </a:lnTo>
                  <a:cubicBezTo>
                    <a:pt x="998" y="1208"/>
                    <a:pt x="992" y="1201"/>
                    <a:pt x="986" y="1201"/>
                  </a:cubicBezTo>
                  <a:close/>
                  <a:moveTo>
                    <a:pt x="660" y="1097"/>
                  </a:moveTo>
                  <a:lnTo>
                    <a:pt x="951" y="1097"/>
                  </a:lnTo>
                  <a:cubicBezTo>
                    <a:pt x="957" y="1097"/>
                    <a:pt x="964" y="1091"/>
                    <a:pt x="964" y="1084"/>
                  </a:cubicBezTo>
                  <a:lnTo>
                    <a:pt x="964" y="1072"/>
                  </a:lnTo>
                  <a:cubicBezTo>
                    <a:pt x="964" y="1062"/>
                    <a:pt x="957" y="1059"/>
                    <a:pt x="951" y="1059"/>
                  </a:cubicBezTo>
                  <a:lnTo>
                    <a:pt x="660" y="1059"/>
                  </a:lnTo>
                  <a:cubicBezTo>
                    <a:pt x="654" y="1059"/>
                    <a:pt x="651" y="1062"/>
                    <a:pt x="651" y="1072"/>
                  </a:cubicBezTo>
                  <a:lnTo>
                    <a:pt x="651" y="1084"/>
                  </a:lnTo>
                  <a:cubicBezTo>
                    <a:pt x="651" y="1091"/>
                    <a:pt x="654" y="1097"/>
                    <a:pt x="660" y="1097"/>
                  </a:cubicBezTo>
                  <a:close/>
                  <a:moveTo>
                    <a:pt x="667" y="582"/>
                  </a:moveTo>
                  <a:lnTo>
                    <a:pt x="705" y="569"/>
                  </a:lnTo>
                  <a:lnTo>
                    <a:pt x="739" y="594"/>
                  </a:lnTo>
                  <a:lnTo>
                    <a:pt x="736" y="553"/>
                  </a:lnTo>
                  <a:lnTo>
                    <a:pt x="771" y="528"/>
                  </a:lnTo>
                  <a:lnTo>
                    <a:pt x="730" y="515"/>
                  </a:lnTo>
                  <a:lnTo>
                    <a:pt x="717" y="477"/>
                  </a:lnTo>
                  <a:lnTo>
                    <a:pt x="695" y="512"/>
                  </a:lnTo>
                  <a:lnTo>
                    <a:pt x="654" y="512"/>
                  </a:lnTo>
                  <a:lnTo>
                    <a:pt x="679" y="544"/>
                  </a:lnTo>
                  <a:lnTo>
                    <a:pt x="667" y="582"/>
                  </a:lnTo>
                  <a:close/>
                  <a:moveTo>
                    <a:pt x="566" y="632"/>
                  </a:moveTo>
                  <a:lnTo>
                    <a:pt x="553" y="591"/>
                  </a:lnTo>
                  <a:lnTo>
                    <a:pt x="531" y="626"/>
                  </a:lnTo>
                  <a:lnTo>
                    <a:pt x="490" y="626"/>
                  </a:lnTo>
                  <a:lnTo>
                    <a:pt x="515" y="661"/>
                  </a:lnTo>
                  <a:lnTo>
                    <a:pt x="502" y="699"/>
                  </a:lnTo>
                  <a:lnTo>
                    <a:pt x="540" y="686"/>
                  </a:lnTo>
                  <a:lnTo>
                    <a:pt x="572" y="708"/>
                  </a:lnTo>
                  <a:lnTo>
                    <a:pt x="572" y="667"/>
                  </a:lnTo>
                  <a:lnTo>
                    <a:pt x="607" y="645"/>
                  </a:lnTo>
                  <a:lnTo>
                    <a:pt x="566" y="632"/>
                  </a:lnTo>
                  <a:close/>
                  <a:moveTo>
                    <a:pt x="506" y="812"/>
                  </a:moveTo>
                  <a:lnTo>
                    <a:pt x="493" y="774"/>
                  </a:lnTo>
                  <a:lnTo>
                    <a:pt x="468" y="806"/>
                  </a:lnTo>
                  <a:lnTo>
                    <a:pt x="427" y="806"/>
                  </a:lnTo>
                  <a:lnTo>
                    <a:pt x="452" y="841"/>
                  </a:lnTo>
                  <a:lnTo>
                    <a:pt x="439" y="879"/>
                  </a:lnTo>
                  <a:lnTo>
                    <a:pt x="477" y="866"/>
                  </a:lnTo>
                  <a:lnTo>
                    <a:pt x="512" y="891"/>
                  </a:lnTo>
                  <a:lnTo>
                    <a:pt x="512" y="850"/>
                  </a:lnTo>
                  <a:lnTo>
                    <a:pt x="543" y="825"/>
                  </a:lnTo>
                  <a:lnTo>
                    <a:pt x="506" y="812"/>
                  </a:lnTo>
                  <a:lnTo>
                    <a:pt x="506" y="8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Freeform 42">
              <a:extLst>
                <a:ext uri="{FF2B5EF4-FFF2-40B4-BE49-F238E27FC236}">
                  <a16:creationId xmlns:a16="http://schemas.microsoft.com/office/drawing/2014/main" id="{81EE12FF-6350-64B4-5F38-5A1539CD98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8238" y="1525698"/>
              <a:ext cx="1335524" cy="424355"/>
            </a:xfrm>
            <a:custGeom>
              <a:avLst/>
              <a:gdLst>
                <a:gd name="T0" fmla="*/ 392 w 3918"/>
                <a:gd name="T1" fmla="*/ 22 h 1245"/>
                <a:gd name="T2" fmla="*/ 0 w 3918"/>
                <a:gd name="T3" fmla="*/ 22 h 1245"/>
                <a:gd name="T4" fmla="*/ 79 w 3918"/>
                <a:gd name="T5" fmla="*/ 158 h 1245"/>
                <a:gd name="T6" fmla="*/ 79 w 3918"/>
                <a:gd name="T7" fmla="*/ 1220 h 1245"/>
                <a:gd name="T8" fmla="*/ 392 w 3918"/>
                <a:gd name="T9" fmla="*/ 1220 h 1245"/>
                <a:gd name="T10" fmla="*/ 392 w 3918"/>
                <a:gd name="T11" fmla="*/ 22 h 1245"/>
                <a:gd name="T12" fmla="*/ 404 w 3918"/>
                <a:gd name="T13" fmla="*/ 515 h 1245"/>
                <a:gd name="T14" fmla="*/ 938 w 3918"/>
                <a:gd name="T15" fmla="*/ 1230 h 1245"/>
                <a:gd name="T16" fmla="*/ 1305 w 3918"/>
                <a:gd name="T17" fmla="*/ 1230 h 1245"/>
                <a:gd name="T18" fmla="*/ 742 w 3918"/>
                <a:gd name="T19" fmla="*/ 515 h 1245"/>
                <a:gd name="T20" fmla="*/ 1279 w 3918"/>
                <a:gd name="T21" fmla="*/ 19 h 1245"/>
                <a:gd name="T22" fmla="*/ 964 w 3918"/>
                <a:gd name="T23" fmla="*/ 19 h 1245"/>
                <a:gd name="T24" fmla="*/ 407 w 3918"/>
                <a:gd name="T25" fmla="*/ 512 h 1245"/>
                <a:gd name="T26" fmla="*/ 404 w 3918"/>
                <a:gd name="T27" fmla="*/ 515 h 1245"/>
                <a:gd name="T28" fmla="*/ 3918 w 3918"/>
                <a:gd name="T29" fmla="*/ 1223 h 1245"/>
                <a:gd name="T30" fmla="*/ 3918 w 3918"/>
                <a:gd name="T31" fmla="*/ 19 h 1245"/>
                <a:gd name="T32" fmla="*/ 3605 w 3918"/>
                <a:gd name="T33" fmla="*/ 19 h 1245"/>
                <a:gd name="T34" fmla="*/ 3605 w 3918"/>
                <a:gd name="T35" fmla="*/ 1027 h 1245"/>
                <a:gd name="T36" fmla="*/ 3238 w 3918"/>
                <a:gd name="T37" fmla="*/ 1027 h 1245"/>
                <a:gd name="T38" fmla="*/ 3134 w 3918"/>
                <a:gd name="T39" fmla="*/ 901 h 1245"/>
                <a:gd name="T40" fmla="*/ 3134 w 3918"/>
                <a:gd name="T41" fmla="*/ 22 h 1245"/>
                <a:gd name="T42" fmla="*/ 2745 w 3918"/>
                <a:gd name="T43" fmla="*/ 22 h 1245"/>
                <a:gd name="T44" fmla="*/ 2828 w 3918"/>
                <a:gd name="T45" fmla="*/ 155 h 1245"/>
                <a:gd name="T46" fmla="*/ 2828 w 3918"/>
                <a:gd name="T47" fmla="*/ 853 h 1245"/>
                <a:gd name="T48" fmla="*/ 3156 w 3918"/>
                <a:gd name="T49" fmla="*/ 1223 h 1245"/>
                <a:gd name="T50" fmla="*/ 3918 w 3918"/>
                <a:gd name="T51" fmla="*/ 1223 h 1245"/>
                <a:gd name="T52" fmla="*/ 2221 w 3918"/>
                <a:gd name="T53" fmla="*/ 1223 h 1245"/>
                <a:gd name="T54" fmla="*/ 2537 w 3918"/>
                <a:gd name="T55" fmla="*/ 1223 h 1245"/>
                <a:gd name="T56" fmla="*/ 2537 w 3918"/>
                <a:gd name="T57" fmla="*/ 389 h 1245"/>
                <a:gd name="T58" fmla="*/ 2205 w 3918"/>
                <a:gd name="T59" fmla="*/ 19 h 1245"/>
                <a:gd name="T60" fmla="*/ 1362 w 3918"/>
                <a:gd name="T61" fmla="*/ 19 h 1245"/>
                <a:gd name="T62" fmla="*/ 1437 w 3918"/>
                <a:gd name="T63" fmla="*/ 152 h 1245"/>
                <a:gd name="T64" fmla="*/ 1437 w 3918"/>
                <a:gd name="T65" fmla="*/ 1223 h 1245"/>
                <a:gd name="T66" fmla="*/ 1750 w 3918"/>
                <a:gd name="T67" fmla="*/ 1223 h 1245"/>
                <a:gd name="T68" fmla="*/ 1750 w 3918"/>
                <a:gd name="T69" fmla="*/ 215 h 1245"/>
                <a:gd name="T70" fmla="*/ 2117 w 3918"/>
                <a:gd name="T71" fmla="*/ 215 h 1245"/>
                <a:gd name="T72" fmla="*/ 2221 w 3918"/>
                <a:gd name="T73" fmla="*/ 341 h 1245"/>
                <a:gd name="T74" fmla="*/ 2221 w 3918"/>
                <a:gd name="T75" fmla="*/ 1223 h 1245"/>
                <a:gd name="T76" fmla="*/ 2221 w 3918"/>
                <a:gd name="T77" fmla="*/ 1223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918" h="1245">
                  <a:moveTo>
                    <a:pt x="392" y="22"/>
                  </a:moveTo>
                  <a:lnTo>
                    <a:pt x="0" y="22"/>
                  </a:lnTo>
                  <a:cubicBezTo>
                    <a:pt x="0" y="22"/>
                    <a:pt x="79" y="38"/>
                    <a:pt x="79" y="158"/>
                  </a:cubicBezTo>
                  <a:lnTo>
                    <a:pt x="79" y="1220"/>
                  </a:lnTo>
                  <a:lnTo>
                    <a:pt x="392" y="1220"/>
                  </a:lnTo>
                  <a:lnTo>
                    <a:pt x="392" y="22"/>
                  </a:lnTo>
                  <a:close/>
                  <a:moveTo>
                    <a:pt x="404" y="515"/>
                  </a:moveTo>
                  <a:lnTo>
                    <a:pt x="938" y="1230"/>
                  </a:lnTo>
                  <a:lnTo>
                    <a:pt x="1305" y="1230"/>
                  </a:lnTo>
                  <a:lnTo>
                    <a:pt x="742" y="515"/>
                  </a:lnTo>
                  <a:lnTo>
                    <a:pt x="1279" y="19"/>
                  </a:lnTo>
                  <a:lnTo>
                    <a:pt x="964" y="19"/>
                  </a:lnTo>
                  <a:lnTo>
                    <a:pt x="407" y="512"/>
                  </a:lnTo>
                  <a:lnTo>
                    <a:pt x="404" y="515"/>
                  </a:lnTo>
                  <a:close/>
                  <a:moveTo>
                    <a:pt x="3918" y="1223"/>
                  </a:moveTo>
                  <a:lnTo>
                    <a:pt x="3918" y="19"/>
                  </a:lnTo>
                  <a:lnTo>
                    <a:pt x="3605" y="19"/>
                  </a:lnTo>
                  <a:lnTo>
                    <a:pt x="3605" y="1027"/>
                  </a:lnTo>
                  <a:lnTo>
                    <a:pt x="3238" y="1027"/>
                  </a:lnTo>
                  <a:cubicBezTo>
                    <a:pt x="3204" y="1027"/>
                    <a:pt x="3134" y="999"/>
                    <a:pt x="3134" y="901"/>
                  </a:cubicBezTo>
                  <a:lnTo>
                    <a:pt x="3134" y="22"/>
                  </a:lnTo>
                  <a:lnTo>
                    <a:pt x="2745" y="22"/>
                  </a:lnTo>
                  <a:cubicBezTo>
                    <a:pt x="2745" y="22"/>
                    <a:pt x="2828" y="38"/>
                    <a:pt x="2828" y="155"/>
                  </a:cubicBezTo>
                  <a:lnTo>
                    <a:pt x="2828" y="853"/>
                  </a:lnTo>
                  <a:cubicBezTo>
                    <a:pt x="2828" y="1245"/>
                    <a:pt x="3156" y="1223"/>
                    <a:pt x="3156" y="1223"/>
                  </a:cubicBezTo>
                  <a:lnTo>
                    <a:pt x="3918" y="1223"/>
                  </a:lnTo>
                  <a:close/>
                  <a:moveTo>
                    <a:pt x="2221" y="1223"/>
                  </a:moveTo>
                  <a:lnTo>
                    <a:pt x="2537" y="1223"/>
                  </a:lnTo>
                  <a:lnTo>
                    <a:pt x="2537" y="389"/>
                  </a:lnTo>
                  <a:cubicBezTo>
                    <a:pt x="2537" y="0"/>
                    <a:pt x="2237" y="19"/>
                    <a:pt x="2205" y="19"/>
                  </a:cubicBezTo>
                  <a:lnTo>
                    <a:pt x="1362" y="19"/>
                  </a:lnTo>
                  <a:cubicBezTo>
                    <a:pt x="1362" y="19"/>
                    <a:pt x="1437" y="47"/>
                    <a:pt x="1437" y="152"/>
                  </a:cubicBezTo>
                  <a:lnTo>
                    <a:pt x="1437" y="1223"/>
                  </a:lnTo>
                  <a:lnTo>
                    <a:pt x="1750" y="1223"/>
                  </a:lnTo>
                  <a:lnTo>
                    <a:pt x="1750" y="215"/>
                  </a:lnTo>
                  <a:lnTo>
                    <a:pt x="2117" y="215"/>
                  </a:lnTo>
                  <a:cubicBezTo>
                    <a:pt x="2152" y="215"/>
                    <a:pt x="2221" y="243"/>
                    <a:pt x="2221" y="341"/>
                  </a:cubicBezTo>
                  <a:lnTo>
                    <a:pt x="2221" y="1223"/>
                  </a:lnTo>
                  <a:lnTo>
                    <a:pt x="2221" y="122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41B24A9-2FCA-F087-A972-898A349CACD2}"/>
              </a:ext>
            </a:extLst>
          </p:cNvPr>
          <p:cNvSpPr txBox="1"/>
          <p:nvPr/>
        </p:nvSpPr>
        <p:spPr>
          <a:xfrm>
            <a:off x="1780590" y="3272879"/>
            <a:ext cx="86308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/>
              <a:t>감사합니다</a:t>
            </a:r>
            <a:r>
              <a:rPr lang="en-US" altLang="ko-KR" sz="4400" b="1" dirty="0"/>
              <a:t>.</a:t>
            </a:r>
            <a:endParaRPr lang="ko-KR" altLang="en-US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11ED0-EFF1-012C-3B77-1EE41BBAB8FF}"/>
              </a:ext>
            </a:extLst>
          </p:cNvPr>
          <p:cNvSpPr txBox="1"/>
          <p:nvPr/>
        </p:nvSpPr>
        <p:spPr>
          <a:xfrm>
            <a:off x="4460032" y="4414268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김형우</a:t>
            </a:r>
            <a:r>
              <a:rPr lang="en-US" altLang="ko-KR" dirty="0"/>
              <a:t>,</a:t>
            </a:r>
            <a:r>
              <a:rPr lang="ko-KR" altLang="en-US" dirty="0"/>
              <a:t> 배지민</a:t>
            </a:r>
            <a:r>
              <a:rPr lang="en-US" altLang="ko-KR" dirty="0"/>
              <a:t>,</a:t>
            </a:r>
            <a:r>
              <a:rPr lang="ko-KR" altLang="en-US" dirty="0"/>
              <a:t> 배지훈</a:t>
            </a:r>
          </a:p>
        </p:txBody>
      </p:sp>
    </p:spTree>
    <p:extLst>
      <p:ext uri="{BB962C8B-B14F-4D97-AF65-F5344CB8AC3E}">
        <p14:creationId xmlns:p14="http://schemas.microsoft.com/office/powerpoint/2010/main" val="105755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B438-3DA6-7F45-502A-F0B9F2B4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59">
            <a:extLst>
              <a:ext uri="{FF2B5EF4-FFF2-40B4-BE49-F238E27FC236}">
                <a16:creationId xmlns:a16="http://schemas.microsoft.com/office/drawing/2014/main" id="{6517E96E-7CBE-E899-2EA8-E21FCB9C3E85}"/>
              </a:ext>
            </a:extLst>
          </p:cNvPr>
          <p:cNvSpPr/>
          <p:nvPr/>
        </p:nvSpPr>
        <p:spPr>
          <a:xfrm>
            <a:off x="8167112" y="655685"/>
            <a:ext cx="3891180" cy="6126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0" name="Shape 60">
            <a:extLst>
              <a:ext uri="{FF2B5EF4-FFF2-40B4-BE49-F238E27FC236}">
                <a16:creationId xmlns:a16="http://schemas.microsoft.com/office/drawing/2014/main" id="{2B67E425-2FC1-BA2B-A345-D2FA5A808C35}"/>
              </a:ext>
            </a:extLst>
          </p:cNvPr>
          <p:cNvSpPr/>
          <p:nvPr/>
        </p:nvSpPr>
        <p:spPr>
          <a:xfrm>
            <a:off x="8167112" y="655685"/>
            <a:ext cx="3891180" cy="2560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1" name="Text 61">
            <a:extLst>
              <a:ext uri="{FF2B5EF4-FFF2-40B4-BE49-F238E27FC236}">
                <a16:creationId xmlns:a16="http://schemas.microsoft.com/office/drawing/2014/main" id="{15927F4E-4783-6724-4035-357112025F21}"/>
              </a:ext>
            </a:extLst>
          </p:cNvPr>
          <p:cNvSpPr/>
          <p:nvPr/>
        </p:nvSpPr>
        <p:spPr>
          <a:xfrm>
            <a:off x="8167112" y="655685"/>
            <a:ext cx="3891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 Node 2  —  RTX A6000 Ada × 4</a:t>
            </a:r>
            <a:endParaRPr lang="en-US" sz="1200" dirty="0"/>
          </a:p>
        </p:txBody>
      </p:sp>
      <p:sp>
        <p:nvSpPr>
          <p:cNvPr id="132" name="Shape 62">
            <a:extLst>
              <a:ext uri="{FF2B5EF4-FFF2-40B4-BE49-F238E27FC236}">
                <a16:creationId xmlns:a16="http://schemas.microsoft.com/office/drawing/2014/main" id="{6AD72FBB-C7BD-F5B1-E375-10A0E3504C4B}"/>
              </a:ext>
            </a:extLst>
          </p:cNvPr>
          <p:cNvSpPr/>
          <p:nvPr/>
        </p:nvSpPr>
        <p:spPr>
          <a:xfrm>
            <a:off x="8292634" y="975725"/>
            <a:ext cx="3640136" cy="2926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3" name="Text 63">
            <a:extLst>
              <a:ext uri="{FF2B5EF4-FFF2-40B4-BE49-F238E27FC236}">
                <a16:creationId xmlns:a16="http://schemas.microsoft.com/office/drawing/2014/main" id="{8CA457F9-7276-CF4B-2A5F-CBACC054454D}"/>
              </a:ext>
            </a:extLst>
          </p:cNvPr>
          <p:cNvSpPr/>
          <p:nvPr/>
        </p:nvSpPr>
        <p:spPr>
          <a:xfrm>
            <a:off x="8292634" y="975725"/>
            <a:ext cx="3640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RTX A6000 Ada  2장  Passthrough  →  VM 1개 전용 할당</a:t>
            </a:r>
            <a:endParaRPr lang="en-US" sz="1050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ECD93128-8310-457D-2A40-09C194C97610}"/>
              </a:ext>
            </a:extLst>
          </p:cNvPr>
          <p:cNvGrpSpPr/>
          <p:nvPr/>
        </p:nvGrpSpPr>
        <p:grpSpPr>
          <a:xfrm>
            <a:off x="8292633" y="6120000"/>
            <a:ext cx="3640136" cy="521208"/>
            <a:chOff x="8291041" y="5913485"/>
            <a:chExt cx="3640136" cy="521208"/>
          </a:xfrm>
        </p:grpSpPr>
        <p:sp>
          <p:nvSpPr>
            <p:cNvPr id="163" name="Shape 92">
              <a:extLst>
                <a:ext uri="{FF2B5EF4-FFF2-40B4-BE49-F238E27FC236}">
                  <a16:creationId xmlns:a16="http://schemas.microsoft.com/office/drawing/2014/main" id="{F56DD063-88DE-B5C1-9427-92C395A0D23C}"/>
                </a:ext>
              </a:extLst>
            </p:cNvPr>
            <p:cNvSpPr/>
            <p:nvPr/>
          </p:nvSpPr>
          <p:spPr>
            <a:xfrm>
              <a:off x="8291041" y="5913485"/>
              <a:ext cx="3640136" cy="292608"/>
            </a:xfrm>
            <a:prstGeom prst="rect">
              <a:avLst/>
            </a:prstGeom>
            <a:solidFill>
              <a:srgbClr val="607D8B"/>
            </a:solidFill>
            <a:ln w="12700">
              <a:solidFill>
                <a:srgbClr val="607D8B"/>
              </a:solidFill>
              <a:prstDash val="solid"/>
            </a:ln>
          </p:spPr>
          <p:txBody>
            <a:bodyPr/>
            <a:lstStyle/>
            <a:p>
              <a:r>
                <a:rPr lang="en-US" altLang="ko-KR" sz="3200" dirty="0"/>
                <a:t> </a:t>
              </a:r>
              <a:endParaRPr lang="ko-KR" altLang="en-US" sz="3200" dirty="0"/>
            </a:p>
          </p:txBody>
        </p:sp>
        <p:sp>
          <p:nvSpPr>
            <p:cNvPr id="164" name="Text 93">
              <a:extLst>
                <a:ext uri="{FF2B5EF4-FFF2-40B4-BE49-F238E27FC236}">
                  <a16:creationId xmlns:a16="http://schemas.microsoft.com/office/drawing/2014/main" id="{633723EA-3D50-ACBE-BC54-9CABDD4E3F68}"/>
                </a:ext>
              </a:extLst>
            </p:cNvPr>
            <p:cNvSpPr/>
            <p:nvPr/>
          </p:nvSpPr>
          <p:spPr>
            <a:xfrm>
              <a:off x="8291041" y="5913485"/>
              <a:ext cx="364013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하이퍼바이저 (KVM) / Nova-compute</a:t>
              </a:r>
              <a:endParaRPr lang="en-US" sz="1100" dirty="0"/>
            </a:p>
          </p:txBody>
        </p:sp>
        <p:sp>
          <p:nvSpPr>
            <p:cNvPr id="165" name="Shape 94">
              <a:extLst>
                <a:ext uri="{FF2B5EF4-FFF2-40B4-BE49-F238E27FC236}">
                  <a16:creationId xmlns:a16="http://schemas.microsoft.com/office/drawing/2014/main" id="{E19433EF-11CF-6261-B4BD-BC490ED7B83A}"/>
                </a:ext>
              </a:extLst>
            </p:cNvPr>
            <p:cNvSpPr/>
            <p:nvPr/>
          </p:nvSpPr>
          <p:spPr>
            <a:xfrm>
              <a:off x="8291041" y="6233525"/>
              <a:ext cx="3640136" cy="201168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66" name="Text 95">
              <a:extLst>
                <a:ext uri="{FF2B5EF4-FFF2-40B4-BE49-F238E27FC236}">
                  <a16:creationId xmlns:a16="http://schemas.microsoft.com/office/drawing/2014/main" id="{8B3D0CC0-9D92-C14E-0CE5-965403B386C8}"/>
                </a:ext>
              </a:extLst>
            </p:cNvPr>
            <p:cNvSpPr/>
            <p:nvPr/>
          </p:nvSpPr>
          <p:spPr>
            <a:xfrm>
              <a:off x="8291041" y="6233525"/>
              <a:ext cx="3640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</a:rPr>
                <a:t>OS (Ubuntu)</a:t>
              </a:r>
              <a:endParaRPr lang="en-US" sz="1050" dirty="0"/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B9FADC10-5F20-B829-F054-C0D985EDA380}"/>
              </a:ext>
            </a:extLst>
          </p:cNvPr>
          <p:cNvGrpSpPr/>
          <p:nvPr/>
        </p:nvGrpSpPr>
        <p:grpSpPr>
          <a:xfrm>
            <a:off x="0" y="0"/>
            <a:ext cx="12192000" cy="585216"/>
            <a:chOff x="0" y="0"/>
            <a:chExt cx="12192000" cy="585216"/>
          </a:xfrm>
        </p:grpSpPr>
        <p:sp>
          <p:nvSpPr>
            <p:cNvPr id="168" name="Shape 0">
              <a:extLst>
                <a:ext uri="{FF2B5EF4-FFF2-40B4-BE49-F238E27FC236}">
                  <a16:creationId xmlns:a16="http://schemas.microsoft.com/office/drawing/2014/main" id="{02FBF4BB-BA65-F96E-A1D0-5DA62AB2CD6C}"/>
                </a:ext>
              </a:extLst>
            </p:cNvPr>
            <p:cNvSpPr/>
            <p:nvPr/>
          </p:nvSpPr>
          <p:spPr>
            <a:xfrm>
              <a:off x="0" y="0"/>
              <a:ext cx="12192000" cy="585216"/>
            </a:xfrm>
            <a:prstGeom prst="rect">
              <a:avLst/>
            </a:prstGeom>
            <a:solidFill>
              <a:srgbClr val="0F3A75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69" name="Text 1">
              <a:extLst>
                <a:ext uri="{FF2B5EF4-FFF2-40B4-BE49-F238E27FC236}">
                  <a16:creationId xmlns:a16="http://schemas.microsoft.com/office/drawing/2014/main" id="{5F81AE02-5B00-62B0-894B-964C8DC19B3B}"/>
                </a:ext>
              </a:extLst>
            </p:cNvPr>
            <p:cNvSpPr/>
            <p:nvPr/>
          </p:nvSpPr>
          <p:spPr>
            <a:xfrm>
              <a:off x="304800" y="0"/>
              <a:ext cx="975360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FFFFFF"/>
                  </a:solidFill>
                </a:rPr>
                <a:t>OpenStack </a:t>
              </a:r>
              <a:r>
                <a:rPr lang="ko-KR" altLang="en-US" b="1" dirty="0">
                  <a:solidFill>
                    <a:srgbClr val="FFFFFF"/>
                  </a:solidFill>
                </a:rPr>
                <a:t>전체 </a:t>
              </a:r>
              <a:r>
                <a:rPr lang="en-US" b="1" dirty="0" err="1">
                  <a:solidFill>
                    <a:srgbClr val="FFFFFF"/>
                  </a:solidFill>
                </a:rPr>
                <a:t>구조도</a:t>
              </a:r>
              <a:r>
                <a:rPr lang="en-US" b="1" dirty="0">
                  <a:solidFill>
                    <a:srgbClr val="FFFFFF"/>
                  </a:solidFill>
                </a:rPr>
                <a:t> (48GB </a:t>
              </a:r>
              <a:r>
                <a:rPr lang="ko-KR" altLang="en-US" b="1" dirty="0">
                  <a:solidFill>
                    <a:srgbClr val="FFFFFF"/>
                  </a:solidFill>
                </a:rPr>
                <a:t>벤치마크 실험</a:t>
              </a:r>
              <a:r>
                <a:rPr lang="en-US" altLang="ko-KR" b="1" dirty="0">
                  <a:solidFill>
                    <a:srgbClr val="FFFFFF"/>
                  </a:solidFill>
                </a:rPr>
                <a:t>)</a:t>
              </a:r>
              <a:endParaRPr lang="en-US" dirty="0"/>
            </a:p>
          </p:txBody>
        </p:sp>
      </p:grpSp>
      <p:sp>
        <p:nvSpPr>
          <p:cNvPr id="171" name="Shape 32">
            <a:extLst>
              <a:ext uri="{FF2B5EF4-FFF2-40B4-BE49-F238E27FC236}">
                <a16:creationId xmlns:a16="http://schemas.microsoft.com/office/drawing/2014/main" id="{9EF06169-CEDB-B40A-8C9A-B45A07E7B23E}"/>
              </a:ext>
            </a:extLst>
          </p:cNvPr>
          <p:cNvSpPr/>
          <p:nvPr/>
        </p:nvSpPr>
        <p:spPr>
          <a:xfrm>
            <a:off x="4150410" y="655685"/>
            <a:ext cx="3891180" cy="6126480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2" name="Shape 33">
            <a:extLst>
              <a:ext uri="{FF2B5EF4-FFF2-40B4-BE49-F238E27FC236}">
                <a16:creationId xmlns:a16="http://schemas.microsoft.com/office/drawing/2014/main" id="{71FB03C1-BDC7-2DA3-3CF1-2ECA23FA8447}"/>
              </a:ext>
            </a:extLst>
          </p:cNvPr>
          <p:cNvSpPr/>
          <p:nvPr/>
        </p:nvSpPr>
        <p:spPr>
          <a:xfrm>
            <a:off x="4150410" y="655685"/>
            <a:ext cx="3891180" cy="25603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3" name="Text 34">
            <a:extLst>
              <a:ext uri="{FF2B5EF4-FFF2-40B4-BE49-F238E27FC236}">
                <a16:creationId xmlns:a16="http://schemas.microsoft.com/office/drawing/2014/main" id="{AF18F05E-B5D2-6534-7451-49DD4D62D3F9}"/>
              </a:ext>
            </a:extLst>
          </p:cNvPr>
          <p:cNvSpPr/>
          <p:nvPr/>
        </p:nvSpPr>
        <p:spPr>
          <a:xfrm>
            <a:off x="4150410" y="655685"/>
            <a:ext cx="3891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 Node 1  —  RTX Pro 6000 Blackwell</a:t>
            </a:r>
            <a:endParaRPr lang="en-US" sz="1200" dirty="0"/>
          </a:p>
        </p:txBody>
      </p:sp>
      <p:sp>
        <p:nvSpPr>
          <p:cNvPr id="174" name="Shape 35">
            <a:extLst>
              <a:ext uri="{FF2B5EF4-FFF2-40B4-BE49-F238E27FC236}">
                <a16:creationId xmlns:a16="http://schemas.microsoft.com/office/drawing/2014/main" id="{B3AC6CB2-0C2A-4B41-A88D-AD5B35CF49AB}"/>
              </a:ext>
            </a:extLst>
          </p:cNvPr>
          <p:cNvSpPr/>
          <p:nvPr/>
        </p:nvSpPr>
        <p:spPr>
          <a:xfrm>
            <a:off x="4275932" y="975724"/>
            <a:ext cx="3640136" cy="498513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5" name="Text 36">
            <a:extLst>
              <a:ext uri="{FF2B5EF4-FFF2-40B4-BE49-F238E27FC236}">
                <a16:creationId xmlns:a16="http://schemas.microsoft.com/office/drawing/2014/main" id="{3BF888DF-C38E-65CF-7F92-162157EBD840}"/>
              </a:ext>
            </a:extLst>
          </p:cNvPr>
          <p:cNvSpPr/>
          <p:nvPr/>
        </p:nvSpPr>
        <p:spPr>
          <a:xfrm>
            <a:off x="4275932" y="975725"/>
            <a:ext cx="3640136" cy="49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RTX Pro 6000 Blackwell 1장  Passthrough →  VM 1</a:t>
            </a:r>
            <a:r>
              <a:rPr lang="ko-KR" altLang="en-US" sz="1050" b="1" dirty="0">
                <a:solidFill>
                  <a:srgbClr val="FFFFFF"/>
                </a:solidFill>
              </a:rPr>
              <a:t>개 전용 할당</a:t>
            </a:r>
            <a:br>
              <a:rPr lang="en-US" altLang="ko-KR" sz="1050" b="1" dirty="0">
                <a:solidFill>
                  <a:srgbClr val="FFFFFF"/>
                </a:solidFill>
              </a:rPr>
            </a:br>
            <a:r>
              <a:rPr lang="en-US" altLang="ko-KR" sz="1050" b="1" dirty="0">
                <a:solidFill>
                  <a:srgbClr val="FFFFFF"/>
                </a:solidFill>
              </a:rPr>
              <a:t>→ MIG Instance 2</a:t>
            </a:r>
            <a:r>
              <a:rPr lang="ko-KR" altLang="en-US" sz="1050" b="1" dirty="0">
                <a:solidFill>
                  <a:srgbClr val="FFFFFF"/>
                </a:solidFill>
              </a:rPr>
              <a:t>개 쪼개기</a:t>
            </a:r>
            <a:endParaRPr lang="en-US" sz="1050" dirty="0"/>
          </a:p>
        </p:txBody>
      </p: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56B99E9D-90FD-FA58-C763-9DBACE03FF3D}"/>
              </a:ext>
            </a:extLst>
          </p:cNvPr>
          <p:cNvGrpSpPr/>
          <p:nvPr/>
        </p:nvGrpSpPr>
        <p:grpSpPr>
          <a:xfrm>
            <a:off x="4275932" y="6120000"/>
            <a:ext cx="3640136" cy="521208"/>
            <a:chOff x="4275932" y="5867765"/>
            <a:chExt cx="3640136" cy="521208"/>
          </a:xfrm>
        </p:grpSpPr>
        <p:sp>
          <p:nvSpPr>
            <p:cNvPr id="198" name="Shape 55">
              <a:extLst>
                <a:ext uri="{FF2B5EF4-FFF2-40B4-BE49-F238E27FC236}">
                  <a16:creationId xmlns:a16="http://schemas.microsoft.com/office/drawing/2014/main" id="{33609358-4B88-39D5-2615-170C4BE0DFE0}"/>
                </a:ext>
              </a:extLst>
            </p:cNvPr>
            <p:cNvSpPr/>
            <p:nvPr/>
          </p:nvSpPr>
          <p:spPr>
            <a:xfrm>
              <a:off x="4275932" y="5867765"/>
              <a:ext cx="3640136" cy="292608"/>
            </a:xfrm>
            <a:prstGeom prst="rect">
              <a:avLst/>
            </a:prstGeom>
            <a:solidFill>
              <a:srgbClr val="607D8B"/>
            </a:solidFill>
            <a:ln w="12700">
              <a:solidFill>
                <a:srgbClr val="607D8B"/>
              </a:solidFill>
              <a:prstDash val="solid"/>
            </a:ln>
          </p:spPr>
          <p:txBody>
            <a:bodyPr/>
            <a:lstStyle/>
            <a:p>
              <a:endParaRPr lang="ko-KR" altLang="en-US" sz="3200" dirty="0"/>
            </a:p>
          </p:txBody>
        </p:sp>
        <p:sp>
          <p:nvSpPr>
            <p:cNvPr id="199" name="Text 56">
              <a:extLst>
                <a:ext uri="{FF2B5EF4-FFF2-40B4-BE49-F238E27FC236}">
                  <a16:creationId xmlns:a16="http://schemas.microsoft.com/office/drawing/2014/main" id="{E304E970-7867-A7E1-45BC-919E050870DC}"/>
                </a:ext>
              </a:extLst>
            </p:cNvPr>
            <p:cNvSpPr/>
            <p:nvPr/>
          </p:nvSpPr>
          <p:spPr>
            <a:xfrm>
              <a:off x="4275932" y="5867765"/>
              <a:ext cx="364013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하이퍼바이저 (KVM) / Nova-compute</a:t>
              </a:r>
              <a:endParaRPr lang="en-US" sz="1100" dirty="0"/>
            </a:p>
          </p:txBody>
        </p:sp>
        <p:sp>
          <p:nvSpPr>
            <p:cNvPr id="200" name="Shape 57">
              <a:extLst>
                <a:ext uri="{FF2B5EF4-FFF2-40B4-BE49-F238E27FC236}">
                  <a16:creationId xmlns:a16="http://schemas.microsoft.com/office/drawing/2014/main" id="{F52C7D3A-84B2-AA6E-86F5-5561E5754BCD}"/>
                </a:ext>
              </a:extLst>
            </p:cNvPr>
            <p:cNvSpPr/>
            <p:nvPr/>
          </p:nvSpPr>
          <p:spPr>
            <a:xfrm>
              <a:off x="4275932" y="6187805"/>
              <a:ext cx="3640136" cy="201168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01" name="Text 58">
              <a:extLst>
                <a:ext uri="{FF2B5EF4-FFF2-40B4-BE49-F238E27FC236}">
                  <a16:creationId xmlns:a16="http://schemas.microsoft.com/office/drawing/2014/main" id="{05B13B4C-FA68-FAF4-1916-242B53B9959E}"/>
                </a:ext>
              </a:extLst>
            </p:cNvPr>
            <p:cNvSpPr/>
            <p:nvPr/>
          </p:nvSpPr>
          <p:spPr>
            <a:xfrm>
              <a:off x="4275932" y="6187805"/>
              <a:ext cx="3640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</a:rPr>
                <a:t>OS (Ubuntu)</a:t>
              </a:r>
              <a:endParaRPr lang="en-US" sz="1050" dirty="0"/>
            </a:p>
          </p:txBody>
        </p:sp>
      </p:grpSp>
      <p:sp>
        <p:nvSpPr>
          <p:cNvPr id="14" name="Shape 37">
            <a:extLst>
              <a:ext uri="{FF2B5EF4-FFF2-40B4-BE49-F238E27FC236}">
                <a16:creationId xmlns:a16="http://schemas.microsoft.com/office/drawing/2014/main" id="{816CAF99-0992-B7DC-0F33-0B0BF74D6A01}"/>
              </a:ext>
            </a:extLst>
          </p:cNvPr>
          <p:cNvSpPr/>
          <p:nvPr/>
        </p:nvSpPr>
        <p:spPr>
          <a:xfrm>
            <a:off x="8292633" y="1338802"/>
            <a:ext cx="3640136" cy="34290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 sz="3200" dirty="0"/>
          </a:p>
        </p:txBody>
      </p:sp>
      <p:sp>
        <p:nvSpPr>
          <p:cNvPr id="15" name="Shape 38">
            <a:extLst>
              <a:ext uri="{FF2B5EF4-FFF2-40B4-BE49-F238E27FC236}">
                <a16:creationId xmlns:a16="http://schemas.microsoft.com/office/drawing/2014/main" id="{1475C5E6-70DA-EE45-A4FB-AB11D310F124}"/>
              </a:ext>
            </a:extLst>
          </p:cNvPr>
          <p:cNvSpPr/>
          <p:nvPr/>
        </p:nvSpPr>
        <p:spPr>
          <a:xfrm>
            <a:off x="8292633" y="1338802"/>
            <a:ext cx="3640136" cy="315646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6" name="Text 39">
            <a:extLst>
              <a:ext uri="{FF2B5EF4-FFF2-40B4-BE49-F238E27FC236}">
                <a16:creationId xmlns:a16="http://schemas.microsoft.com/office/drawing/2014/main" id="{0C01E324-6297-761A-0519-D1EDF6826351}"/>
              </a:ext>
            </a:extLst>
          </p:cNvPr>
          <p:cNvSpPr/>
          <p:nvPr/>
        </p:nvSpPr>
        <p:spPr>
          <a:xfrm>
            <a:off x="8292633" y="1338802"/>
            <a:ext cx="3640136" cy="31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VM-cheap  </a:t>
            </a:r>
            <a:endParaRPr lang="en-US" sz="1200" dirty="0"/>
          </a:p>
        </p:txBody>
      </p:sp>
      <p:sp>
        <p:nvSpPr>
          <p:cNvPr id="17" name="Shape 40">
            <a:extLst>
              <a:ext uri="{FF2B5EF4-FFF2-40B4-BE49-F238E27FC236}">
                <a16:creationId xmlns:a16="http://schemas.microsoft.com/office/drawing/2014/main" id="{E3A70A5E-757C-ED0B-51F4-E1ED7A215226}"/>
              </a:ext>
            </a:extLst>
          </p:cNvPr>
          <p:cNvSpPr/>
          <p:nvPr/>
        </p:nvSpPr>
        <p:spPr>
          <a:xfrm>
            <a:off x="8393050" y="1733360"/>
            <a:ext cx="3439301" cy="620018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8" name="Text 41">
            <a:extLst>
              <a:ext uri="{FF2B5EF4-FFF2-40B4-BE49-F238E27FC236}">
                <a16:creationId xmlns:a16="http://schemas.microsoft.com/office/drawing/2014/main" id="{CC503A32-1E10-D1BE-AB23-2DC76952B9EE}"/>
              </a:ext>
            </a:extLst>
          </p:cNvPr>
          <p:cNvSpPr/>
          <p:nvPr/>
        </p:nvSpPr>
        <p:spPr>
          <a:xfrm>
            <a:off x="8393050" y="1733360"/>
            <a:ext cx="3439301" cy="620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7A1"/>
                </a:solidFill>
              </a:rPr>
              <a:t>Docker  :  사용자 작업 실행</a:t>
            </a:r>
            <a:endParaRPr lang="en-US" sz="1100" dirty="0"/>
          </a:p>
        </p:txBody>
      </p:sp>
      <p:sp>
        <p:nvSpPr>
          <p:cNvPr id="19" name="Shape 42">
            <a:extLst>
              <a:ext uri="{FF2B5EF4-FFF2-40B4-BE49-F238E27FC236}">
                <a16:creationId xmlns:a16="http://schemas.microsoft.com/office/drawing/2014/main" id="{B8B22A9D-DB79-AB6C-79A0-1805274F10A5}"/>
              </a:ext>
            </a:extLst>
          </p:cNvPr>
          <p:cNvSpPr/>
          <p:nvPr/>
        </p:nvSpPr>
        <p:spPr>
          <a:xfrm>
            <a:off x="8393047" y="2565639"/>
            <a:ext cx="3439301" cy="609976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dirty="0">
                <a:solidFill>
                  <a:srgbClr val="222222"/>
                </a:solidFill>
              </a:rPr>
              <a:t>DCGM Exporter</a:t>
            </a:r>
            <a:endParaRPr lang="en-US" altLang="ko-KR" sz="1100" dirty="0"/>
          </a:p>
        </p:txBody>
      </p:sp>
      <p:sp>
        <p:nvSpPr>
          <p:cNvPr id="20" name="Shape 44">
            <a:extLst>
              <a:ext uri="{FF2B5EF4-FFF2-40B4-BE49-F238E27FC236}">
                <a16:creationId xmlns:a16="http://schemas.microsoft.com/office/drawing/2014/main" id="{709F4E4E-B888-34D7-8114-E56B78D350A6}"/>
              </a:ext>
            </a:extLst>
          </p:cNvPr>
          <p:cNvSpPr/>
          <p:nvPr/>
        </p:nvSpPr>
        <p:spPr>
          <a:xfrm>
            <a:off x="8393046" y="3356887"/>
            <a:ext cx="3439301" cy="428377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26323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</a:rPr>
              <a:t>A6000 Ada #1 (48GB)</a:t>
            </a:r>
            <a:endParaRPr lang="en-US" altLang="ko-KR" sz="1100" dirty="0"/>
          </a:p>
        </p:txBody>
      </p:sp>
      <p:sp>
        <p:nvSpPr>
          <p:cNvPr id="21" name="Shape 44">
            <a:extLst>
              <a:ext uri="{FF2B5EF4-FFF2-40B4-BE49-F238E27FC236}">
                <a16:creationId xmlns:a16="http://schemas.microsoft.com/office/drawing/2014/main" id="{C1D7C071-9130-5E45-6A9A-4E763565BEEB}"/>
              </a:ext>
            </a:extLst>
          </p:cNvPr>
          <p:cNvSpPr/>
          <p:nvPr/>
        </p:nvSpPr>
        <p:spPr>
          <a:xfrm>
            <a:off x="8393048" y="4159727"/>
            <a:ext cx="3439301" cy="428377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26323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</a:rPr>
              <a:t>A6000 Ada #2 (48GB)</a:t>
            </a:r>
            <a:endParaRPr lang="en-US" altLang="ko-KR" sz="1100" dirty="0"/>
          </a:p>
        </p:txBody>
      </p:sp>
      <p:sp>
        <p:nvSpPr>
          <p:cNvPr id="22" name="Shape 44">
            <a:extLst>
              <a:ext uri="{FF2B5EF4-FFF2-40B4-BE49-F238E27FC236}">
                <a16:creationId xmlns:a16="http://schemas.microsoft.com/office/drawing/2014/main" id="{031840BF-3248-481A-6FA1-F669FDA872BF}"/>
              </a:ext>
            </a:extLst>
          </p:cNvPr>
          <p:cNvSpPr/>
          <p:nvPr/>
        </p:nvSpPr>
        <p:spPr>
          <a:xfrm>
            <a:off x="8393049" y="4928693"/>
            <a:ext cx="3439301" cy="428377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</a:rPr>
              <a:t>Pro 6000 Blackwell (Passthrough) (96GB)</a:t>
            </a:r>
            <a:endParaRPr lang="en-US" altLang="ko-KR" sz="11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2CFE1B46-59A5-5D73-DB11-FA4C3D842151}"/>
              </a:ext>
            </a:extLst>
          </p:cNvPr>
          <p:cNvSpPr/>
          <p:nvPr/>
        </p:nvSpPr>
        <p:spPr>
          <a:xfrm>
            <a:off x="133707" y="655685"/>
            <a:ext cx="3891180" cy="6126480"/>
          </a:xfrm>
          <a:prstGeom prst="rect">
            <a:avLst/>
          </a:prstGeom>
          <a:solidFill>
            <a:srgbClr val="EAF0FB"/>
          </a:solidFill>
          <a:ln w="1905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DFAB489-63C0-3022-517A-B5FD36D3BF64}"/>
              </a:ext>
            </a:extLst>
          </p:cNvPr>
          <p:cNvSpPr/>
          <p:nvPr/>
        </p:nvSpPr>
        <p:spPr>
          <a:xfrm>
            <a:off x="133707" y="655685"/>
            <a:ext cx="3891180" cy="25603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6F7D66B8-F6C1-86CA-1021-C5B9495A2E95}"/>
              </a:ext>
            </a:extLst>
          </p:cNvPr>
          <p:cNvSpPr/>
          <p:nvPr/>
        </p:nvSpPr>
        <p:spPr>
          <a:xfrm>
            <a:off x="133707" y="655685"/>
            <a:ext cx="3891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Control Node</a:t>
            </a:r>
            <a:endParaRPr lang="en-US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99763EC3-71C6-F4D2-0922-139CA8AF0959}"/>
              </a:ext>
            </a:extLst>
          </p:cNvPr>
          <p:cNvSpPr/>
          <p:nvPr/>
        </p:nvSpPr>
        <p:spPr>
          <a:xfrm>
            <a:off x="259229" y="1250045"/>
            <a:ext cx="3640136" cy="3264408"/>
          </a:xfrm>
          <a:prstGeom prst="rect">
            <a:avLst/>
          </a:prstGeom>
          <a:solidFill>
            <a:srgbClr val="E8EEF8"/>
          </a:solidFill>
          <a:ln w="19050">
            <a:solidFill>
              <a:srgbClr val="3A6BC4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5CF39652-5AC6-B860-DABF-1F83E4B911D3}"/>
              </a:ext>
            </a:extLst>
          </p:cNvPr>
          <p:cNvSpPr/>
          <p:nvPr/>
        </p:nvSpPr>
        <p:spPr>
          <a:xfrm>
            <a:off x="259229" y="1250045"/>
            <a:ext cx="3640136" cy="365614"/>
          </a:xfrm>
          <a:prstGeom prst="rect">
            <a:avLst/>
          </a:prstGeom>
          <a:solidFill>
            <a:srgbClr val="3A6BC4"/>
          </a:solidFill>
          <a:ln w="12700">
            <a:solidFill>
              <a:srgbClr val="3A6BC4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31880CD-47DF-4CF3-07B7-FBA6FDF312E7}"/>
              </a:ext>
            </a:extLst>
          </p:cNvPr>
          <p:cNvSpPr/>
          <p:nvPr/>
        </p:nvSpPr>
        <p:spPr>
          <a:xfrm>
            <a:off x="259229" y="1250045"/>
            <a:ext cx="3640136" cy="36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OpenStack Controller</a:t>
            </a:r>
            <a:endParaRPr lang="en-US" sz="12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44C8976B-82C2-5065-0170-E8E97C5DA98D}"/>
              </a:ext>
            </a:extLst>
          </p:cNvPr>
          <p:cNvSpPr/>
          <p:nvPr/>
        </p:nvSpPr>
        <p:spPr>
          <a:xfrm>
            <a:off x="359646" y="1707062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83856F10-1480-4FA0-00CA-03ACFF2BE8F9}"/>
              </a:ext>
            </a:extLst>
          </p:cNvPr>
          <p:cNvSpPr/>
          <p:nvPr/>
        </p:nvSpPr>
        <p:spPr>
          <a:xfrm>
            <a:off x="359646" y="1707062"/>
            <a:ext cx="1631785" cy="65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Keystone</a:t>
            </a:r>
            <a:endParaRPr lang="en-US" sz="11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6EE66B4E-DCF8-B806-4955-FA5BB3D96F50}"/>
              </a:ext>
            </a:extLst>
          </p:cNvPr>
          <p:cNvSpPr/>
          <p:nvPr/>
        </p:nvSpPr>
        <p:spPr>
          <a:xfrm>
            <a:off x="2116954" y="1707062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2E23F136-D32C-BA55-AA44-A59807ADFD50}"/>
              </a:ext>
            </a:extLst>
          </p:cNvPr>
          <p:cNvSpPr/>
          <p:nvPr/>
        </p:nvSpPr>
        <p:spPr>
          <a:xfrm>
            <a:off x="2116954" y="1707062"/>
            <a:ext cx="1631785" cy="65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Nova</a:t>
            </a:r>
            <a:endParaRPr lang="en-US" sz="11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E30367EB-0144-A937-A93B-5ED72717F149}"/>
              </a:ext>
            </a:extLst>
          </p:cNvPr>
          <p:cNvSpPr/>
          <p:nvPr/>
        </p:nvSpPr>
        <p:spPr>
          <a:xfrm>
            <a:off x="2116954" y="2555808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DC35A674-22EC-1717-BC95-4C0B01E4EB28}"/>
              </a:ext>
            </a:extLst>
          </p:cNvPr>
          <p:cNvSpPr/>
          <p:nvPr/>
        </p:nvSpPr>
        <p:spPr>
          <a:xfrm>
            <a:off x="2116954" y="2555808"/>
            <a:ext cx="1631785" cy="65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Neutron</a:t>
            </a:r>
            <a:endParaRPr lang="en-US" sz="1100" dirty="0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0E75F48C-95D1-D179-684D-1A4415B4A618}"/>
              </a:ext>
            </a:extLst>
          </p:cNvPr>
          <p:cNvSpPr/>
          <p:nvPr/>
        </p:nvSpPr>
        <p:spPr>
          <a:xfrm>
            <a:off x="359646" y="3404554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502463A2-DCE7-0B45-E0DE-26C2FC44FDA1}"/>
              </a:ext>
            </a:extLst>
          </p:cNvPr>
          <p:cNvSpPr/>
          <p:nvPr/>
        </p:nvSpPr>
        <p:spPr>
          <a:xfrm>
            <a:off x="359646" y="3404554"/>
            <a:ext cx="1631785" cy="65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Placement</a:t>
            </a:r>
            <a:endParaRPr lang="en-US" sz="1100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DB4B3459-D144-A8FB-279F-FD16D771ECB6}"/>
              </a:ext>
            </a:extLst>
          </p:cNvPr>
          <p:cNvSpPr/>
          <p:nvPr/>
        </p:nvSpPr>
        <p:spPr>
          <a:xfrm>
            <a:off x="2116954" y="3404554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3833ED3-D418-8B5F-7896-E9A45C6FF9B4}"/>
              </a:ext>
            </a:extLst>
          </p:cNvPr>
          <p:cNvSpPr/>
          <p:nvPr/>
        </p:nvSpPr>
        <p:spPr>
          <a:xfrm>
            <a:off x="2116954" y="3404554"/>
            <a:ext cx="1631785" cy="65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Horizon</a:t>
            </a:r>
            <a:endParaRPr lang="en-US" sz="110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0EDF4CAB-446C-75F7-F869-335DD034B153}"/>
              </a:ext>
            </a:extLst>
          </p:cNvPr>
          <p:cNvSpPr/>
          <p:nvPr/>
        </p:nvSpPr>
        <p:spPr>
          <a:xfrm>
            <a:off x="259229" y="4730838"/>
            <a:ext cx="3640136" cy="905256"/>
          </a:xfrm>
          <a:prstGeom prst="rect">
            <a:avLst/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57388B68-CDB0-4F7F-2898-0B90C3A91B84}"/>
              </a:ext>
            </a:extLst>
          </p:cNvPr>
          <p:cNvSpPr/>
          <p:nvPr/>
        </p:nvSpPr>
        <p:spPr>
          <a:xfrm>
            <a:off x="259229" y="4730838"/>
            <a:ext cx="3640136" cy="2560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5DD211DB-8C08-3B0A-34C1-A631391E3811}"/>
              </a:ext>
            </a:extLst>
          </p:cNvPr>
          <p:cNvSpPr/>
          <p:nvPr/>
        </p:nvSpPr>
        <p:spPr>
          <a:xfrm>
            <a:off x="259229" y="4730838"/>
            <a:ext cx="364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모니터링</a:t>
            </a:r>
            <a:endParaRPr lang="en-US" sz="120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F3109EDF-159E-7348-CCEA-8FC6CC39E48C}"/>
              </a:ext>
            </a:extLst>
          </p:cNvPr>
          <p:cNvSpPr/>
          <p:nvPr/>
        </p:nvSpPr>
        <p:spPr>
          <a:xfrm>
            <a:off x="359646" y="5078310"/>
            <a:ext cx="1569024" cy="411480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EDA98723-FA06-BBF7-AEB7-CDFDC0A2B5E8}"/>
              </a:ext>
            </a:extLst>
          </p:cNvPr>
          <p:cNvSpPr/>
          <p:nvPr/>
        </p:nvSpPr>
        <p:spPr>
          <a:xfrm>
            <a:off x="359646" y="5078310"/>
            <a:ext cx="156902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Prometheus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(서비스)</a:t>
            </a:r>
            <a:endParaRPr lang="en-US" sz="11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546E3AE6-8918-95E7-C9A5-3230F759E516}"/>
              </a:ext>
            </a:extLst>
          </p:cNvPr>
          <p:cNvSpPr/>
          <p:nvPr/>
        </p:nvSpPr>
        <p:spPr>
          <a:xfrm>
            <a:off x="2054193" y="5078310"/>
            <a:ext cx="1569024" cy="411480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8BE8D21A-618C-54EB-107D-E3B5E92C9023}"/>
              </a:ext>
            </a:extLst>
          </p:cNvPr>
          <p:cNvSpPr/>
          <p:nvPr/>
        </p:nvSpPr>
        <p:spPr>
          <a:xfrm>
            <a:off x="2054193" y="5078310"/>
            <a:ext cx="156902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Grafana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</a:rPr>
              <a:t>(서비스)</a:t>
            </a:r>
            <a:endParaRPr lang="en-US" sz="1100" dirty="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53A8CB54-F02E-DFFB-A931-536F1F99A372}"/>
              </a:ext>
            </a:extLst>
          </p:cNvPr>
          <p:cNvSpPr/>
          <p:nvPr/>
        </p:nvSpPr>
        <p:spPr>
          <a:xfrm>
            <a:off x="221573" y="5960915"/>
            <a:ext cx="3640136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6F5E148D-AA3A-1174-F278-4A4B278F348A}"/>
              </a:ext>
            </a:extLst>
          </p:cNvPr>
          <p:cNvSpPr/>
          <p:nvPr/>
        </p:nvSpPr>
        <p:spPr>
          <a:xfrm>
            <a:off x="246677" y="6000143"/>
            <a:ext cx="3640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OS (Ubuntu)</a:t>
            </a:r>
            <a:endParaRPr lang="en-US" sz="1100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C1A3047-CF11-332D-F6B7-2FFF7F0CF6CD}"/>
              </a:ext>
            </a:extLst>
          </p:cNvPr>
          <p:cNvGrpSpPr/>
          <p:nvPr/>
        </p:nvGrpSpPr>
        <p:grpSpPr>
          <a:xfrm>
            <a:off x="4275929" y="1653938"/>
            <a:ext cx="3640139" cy="4018268"/>
            <a:chOff x="4275929" y="1368916"/>
            <a:chExt cx="3640139" cy="401826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B2C4DF8-924E-D30F-74E8-D213C45858E7}"/>
                </a:ext>
              </a:extLst>
            </p:cNvPr>
            <p:cNvGrpSpPr/>
            <p:nvPr/>
          </p:nvGrpSpPr>
          <p:grpSpPr>
            <a:xfrm>
              <a:off x="4275932" y="1368916"/>
              <a:ext cx="3640136" cy="4018268"/>
              <a:chOff x="4275932" y="1368916"/>
              <a:chExt cx="3640136" cy="4018268"/>
            </a:xfrm>
          </p:grpSpPr>
          <p:sp>
            <p:nvSpPr>
              <p:cNvPr id="176" name="Shape 37">
                <a:extLst>
                  <a:ext uri="{FF2B5EF4-FFF2-40B4-BE49-F238E27FC236}">
                    <a16:creationId xmlns:a16="http://schemas.microsoft.com/office/drawing/2014/main" id="{E0086F05-2C5D-2193-E157-2B8BE0B1D8E9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429002"/>
              </a:xfrm>
              <a:prstGeom prst="rect">
                <a:avLst/>
              </a:prstGeom>
              <a:solidFill>
                <a:srgbClr val="F9FBE7"/>
              </a:solidFill>
              <a:ln w="19050">
                <a:solidFill>
                  <a:srgbClr val="7CB34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3200"/>
              </a:p>
            </p:txBody>
          </p:sp>
          <p:sp>
            <p:nvSpPr>
              <p:cNvPr id="177" name="Shape 38">
                <a:extLst>
                  <a:ext uri="{FF2B5EF4-FFF2-40B4-BE49-F238E27FC236}">
                    <a16:creationId xmlns:a16="http://schemas.microsoft.com/office/drawing/2014/main" id="{5C3434B5-009B-D3FF-FF7A-9B196120CCB4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solidFill>
                <a:srgbClr val="7CB342"/>
              </a:solidFill>
              <a:ln w="12700">
                <a:solidFill>
                  <a:srgbClr val="7CB34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3200"/>
              </a:p>
            </p:txBody>
          </p:sp>
          <p:sp>
            <p:nvSpPr>
              <p:cNvPr id="178" name="Text 39">
                <a:extLst>
                  <a:ext uri="{FF2B5EF4-FFF2-40B4-BE49-F238E27FC236}">
                    <a16:creationId xmlns:a16="http://schemas.microsoft.com/office/drawing/2014/main" id="{E7B2FBCC-D17C-D415-1157-6E8D4F06E7C0}"/>
                  </a:ext>
                </a:extLst>
              </p:cNvPr>
              <p:cNvSpPr/>
              <p:nvPr/>
            </p:nvSpPr>
            <p:spPr>
              <a:xfrm>
                <a:off x="4275932" y="1368916"/>
                <a:ext cx="3640136" cy="3156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VM-expensive  </a:t>
                </a:r>
                <a:endParaRPr lang="en-US" sz="1200" dirty="0"/>
              </a:p>
            </p:txBody>
          </p:sp>
          <p:sp>
            <p:nvSpPr>
              <p:cNvPr id="179" name="Shape 40">
                <a:extLst>
                  <a:ext uri="{FF2B5EF4-FFF2-40B4-BE49-F238E27FC236}">
                    <a16:creationId xmlns:a16="http://schemas.microsoft.com/office/drawing/2014/main" id="{A58E029B-DA28-A7EE-97D9-85573FC590C8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solidFill>
                <a:srgbClr val="E3F2FD"/>
              </a:solidFill>
              <a:ln w="127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3200"/>
              </a:p>
            </p:txBody>
          </p:sp>
          <p:sp>
            <p:nvSpPr>
              <p:cNvPr id="180" name="Text 41">
                <a:extLst>
                  <a:ext uri="{FF2B5EF4-FFF2-40B4-BE49-F238E27FC236}">
                    <a16:creationId xmlns:a16="http://schemas.microsoft.com/office/drawing/2014/main" id="{5D6AEE04-D8FD-A650-9722-BD50C9DA43F4}"/>
                  </a:ext>
                </a:extLst>
              </p:cNvPr>
              <p:cNvSpPr/>
              <p:nvPr/>
            </p:nvSpPr>
            <p:spPr>
              <a:xfrm>
                <a:off x="4376349" y="1763474"/>
                <a:ext cx="3439301" cy="62001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0D47A1"/>
                    </a:solidFill>
                  </a:rPr>
                  <a:t>Docker  :  사용자 작업 실행</a:t>
                </a:r>
                <a:endParaRPr lang="en-US" sz="1100" dirty="0"/>
              </a:p>
            </p:txBody>
          </p:sp>
          <p:sp>
            <p:nvSpPr>
              <p:cNvPr id="181" name="Shape 42">
                <a:extLst>
                  <a:ext uri="{FF2B5EF4-FFF2-40B4-BE49-F238E27FC236}">
                    <a16:creationId xmlns:a16="http://schemas.microsoft.com/office/drawing/2014/main" id="{C3048A02-87F4-852B-F6F7-DB40E8A459E7}"/>
                  </a:ext>
                </a:extLst>
              </p:cNvPr>
              <p:cNvSpPr/>
              <p:nvPr/>
            </p:nvSpPr>
            <p:spPr>
              <a:xfrm>
                <a:off x="4376346" y="2595753"/>
                <a:ext cx="3439301" cy="609976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100" dirty="0">
                    <a:solidFill>
                      <a:srgbClr val="222222"/>
                    </a:solidFill>
                  </a:rPr>
                  <a:t>DCGM Exporter</a:t>
                </a:r>
                <a:endParaRPr lang="en-US" altLang="ko-KR" sz="1100" dirty="0"/>
              </a:p>
            </p:txBody>
          </p:sp>
          <p:sp>
            <p:nvSpPr>
              <p:cNvPr id="182" name="Shape 44">
                <a:extLst>
                  <a:ext uri="{FF2B5EF4-FFF2-40B4-BE49-F238E27FC236}">
                    <a16:creationId xmlns:a16="http://schemas.microsoft.com/office/drawing/2014/main" id="{5B5D78EF-C5D3-1BB4-343D-CE84ADEF84FA}"/>
                  </a:ext>
                </a:extLst>
              </p:cNvPr>
              <p:cNvSpPr/>
              <p:nvPr/>
            </p:nvSpPr>
            <p:spPr>
              <a:xfrm>
                <a:off x="4376346" y="3440728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(MIG Instance #1) (48GB)</a:t>
                </a:r>
                <a:endParaRPr lang="en-US" altLang="ko-KR" sz="1100" dirty="0"/>
              </a:p>
            </p:txBody>
          </p:sp>
          <p:sp>
            <p:nvSpPr>
              <p:cNvPr id="2" name="Shape 44">
                <a:extLst>
                  <a:ext uri="{FF2B5EF4-FFF2-40B4-BE49-F238E27FC236}">
                    <a16:creationId xmlns:a16="http://schemas.microsoft.com/office/drawing/2014/main" id="{B96C6DC3-D919-EDB2-E69A-580047023478}"/>
                  </a:ext>
                </a:extLst>
              </p:cNvPr>
              <p:cNvSpPr/>
              <p:nvPr/>
            </p:nvSpPr>
            <p:spPr>
              <a:xfrm>
                <a:off x="4376347" y="4189841"/>
                <a:ext cx="3439301" cy="42837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(MIG Instance #2) (48GB)</a:t>
                </a:r>
                <a:endParaRPr lang="en-US" altLang="ko-KR" sz="1100" dirty="0"/>
              </a:p>
            </p:txBody>
          </p:sp>
          <p:sp>
            <p:nvSpPr>
              <p:cNvPr id="8" name="Shape 44">
                <a:extLst>
                  <a:ext uri="{FF2B5EF4-FFF2-40B4-BE49-F238E27FC236}">
                    <a16:creationId xmlns:a16="http://schemas.microsoft.com/office/drawing/2014/main" id="{38DE888A-FDA4-B676-F534-B570689327E5}"/>
                  </a:ext>
                </a:extLst>
              </p:cNvPr>
              <p:cNvSpPr/>
              <p:nvPr/>
            </p:nvSpPr>
            <p:spPr>
              <a:xfrm>
                <a:off x="4376348" y="4958807"/>
                <a:ext cx="3439301" cy="428377"/>
              </a:xfrm>
              <a:prstGeom prst="rect">
                <a:avLst/>
              </a:prstGeom>
              <a:solidFill>
                <a:srgbClr val="263238"/>
              </a:solidFill>
              <a:ln w="12700">
                <a:solidFill>
                  <a:srgbClr val="263238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</a:rPr>
                  <a:t>Pro 6000 Blackwell (Passthrough) (96GB)</a:t>
                </a:r>
                <a:endParaRPr lang="en-US" altLang="ko-KR" sz="1100" dirty="0"/>
              </a:p>
            </p:txBody>
          </p:sp>
        </p:grpSp>
        <p:sp>
          <p:nvSpPr>
            <p:cNvPr id="54" name="원형: 비어 있음 53">
              <a:extLst>
                <a:ext uri="{FF2B5EF4-FFF2-40B4-BE49-F238E27FC236}">
                  <a16:creationId xmlns:a16="http://schemas.microsoft.com/office/drawing/2014/main" id="{CFA9989E-3310-3485-312A-10AA495BC20E}"/>
                </a:ext>
              </a:extLst>
            </p:cNvPr>
            <p:cNvSpPr/>
            <p:nvPr/>
          </p:nvSpPr>
          <p:spPr>
            <a:xfrm>
              <a:off x="4275929" y="3378162"/>
              <a:ext cx="3640137" cy="560384"/>
            </a:xfrm>
            <a:prstGeom prst="donut">
              <a:avLst>
                <a:gd name="adj" fmla="val 614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6" name="원형: 비어 있음 75">
            <a:extLst>
              <a:ext uri="{FF2B5EF4-FFF2-40B4-BE49-F238E27FC236}">
                <a16:creationId xmlns:a16="http://schemas.microsoft.com/office/drawing/2014/main" id="{6A9F215B-5467-C094-76B1-6BEFB225EC35}"/>
              </a:ext>
            </a:extLst>
          </p:cNvPr>
          <p:cNvSpPr/>
          <p:nvPr/>
        </p:nvSpPr>
        <p:spPr>
          <a:xfrm>
            <a:off x="8292633" y="3286557"/>
            <a:ext cx="3640137" cy="560384"/>
          </a:xfrm>
          <a:prstGeom prst="donut">
            <a:avLst>
              <a:gd name="adj" fmla="val 614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6707D73F-3C36-272C-6024-7229226209BF}"/>
              </a:ext>
            </a:extLst>
          </p:cNvPr>
          <p:cNvSpPr/>
          <p:nvPr/>
        </p:nvSpPr>
        <p:spPr>
          <a:xfrm>
            <a:off x="359646" y="2555808"/>
            <a:ext cx="1631785" cy="652882"/>
          </a:xfrm>
          <a:prstGeom prst="rect">
            <a:avLst/>
          </a:prstGeom>
          <a:solidFill>
            <a:srgbClr val="D6E4FF"/>
          </a:solidFill>
          <a:ln w="12700">
            <a:solidFill>
              <a:srgbClr val="5B8DD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dirty="0">
                <a:solidFill>
                  <a:srgbClr val="222222"/>
                </a:solidFill>
              </a:rPr>
              <a:t>Glance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733707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FFB05F0-A486-86A7-D59D-2543956AB057}"/>
              </a:ext>
            </a:extLst>
          </p:cNvPr>
          <p:cNvGrpSpPr/>
          <p:nvPr/>
        </p:nvGrpSpPr>
        <p:grpSpPr>
          <a:xfrm>
            <a:off x="133707" y="655685"/>
            <a:ext cx="3891180" cy="6126480"/>
            <a:chOff x="133707" y="655685"/>
            <a:chExt cx="3891180" cy="6126480"/>
          </a:xfrm>
        </p:grpSpPr>
        <p:sp>
          <p:nvSpPr>
            <p:cNvPr id="91" name="Shape 3">
              <a:extLst>
                <a:ext uri="{FF2B5EF4-FFF2-40B4-BE49-F238E27FC236}">
                  <a16:creationId xmlns:a16="http://schemas.microsoft.com/office/drawing/2014/main" id="{F15E4618-923C-B4AF-9D33-B13608DAED4B}"/>
                </a:ext>
              </a:extLst>
            </p:cNvPr>
            <p:cNvSpPr/>
            <p:nvPr/>
          </p:nvSpPr>
          <p:spPr>
            <a:xfrm>
              <a:off x="133707" y="655685"/>
              <a:ext cx="3891180" cy="6126480"/>
            </a:xfrm>
            <a:prstGeom prst="rect">
              <a:avLst/>
            </a:prstGeom>
            <a:solidFill>
              <a:srgbClr val="EAF0FB"/>
            </a:solidFill>
            <a:ln w="19050">
              <a:solidFill>
                <a:srgbClr val="5B8DD9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98" name="Shape 4">
              <a:extLst>
                <a:ext uri="{FF2B5EF4-FFF2-40B4-BE49-F238E27FC236}">
                  <a16:creationId xmlns:a16="http://schemas.microsoft.com/office/drawing/2014/main" id="{4BD44609-49E9-136C-40B8-0424BA69D833}"/>
                </a:ext>
              </a:extLst>
            </p:cNvPr>
            <p:cNvSpPr/>
            <p:nvPr/>
          </p:nvSpPr>
          <p:spPr>
            <a:xfrm>
              <a:off x="133707" y="655685"/>
              <a:ext cx="3891180" cy="256032"/>
            </a:xfrm>
            <a:prstGeom prst="rect">
              <a:avLst/>
            </a:prstGeom>
            <a:solidFill>
              <a:srgbClr val="5B8DD9"/>
            </a:solidFill>
            <a:ln w="12700">
              <a:solidFill>
                <a:srgbClr val="5B8DD9"/>
              </a:solidFill>
              <a:prstDash val="solid"/>
            </a:ln>
          </p:spPr>
          <p:txBody>
            <a:bodyPr wrap="none">
              <a:normAutofit fontScale="400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101" name="Text 5">
              <a:extLst>
                <a:ext uri="{FF2B5EF4-FFF2-40B4-BE49-F238E27FC236}">
                  <a16:creationId xmlns:a16="http://schemas.microsoft.com/office/drawing/2014/main" id="{9FAF4CD5-786D-F305-0B69-DF8FCF8A0B7E}"/>
                </a:ext>
              </a:extLst>
            </p:cNvPr>
            <p:cNvSpPr/>
            <p:nvPr/>
          </p:nvSpPr>
          <p:spPr>
            <a:xfrm>
              <a:off x="133707" y="655685"/>
              <a:ext cx="389118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Control Node</a:t>
              </a:r>
              <a:endParaRPr 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CD08549-88A4-AAEA-B699-F6E7383AA0AE}"/>
                </a:ext>
              </a:extLst>
            </p:cNvPr>
            <p:cNvGrpSpPr/>
            <p:nvPr/>
          </p:nvGrpSpPr>
          <p:grpSpPr>
            <a:xfrm>
              <a:off x="259229" y="1250045"/>
              <a:ext cx="3640136" cy="3264408"/>
              <a:chOff x="260823" y="1003157"/>
              <a:chExt cx="3640136" cy="2286000"/>
            </a:xfrm>
          </p:grpSpPr>
          <p:sp>
            <p:nvSpPr>
              <p:cNvPr id="102" name="Shape 6">
                <a:extLst>
                  <a:ext uri="{FF2B5EF4-FFF2-40B4-BE49-F238E27FC236}">
                    <a16:creationId xmlns:a16="http://schemas.microsoft.com/office/drawing/2014/main" id="{030A856C-608D-0BA4-6834-8A622D5BFAB6}"/>
                  </a:ext>
                </a:extLst>
              </p:cNvPr>
              <p:cNvSpPr/>
              <p:nvPr/>
            </p:nvSpPr>
            <p:spPr>
              <a:xfrm>
                <a:off x="260823" y="1003157"/>
                <a:ext cx="3640136" cy="2286000"/>
              </a:xfrm>
              <a:prstGeom prst="rect">
                <a:avLst/>
              </a:prstGeom>
              <a:solidFill>
                <a:srgbClr val="E8EEF8"/>
              </a:solidFill>
              <a:ln w="19050">
                <a:solidFill>
                  <a:srgbClr val="3A6BC4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03" name="Shape 7">
                <a:extLst>
                  <a:ext uri="{FF2B5EF4-FFF2-40B4-BE49-F238E27FC236}">
                    <a16:creationId xmlns:a16="http://schemas.microsoft.com/office/drawing/2014/main" id="{44E85181-0923-EDB5-6E4A-6212FC52ED66}"/>
                  </a:ext>
                </a:extLst>
              </p:cNvPr>
              <p:cNvSpPr/>
              <p:nvPr/>
            </p:nvSpPr>
            <p:spPr>
              <a:xfrm>
                <a:off x="260823" y="1003157"/>
                <a:ext cx="3640136" cy="256032"/>
              </a:xfrm>
              <a:prstGeom prst="rect">
                <a:avLst/>
              </a:prstGeom>
              <a:solidFill>
                <a:srgbClr val="3A6BC4"/>
              </a:solidFill>
              <a:ln w="12700">
                <a:solidFill>
                  <a:srgbClr val="3A6BC4"/>
                </a:solidFill>
                <a:prstDash val="solid"/>
              </a:ln>
            </p:spPr>
            <p:txBody>
              <a:bodyPr wrap="none">
                <a:normAutofit fontScale="62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04" name="Text 8">
                <a:extLst>
                  <a:ext uri="{FF2B5EF4-FFF2-40B4-BE49-F238E27FC236}">
                    <a16:creationId xmlns:a16="http://schemas.microsoft.com/office/drawing/2014/main" id="{97F8269E-3168-B5CA-F015-182920CB3D85}"/>
                  </a:ext>
                </a:extLst>
              </p:cNvPr>
              <p:cNvSpPr/>
              <p:nvPr/>
            </p:nvSpPr>
            <p:spPr>
              <a:xfrm>
                <a:off x="260823" y="1003157"/>
                <a:ext cx="3640136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OpenStack Controller</a:t>
                </a:r>
                <a:endParaRPr lang="en-US" sz="1200" dirty="0"/>
              </a:p>
            </p:txBody>
          </p:sp>
          <p:sp>
            <p:nvSpPr>
              <p:cNvPr id="105" name="Shape 9">
                <a:extLst>
                  <a:ext uri="{FF2B5EF4-FFF2-40B4-BE49-F238E27FC236}">
                    <a16:creationId xmlns:a16="http://schemas.microsoft.com/office/drawing/2014/main" id="{1FF69F13-A4E2-3176-BE52-4D3EFF77BC15}"/>
                  </a:ext>
                </a:extLst>
              </p:cNvPr>
              <p:cNvSpPr/>
              <p:nvPr/>
            </p:nvSpPr>
            <p:spPr>
              <a:xfrm>
                <a:off x="361240" y="132319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06" name="Text 10">
                <a:extLst>
                  <a:ext uri="{FF2B5EF4-FFF2-40B4-BE49-F238E27FC236}">
                    <a16:creationId xmlns:a16="http://schemas.microsoft.com/office/drawing/2014/main" id="{8F8A50ED-B925-1EF5-168A-69113DA053C1}"/>
                  </a:ext>
                </a:extLst>
              </p:cNvPr>
              <p:cNvSpPr/>
              <p:nvPr/>
            </p:nvSpPr>
            <p:spPr>
              <a:xfrm>
                <a:off x="361240" y="132319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Keystone</a:t>
                </a:r>
                <a:endParaRPr lang="en-US" sz="1100" dirty="0"/>
              </a:p>
            </p:txBody>
          </p:sp>
          <p:sp>
            <p:nvSpPr>
              <p:cNvPr id="107" name="Shape 11">
                <a:extLst>
                  <a:ext uri="{FF2B5EF4-FFF2-40B4-BE49-F238E27FC236}">
                    <a16:creationId xmlns:a16="http://schemas.microsoft.com/office/drawing/2014/main" id="{9381B074-5E9C-F51A-A686-C61537F6058D}"/>
                  </a:ext>
                </a:extLst>
              </p:cNvPr>
              <p:cNvSpPr/>
              <p:nvPr/>
            </p:nvSpPr>
            <p:spPr>
              <a:xfrm>
                <a:off x="2118548" y="132319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08" name="Text 12">
                <a:extLst>
                  <a:ext uri="{FF2B5EF4-FFF2-40B4-BE49-F238E27FC236}">
                    <a16:creationId xmlns:a16="http://schemas.microsoft.com/office/drawing/2014/main" id="{EFA46358-DB80-E97D-8570-00691756C35B}"/>
                  </a:ext>
                </a:extLst>
              </p:cNvPr>
              <p:cNvSpPr/>
              <p:nvPr/>
            </p:nvSpPr>
            <p:spPr>
              <a:xfrm>
                <a:off x="2118548" y="132319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Nova</a:t>
                </a:r>
                <a:endParaRPr lang="en-US" sz="1100" dirty="0"/>
              </a:p>
            </p:txBody>
          </p:sp>
          <p:sp>
            <p:nvSpPr>
              <p:cNvPr id="109" name="Shape 13">
                <a:extLst>
                  <a:ext uri="{FF2B5EF4-FFF2-40B4-BE49-F238E27FC236}">
                    <a16:creationId xmlns:a16="http://schemas.microsoft.com/office/drawing/2014/main" id="{E086544A-1A67-9E16-CF07-34D3F7722543}"/>
                  </a:ext>
                </a:extLst>
              </p:cNvPr>
              <p:cNvSpPr/>
              <p:nvPr/>
            </p:nvSpPr>
            <p:spPr>
              <a:xfrm>
                <a:off x="361240" y="191755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 dirty="0"/>
              </a:p>
            </p:txBody>
          </p:sp>
          <p:sp>
            <p:nvSpPr>
              <p:cNvPr id="110" name="Text 14">
                <a:extLst>
                  <a:ext uri="{FF2B5EF4-FFF2-40B4-BE49-F238E27FC236}">
                    <a16:creationId xmlns:a16="http://schemas.microsoft.com/office/drawing/2014/main" id="{97ADE900-5635-F7D1-F0B4-87B2F27D75F1}"/>
                  </a:ext>
                </a:extLst>
              </p:cNvPr>
              <p:cNvSpPr/>
              <p:nvPr/>
            </p:nvSpPr>
            <p:spPr>
              <a:xfrm>
                <a:off x="361240" y="191755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Glance</a:t>
                </a:r>
                <a:endParaRPr lang="en-US" sz="1100" dirty="0"/>
              </a:p>
            </p:txBody>
          </p:sp>
          <p:sp>
            <p:nvSpPr>
              <p:cNvPr id="111" name="Shape 15">
                <a:extLst>
                  <a:ext uri="{FF2B5EF4-FFF2-40B4-BE49-F238E27FC236}">
                    <a16:creationId xmlns:a16="http://schemas.microsoft.com/office/drawing/2014/main" id="{2B1A007F-C808-A812-A40A-B560FAFC9FDB}"/>
                  </a:ext>
                </a:extLst>
              </p:cNvPr>
              <p:cNvSpPr/>
              <p:nvPr/>
            </p:nvSpPr>
            <p:spPr>
              <a:xfrm>
                <a:off x="2118548" y="191755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2" name="Text 16">
                <a:extLst>
                  <a:ext uri="{FF2B5EF4-FFF2-40B4-BE49-F238E27FC236}">
                    <a16:creationId xmlns:a16="http://schemas.microsoft.com/office/drawing/2014/main" id="{68D2F8CC-B107-9AF3-1880-E3326EB32F6A}"/>
                  </a:ext>
                </a:extLst>
              </p:cNvPr>
              <p:cNvSpPr/>
              <p:nvPr/>
            </p:nvSpPr>
            <p:spPr>
              <a:xfrm>
                <a:off x="2118548" y="191755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Neutron</a:t>
                </a:r>
                <a:endParaRPr lang="en-US" sz="1100" dirty="0"/>
              </a:p>
            </p:txBody>
          </p:sp>
          <p:sp>
            <p:nvSpPr>
              <p:cNvPr id="113" name="Shape 17">
                <a:extLst>
                  <a:ext uri="{FF2B5EF4-FFF2-40B4-BE49-F238E27FC236}">
                    <a16:creationId xmlns:a16="http://schemas.microsoft.com/office/drawing/2014/main" id="{8012A4D0-AC4C-2A63-79E4-2385F48B103D}"/>
                  </a:ext>
                </a:extLst>
              </p:cNvPr>
              <p:cNvSpPr/>
              <p:nvPr/>
            </p:nvSpPr>
            <p:spPr>
              <a:xfrm>
                <a:off x="361240" y="251191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4" name="Text 18">
                <a:extLst>
                  <a:ext uri="{FF2B5EF4-FFF2-40B4-BE49-F238E27FC236}">
                    <a16:creationId xmlns:a16="http://schemas.microsoft.com/office/drawing/2014/main" id="{C1AA0EC7-3339-108A-F6CA-9AC1F57CCA50}"/>
                  </a:ext>
                </a:extLst>
              </p:cNvPr>
              <p:cNvSpPr/>
              <p:nvPr/>
            </p:nvSpPr>
            <p:spPr>
              <a:xfrm>
                <a:off x="361240" y="251191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Placement</a:t>
                </a:r>
                <a:endParaRPr lang="en-US" sz="1100" dirty="0"/>
              </a:p>
            </p:txBody>
          </p:sp>
          <p:sp>
            <p:nvSpPr>
              <p:cNvPr id="115" name="Shape 19">
                <a:extLst>
                  <a:ext uri="{FF2B5EF4-FFF2-40B4-BE49-F238E27FC236}">
                    <a16:creationId xmlns:a16="http://schemas.microsoft.com/office/drawing/2014/main" id="{8B130FA9-8B2F-ECE7-21AB-C6628B9015B1}"/>
                  </a:ext>
                </a:extLst>
              </p:cNvPr>
              <p:cNvSpPr/>
              <p:nvPr/>
            </p:nvSpPr>
            <p:spPr>
              <a:xfrm>
                <a:off x="2118548" y="2511917"/>
                <a:ext cx="1631785" cy="457200"/>
              </a:xfrm>
              <a:prstGeom prst="rect">
                <a:avLst/>
              </a:prstGeom>
              <a:solidFill>
                <a:srgbClr val="D6E4FF"/>
              </a:solidFill>
              <a:ln w="12700">
                <a:solidFill>
                  <a:srgbClr val="5B8DD9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6" name="Text 20">
                <a:extLst>
                  <a:ext uri="{FF2B5EF4-FFF2-40B4-BE49-F238E27FC236}">
                    <a16:creationId xmlns:a16="http://schemas.microsoft.com/office/drawing/2014/main" id="{8F68AB61-7E40-86FD-1FE4-7AFF972028F5}"/>
                  </a:ext>
                </a:extLst>
              </p:cNvPr>
              <p:cNvSpPr/>
              <p:nvPr/>
            </p:nvSpPr>
            <p:spPr>
              <a:xfrm>
                <a:off x="2118548" y="2511917"/>
                <a:ext cx="1631785" cy="45720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Horizon</a:t>
                </a:r>
                <a:endParaRPr lang="en-US" sz="1100" dirty="0"/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A5174AA-EB0C-79DC-A6B0-D02A2FD8B01D}"/>
                </a:ext>
              </a:extLst>
            </p:cNvPr>
            <p:cNvGrpSpPr/>
            <p:nvPr/>
          </p:nvGrpSpPr>
          <p:grpSpPr>
            <a:xfrm>
              <a:off x="259229" y="4730838"/>
              <a:ext cx="3640136" cy="905256"/>
              <a:chOff x="260823" y="3426317"/>
              <a:chExt cx="3640136" cy="905256"/>
            </a:xfrm>
          </p:grpSpPr>
          <p:sp>
            <p:nvSpPr>
              <p:cNvPr id="117" name="Shape 21">
                <a:extLst>
                  <a:ext uri="{FF2B5EF4-FFF2-40B4-BE49-F238E27FC236}">
                    <a16:creationId xmlns:a16="http://schemas.microsoft.com/office/drawing/2014/main" id="{BF598261-CDBB-15A0-90F8-0DE9FF6819E2}"/>
                  </a:ext>
                </a:extLst>
              </p:cNvPr>
              <p:cNvSpPr/>
              <p:nvPr/>
            </p:nvSpPr>
            <p:spPr>
              <a:xfrm>
                <a:off x="260823" y="3426317"/>
                <a:ext cx="3640136" cy="905256"/>
              </a:xfrm>
              <a:prstGeom prst="rect">
                <a:avLst/>
              </a:prstGeom>
              <a:solidFill>
                <a:srgbClr val="F3E5F5"/>
              </a:solidFill>
              <a:ln w="19050">
                <a:solidFill>
                  <a:srgbClr val="7B1FA2"/>
                </a:solidFill>
                <a:prstDash val="solid"/>
              </a:ln>
            </p:spPr>
            <p:txBody>
              <a:bodyPr wrap="none">
                <a:normAutofit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8" name="Shape 22">
                <a:extLst>
                  <a:ext uri="{FF2B5EF4-FFF2-40B4-BE49-F238E27FC236}">
                    <a16:creationId xmlns:a16="http://schemas.microsoft.com/office/drawing/2014/main" id="{84E3C2F8-246A-256F-D853-C01922376223}"/>
                  </a:ext>
                </a:extLst>
              </p:cNvPr>
              <p:cNvSpPr/>
              <p:nvPr/>
            </p:nvSpPr>
            <p:spPr>
              <a:xfrm>
                <a:off x="260823" y="3426317"/>
                <a:ext cx="3640136" cy="256032"/>
              </a:xfrm>
              <a:prstGeom prst="rect">
                <a:avLst/>
              </a:prstGeom>
              <a:solidFill>
                <a:srgbClr val="7B1FA2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>
                <a:normAutofit fontScale="40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19" name="Text 23">
                <a:extLst>
                  <a:ext uri="{FF2B5EF4-FFF2-40B4-BE49-F238E27FC236}">
                    <a16:creationId xmlns:a16="http://schemas.microsoft.com/office/drawing/2014/main" id="{6DF5FEA7-3401-655C-D398-9A9E2A1EED40}"/>
                  </a:ext>
                </a:extLst>
              </p:cNvPr>
              <p:cNvSpPr/>
              <p:nvPr/>
            </p:nvSpPr>
            <p:spPr>
              <a:xfrm>
                <a:off x="260823" y="3426317"/>
                <a:ext cx="3640136" cy="25603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모니터링</a:t>
                </a:r>
                <a:endParaRPr lang="en-US" sz="1200" dirty="0"/>
              </a:p>
            </p:txBody>
          </p:sp>
          <p:sp>
            <p:nvSpPr>
              <p:cNvPr id="120" name="Shape 24">
                <a:extLst>
                  <a:ext uri="{FF2B5EF4-FFF2-40B4-BE49-F238E27FC236}">
                    <a16:creationId xmlns:a16="http://schemas.microsoft.com/office/drawing/2014/main" id="{7E1F62CA-3316-729D-94F9-FDDBA5E06E8C}"/>
                  </a:ext>
                </a:extLst>
              </p:cNvPr>
              <p:cNvSpPr/>
              <p:nvPr/>
            </p:nvSpPr>
            <p:spPr>
              <a:xfrm>
                <a:off x="361240" y="3773789"/>
                <a:ext cx="1569024" cy="411480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>
                <a:normAutofit fontScale="7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1" name="Text 25">
                <a:extLst>
                  <a:ext uri="{FF2B5EF4-FFF2-40B4-BE49-F238E27FC236}">
                    <a16:creationId xmlns:a16="http://schemas.microsoft.com/office/drawing/2014/main" id="{29893279-D9EB-4FF3-8582-759D56C6438C}"/>
                  </a:ext>
                </a:extLst>
              </p:cNvPr>
              <p:cNvSpPr/>
              <p:nvPr/>
            </p:nvSpPr>
            <p:spPr>
              <a:xfrm>
                <a:off x="361240" y="3773789"/>
                <a:ext cx="1569024" cy="41148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Prometheus</a:t>
                </a:r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(서비스)</a:t>
                </a:r>
                <a:endParaRPr lang="en-US" sz="1100" dirty="0"/>
              </a:p>
            </p:txBody>
          </p:sp>
          <p:sp>
            <p:nvSpPr>
              <p:cNvPr id="122" name="Shape 26">
                <a:extLst>
                  <a:ext uri="{FF2B5EF4-FFF2-40B4-BE49-F238E27FC236}">
                    <a16:creationId xmlns:a16="http://schemas.microsoft.com/office/drawing/2014/main" id="{6E4A8108-4BB7-906E-CB89-4B3F382F98E8}"/>
                  </a:ext>
                </a:extLst>
              </p:cNvPr>
              <p:cNvSpPr/>
              <p:nvPr/>
            </p:nvSpPr>
            <p:spPr>
              <a:xfrm>
                <a:off x="2055787" y="3773789"/>
                <a:ext cx="1569024" cy="411480"/>
              </a:xfrm>
              <a:prstGeom prst="rect">
                <a:avLst/>
              </a:prstGeom>
              <a:solidFill>
                <a:srgbClr val="EDE7F6"/>
              </a:solidFill>
              <a:ln w="12700">
                <a:solidFill>
                  <a:srgbClr val="7B1FA2"/>
                </a:solidFill>
                <a:prstDash val="solid"/>
              </a:ln>
            </p:spPr>
            <p:txBody>
              <a:bodyPr wrap="none">
                <a:normAutofit fontScale="7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3" name="Text 27">
                <a:extLst>
                  <a:ext uri="{FF2B5EF4-FFF2-40B4-BE49-F238E27FC236}">
                    <a16:creationId xmlns:a16="http://schemas.microsoft.com/office/drawing/2014/main" id="{E7752BA9-0517-3AF5-7D34-C36306EBE7EC}"/>
                  </a:ext>
                </a:extLst>
              </p:cNvPr>
              <p:cNvSpPr/>
              <p:nvPr/>
            </p:nvSpPr>
            <p:spPr>
              <a:xfrm>
                <a:off x="2055787" y="3773789"/>
                <a:ext cx="1569024" cy="411480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Grafana</a:t>
                </a:r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222222"/>
                    </a:solidFill>
                  </a:rPr>
                  <a:t>(서비스)</a:t>
                </a:r>
                <a:endParaRPr 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7A97BDC-7E36-3224-9E07-E30F2E4B7AE2}"/>
                </a:ext>
              </a:extLst>
            </p:cNvPr>
            <p:cNvGrpSpPr/>
            <p:nvPr/>
          </p:nvGrpSpPr>
          <p:grpSpPr>
            <a:xfrm>
              <a:off x="221573" y="5960915"/>
              <a:ext cx="3665240" cy="496428"/>
              <a:chOff x="235719" y="6194297"/>
              <a:chExt cx="3665240" cy="496428"/>
            </a:xfrm>
          </p:grpSpPr>
          <p:sp>
            <p:nvSpPr>
              <p:cNvPr id="126" name="Shape 30">
                <a:extLst>
                  <a:ext uri="{FF2B5EF4-FFF2-40B4-BE49-F238E27FC236}">
                    <a16:creationId xmlns:a16="http://schemas.microsoft.com/office/drawing/2014/main" id="{FB2E9E6A-CC21-0377-D772-EE607920B649}"/>
                  </a:ext>
                </a:extLst>
              </p:cNvPr>
              <p:cNvSpPr/>
              <p:nvPr/>
            </p:nvSpPr>
            <p:spPr>
              <a:xfrm>
                <a:off x="235719" y="6194297"/>
                <a:ext cx="3640136" cy="457200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 wrap="none">
                <a:normAutofit fontScale="85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127" name="Text 31">
                <a:extLst>
                  <a:ext uri="{FF2B5EF4-FFF2-40B4-BE49-F238E27FC236}">
                    <a16:creationId xmlns:a16="http://schemas.microsoft.com/office/drawing/2014/main" id="{8EDDCD9A-E96A-4F7F-ACA0-447E59C69A34}"/>
                  </a:ext>
                </a:extLst>
              </p:cNvPr>
              <p:cNvSpPr/>
              <p:nvPr/>
            </p:nvSpPr>
            <p:spPr>
              <a:xfrm>
                <a:off x="260823" y="6233525"/>
                <a:ext cx="3640136" cy="457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333333"/>
                    </a:solidFill>
                  </a:rPr>
                  <a:t>OS (Ubuntu)</a:t>
                </a:r>
                <a:endParaRPr lang="en-US" sz="1100" dirty="0"/>
              </a:p>
            </p:txBody>
          </p:sp>
        </p:grp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53FEB46-F0F6-4CED-D733-B28AA103F45F}"/>
              </a:ext>
            </a:extLst>
          </p:cNvPr>
          <p:cNvGrpSpPr/>
          <p:nvPr/>
        </p:nvGrpSpPr>
        <p:grpSpPr>
          <a:xfrm>
            <a:off x="0" y="0"/>
            <a:ext cx="12192000" cy="585216"/>
            <a:chOff x="0" y="0"/>
            <a:chExt cx="12192000" cy="585216"/>
          </a:xfrm>
        </p:grpSpPr>
        <p:sp>
          <p:nvSpPr>
            <p:cNvPr id="168" name="Shape 0">
              <a:extLst>
                <a:ext uri="{FF2B5EF4-FFF2-40B4-BE49-F238E27FC236}">
                  <a16:creationId xmlns:a16="http://schemas.microsoft.com/office/drawing/2014/main" id="{47CDE29F-E09E-C0EC-F663-7A9972709A64}"/>
                </a:ext>
              </a:extLst>
            </p:cNvPr>
            <p:cNvSpPr/>
            <p:nvPr/>
          </p:nvSpPr>
          <p:spPr>
            <a:xfrm>
              <a:off x="0" y="0"/>
              <a:ext cx="12192000" cy="585216"/>
            </a:xfrm>
            <a:prstGeom prst="rect">
              <a:avLst/>
            </a:prstGeom>
            <a:solidFill>
              <a:srgbClr val="0F3A75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169" name="Text 1">
              <a:extLst>
                <a:ext uri="{FF2B5EF4-FFF2-40B4-BE49-F238E27FC236}">
                  <a16:creationId xmlns:a16="http://schemas.microsoft.com/office/drawing/2014/main" id="{0594CE3B-04AA-68AC-55FA-22F883980C55}"/>
                </a:ext>
              </a:extLst>
            </p:cNvPr>
            <p:cNvSpPr/>
            <p:nvPr/>
          </p:nvSpPr>
          <p:spPr>
            <a:xfrm>
              <a:off x="304800" y="0"/>
              <a:ext cx="9753600" cy="5852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r>
                <a:rPr lang="en-US" b="1" dirty="0">
                  <a:solidFill>
                    <a:srgbClr val="FFFFFF"/>
                  </a:solidFill>
                </a:rPr>
                <a:t>OpenStack </a:t>
              </a:r>
              <a:r>
                <a:rPr lang="ko-KR" altLang="en-US" b="1" dirty="0">
                  <a:solidFill>
                    <a:srgbClr val="FFFFFF"/>
                  </a:solidFill>
                </a:rPr>
                <a:t>전체 </a:t>
              </a:r>
              <a:r>
                <a:rPr lang="en-US" b="1" dirty="0" err="1">
                  <a:solidFill>
                    <a:srgbClr val="FFFFFF"/>
                  </a:solidFill>
                </a:rPr>
                <a:t>구조도</a:t>
              </a:r>
              <a:r>
                <a:rPr lang="en-US" b="1" dirty="0">
                  <a:solidFill>
                    <a:srgbClr val="FFFFFF"/>
                  </a:solidFill>
                </a:rPr>
                <a:t> (96GB </a:t>
              </a:r>
              <a:r>
                <a:rPr lang="ko-KR" altLang="en-US" b="1" dirty="0">
                  <a:solidFill>
                    <a:srgbClr val="FFFFFF"/>
                  </a:solidFill>
                </a:rPr>
                <a:t>벤치마크 실험</a:t>
              </a:r>
              <a:r>
                <a:rPr lang="en-US" altLang="ko-KR" b="1" dirty="0">
                  <a:solidFill>
                    <a:srgbClr val="FFFFFF"/>
                  </a:solidFill>
                </a:rPr>
                <a:t>)</a:t>
              </a:r>
              <a:endParaRPr lang="en-US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5AA2110-2A60-1AE5-1304-B18243CEB7FB}"/>
              </a:ext>
            </a:extLst>
          </p:cNvPr>
          <p:cNvGrpSpPr/>
          <p:nvPr/>
        </p:nvGrpSpPr>
        <p:grpSpPr>
          <a:xfrm>
            <a:off x="4150410" y="655685"/>
            <a:ext cx="3891180" cy="6126480"/>
            <a:chOff x="4150410" y="655685"/>
            <a:chExt cx="3891180" cy="6126480"/>
          </a:xfrm>
        </p:grpSpPr>
        <p:sp>
          <p:nvSpPr>
            <p:cNvPr id="173" name="Text 34">
              <a:extLst>
                <a:ext uri="{FF2B5EF4-FFF2-40B4-BE49-F238E27FC236}">
                  <a16:creationId xmlns:a16="http://schemas.microsoft.com/office/drawing/2014/main" id="{700C423A-F95B-297C-A59B-96AD9B6F3797}"/>
                </a:ext>
              </a:extLst>
            </p:cNvPr>
            <p:cNvSpPr/>
            <p:nvPr/>
          </p:nvSpPr>
          <p:spPr>
            <a:xfrm>
              <a:off x="4150410" y="655685"/>
              <a:ext cx="389118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Compute Node 1  —  RTX Pro 6000 Blackwell</a:t>
              </a:r>
              <a:endParaRPr lang="en-US" sz="1200" dirty="0"/>
            </a:p>
          </p:txBody>
        </p:sp>
        <p:sp>
          <p:nvSpPr>
            <p:cNvPr id="8" name="Shape 32">
              <a:extLst>
                <a:ext uri="{FF2B5EF4-FFF2-40B4-BE49-F238E27FC236}">
                  <a16:creationId xmlns:a16="http://schemas.microsoft.com/office/drawing/2014/main" id="{21942456-7ACB-D574-CC5E-8F827F115BF9}"/>
                </a:ext>
              </a:extLst>
            </p:cNvPr>
            <p:cNvSpPr/>
            <p:nvPr/>
          </p:nvSpPr>
          <p:spPr>
            <a:xfrm>
              <a:off x="4150410" y="655685"/>
              <a:ext cx="3891180" cy="6126480"/>
            </a:xfrm>
            <a:prstGeom prst="rect">
              <a:avLst/>
            </a:prstGeom>
            <a:solidFill>
              <a:srgbClr val="E8F5E9"/>
            </a:solidFill>
            <a:ln w="19050">
              <a:solidFill>
                <a:srgbClr val="388E3C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9" name="Shape 33">
              <a:extLst>
                <a:ext uri="{FF2B5EF4-FFF2-40B4-BE49-F238E27FC236}">
                  <a16:creationId xmlns:a16="http://schemas.microsoft.com/office/drawing/2014/main" id="{56B8FFA6-7557-C6F6-C71F-3212F6C076B0}"/>
                </a:ext>
              </a:extLst>
            </p:cNvPr>
            <p:cNvSpPr/>
            <p:nvPr/>
          </p:nvSpPr>
          <p:spPr>
            <a:xfrm>
              <a:off x="4150410" y="655685"/>
              <a:ext cx="3891180" cy="256032"/>
            </a:xfrm>
            <a:prstGeom prst="rect">
              <a:avLst/>
            </a:prstGeom>
            <a:solidFill>
              <a:srgbClr val="388E3C"/>
            </a:solidFill>
            <a:ln w="12700">
              <a:solidFill>
                <a:srgbClr val="388E3C"/>
              </a:solidFill>
              <a:prstDash val="solid"/>
            </a:ln>
          </p:spPr>
          <p:txBody>
            <a:bodyPr wrap="none">
              <a:normAutofit fontScale="400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10" name="Text 34">
              <a:extLst>
                <a:ext uri="{FF2B5EF4-FFF2-40B4-BE49-F238E27FC236}">
                  <a16:creationId xmlns:a16="http://schemas.microsoft.com/office/drawing/2014/main" id="{8D90A13A-61F6-10D7-E283-65DA2114C063}"/>
                </a:ext>
              </a:extLst>
            </p:cNvPr>
            <p:cNvSpPr/>
            <p:nvPr/>
          </p:nvSpPr>
          <p:spPr>
            <a:xfrm>
              <a:off x="4150410" y="655685"/>
              <a:ext cx="389118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Compute Node 1  —  RTX Pro 6000 Blackwell</a:t>
              </a:r>
              <a:endParaRPr lang="en-US" sz="1200" dirty="0"/>
            </a:p>
          </p:txBody>
        </p:sp>
        <p:sp>
          <p:nvSpPr>
            <p:cNvPr id="11" name="Shape 35">
              <a:extLst>
                <a:ext uri="{FF2B5EF4-FFF2-40B4-BE49-F238E27FC236}">
                  <a16:creationId xmlns:a16="http://schemas.microsoft.com/office/drawing/2014/main" id="{68B81987-6654-1513-73CD-D8B697BAF8F1}"/>
                </a:ext>
              </a:extLst>
            </p:cNvPr>
            <p:cNvSpPr/>
            <p:nvPr/>
          </p:nvSpPr>
          <p:spPr>
            <a:xfrm>
              <a:off x="4275932" y="975725"/>
              <a:ext cx="3640136" cy="292608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1B5E20"/>
              </a:solidFill>
              <a:prstDash val="solid"/>
            </a:ln>
          </p:spPr>
          <p:txBody>
            <a:bodyPr wrap="none">
              <a:normAutofit fontScale="475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12" name="Text 36">
              <a:extLst>
                <a:ext uri="{FF2B5EF4-FFF2-40B4-BE49-F238E27FC236}">
                  <a16:creationId xmlns:a16="http://schemas.microsoft.com/office/drawing/2014/main" id="{55FDDDD4-3158-4A5C-0B81-7E496128470A}"/>
                </a:ext>
              </a:extLst>
            </p:cNvPr>
            <p:cNvSpPr/>
            <p:nvPr/>
          </p:nvSpPr>
          <p:spPr>
            <a:xfrm>
              <a:off x="4275932" y="975725"/>
              <a:ext cx="3640136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RTX Pro 6000 Blackwell 1장  Passthrough →  VM 1</a:t>
              </a:r>
              <a:r>
                <a:rPr lang="ko-KR" altLang="en-US" sz="1050" b="1" dirty="0">
                  <a:solidFill>
                    <a:srgbClr val="FFFFFF"/>
                  </a:solidFill>
                </a:rPr>
                <a:t>개 전용 할당</a:t>
              </a:r>
              <a:endParaRPr lang="en-US" sz="1050" dirty="0"/>
            </a:p>
          </p:txBody>
        </p:sp>
        <p:sp>
          <p:nvSpPr>
            <p:cNvPr id="14" name="Shape 55">
              <a:extLst>
                <a:ext uri="{FF2B5EF4-FFF2-40B4-BE49-F238E27FC236}">
                  <a16:creationId xmlns:a16="http://schemas.microsoft.com/office/drawing/2014/main" id="{316425DB-6CE7-F12F-1DFB-ECDF235FF7F8}"/>
                </a:ext>
              </a:extLst>
            </p:cNvPr>
            <p:cNvSpPr/>
            <p:nvPr/>
          </p:nvSpPr>
          <p:spPr>
            <a:xfrm>
              <a:off x="4275932" y="6120000"/>
              <a:ext cx="3640136" cy="292608"/>
            </a:xfrm>
            <a:prstGeom prst="rect">
              <a:avLst/>
            </a:prstGeom>
            <a:solidFill>
              <a:srgbClr val="607D8B"/>
            </a:solidFill>
            <a:ln w="12700">
              <a:solidFill>
                <a:srgbClr val="607D8B"/>
              </a:solidFill>
              <a:prstDash val="solid"/>
            </a:ln>
          </p:spPr>
          <p:txBody>
            <a:bodyPr wrap="none">
              <a:normAutofit fontScale="47500" lnSpcReduction="20000"/>
            </a:bodyPr>
            <a:lstStyle/>
            <a:p>
              <a:endParaRPr lang="ko-KR" altLang="en-US" sz="3200" dirty="0"/>
            </a:p>
          </p:txBody>
        </p:sp>
        <p:sp>
          <p:nvSpPr>
            <p:cNvPr id="15" name="Text 56">
              <a:extLst>
                <a:ext uri="{FF2B5EF4-FFF2-40B4-BE49-F238E27FC236}">
                  <a16:creationId xmlns:a16="http://schemas.microsoft.com/office/drawing/2014/main" id="{BB637FB0-6934-D2D8-AB56-B6FCD70F1555}"/>
                </a:ext>
              </a:extLst>
            </p:cNvPr>
            <p:cNvSpPr/>
            <p:nvPr/>
          </p:nvSpPr>
          <p:spPr>
            <a:xfrm>
              <a:off x="4275932" y="6120000"/>
              <a:ext cx="3640136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하이퍼바이저 (KVM) / Nova-compute</a:t>
              </a:r>
              <a:endParaRPr lang="en-US" sz="1100" dirty="0"/>
            </a:p>
          </p:txBody>
        </p:sp>
        <p:sp>
          <p:nvSpPr>
            <p:cNvPr id="16" name="Shape 57">
              <a:extLst>
                <a:ext uri="{FF2B5EF4-FFF2-40B4-BE49-F238E27FC236}">
                  <a16:creationId xmlns:a16="http://schemas.microsoft.com/office/drawing/2014/main" id="{D5BB6DCC-709A-3831-266A-74514B2B1470}"/>
                </a:ext>
              </a:extLst>
            </p:cNvPr>
            <p:cNvSpPr/>
            <p:nvPr/>
          </p:nvSpPr>
          <p:spPr>
            <a:xfrm>
              <a:off x="4275932" y="6440040"/>
              <a:ext cx="3640136" cy="201168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 wrap="none">
              <a:normAutofit fontScale="250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17" name="Text 58">
              <a:extLst>
                <a:ext uri="{FF2B5EF4-FFF2-40B4-BE49-F238E27FC236}">
                  <a16:creationId xmlns:a16="http://schemas.microsoft.com/office/drawing/2014/main" id="{6FC816E6-CD4D-BB8B-F498-0B8A3F7C3253}"/>
                </a:ext>
              </a:extLst>
            </p:cNvPr>
            <p:cNvSpPr/>
            <p:nvPr/>
          </p:nvSpPr>
          <p:spPr>
            <a:xfrm>
              <a:off x="4275932" y="6440040"/>
              <a:ext cx="3640136" cy="2011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</a:rPr>
                <a:t>OS (Ubuntu)  </a:t>
              </a:r>
              <a:endParaRPr lang="en-US" sz="1050" dirty="0"/>
            </a:p>
          </p:txBody>
        </p:sp>
        <p:sp>
          <p:nvSpPr>
            <p:cNvPr id="19" name="Shape 37">
              <a:extLst>
                <a:ext uri="{FF2B5EF4-FFF2-40B4-BE49-F238E27FC236}">
                  <a16:creationId xmlns:a16="http://schemas.microsoft.com/office/drawing/2014/main" id="{B7232196-D6C8-EF98-9152-140D92892AFE}"/>
                </a:ext>
              </a:extLst>
            </p:cNvPr>
            <p:cNvSpPr/>
            <p:nvPr/>
          </p:nvSpPr>
          <p:spPr>
            <a:xfrm>
              <a:off x="4275932" y="1368916"/>
              <a:ext cx="3640136" cy="3429002"/>
            </a:xfrm>
            <a:prstGeom prst="rect">
              <a:avLst/>
            </a:prstGeom>
            <a:solidFill>
              <a:srgbClr val="F9FBE7"/>
            </a:solidFill>
            <a:ln w="19050">
              <a:solidFill>
                <a:srgbClr val="7CB342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20" name="Shape 38">
              <a:extLst>
                <a:ext uri="{FF2B5EF4-FFF2-40B4-BE49-F238E27FC236}">
                  <a16:creationId xmlns:a16="http://schemas.microsoft.com/office/drawing/2014/main" id="{849372C5-1A72-C8F5-8455-1798BA2C5806}"/>
                </a:ext>
              </a:extLst>
            </p:cNvPr>
            <p:cNvSpPr/>
            <p:nvPr/>
          </p:nvSpPr>
          <p:spPr>
            <a:xfrm>
              <a:off x="4275932" y="1368916"/>
              <a:ext cx="3640136" cy="315646"/>
            </a:xfrm>
            <a:prstGeom prst="rect">
              <a:avLst/>
            </a:prstGeom>
            <a:solidFill>
              <a:srgbClr val="7CB342"/>
            </a:solidFill>
            <a:ln w="12700">
              <a:solidFill>
                <a:srgbClr val="7CB342"/>
              </a:solidFill>
              <a:prstDash val="solid"/>
            </a:ln>
          </p:spPr>
          <p:txBody>
            <a:bodyPr wrap="none">
              <a:normAutofit fontScale="475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21" name="Text 39">
              <a:extLst>
                <a:ext uri="{FF2B5EF4-FFF2-40B4-BE49-F238E27FC236}">
                  <a16:creationId xmlns:a16="http://schemas.microsoft.com/office/drawing/2014/main" id="{51C6BBE6-1F71-4F86-68D9-29A5E00D3043}"/>
                </a:ext>
              </a:extLst>
            </p:cNvPr>
            <p:cNvSpPr/>
            <p:nvPr/>
          </p:nvSpPr>
          <p:spPr>
            <a:xfrm>
              <a:off x="4275932" y="1368916"/>
              <a:ext cx="3640136" cy="315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VM-expensive  </a:t>
              </a:r>
              <a:endParaRPr lang="en-US" sz="1200" dirty="0"/>
            </a:p>
          </p:txBody>
        </p:sp>
        <p:sp>
          <p:nvSpPr>
            <p:cNvPr id="22" name="Shape 40">
              <a:extLst>
                <a:ext uri="{FF2B5EF4-FFF2-40B4-BE49-F238E27FC236}">
                  <a16:creationId xmlns:a16="http://schemas.microsoft.com/office/drawing/2014/main" id="{A4C5F09D-B3C3-C5BE-8E05-8119FD6AF094}"/>
                </a:ext>
              </a:extLst>
            </p:cNvPr>
            <p:cNvSpPr/>
            <p:nvPr/>
          </p:nvSpPr>
          <p:spPr>
            <a:xfrm>
              <a:off x="4376349" y="1763474"/>
              <a:ext cx="3439301" cy="620018"/>
            </a:xfrm>
            <a:prstGeom prst="rect">
              <a:avLst/>
            </a:prstGeom>
            <a:solidFill>
              <a:srgbClr val="E3F2FD"/>
            </a:solidFill>
            <a:ln w="12700">
              <a:solidFill>
                <a:srgbClr val="1976D2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23" name="Text 41">
              <a:extLst>
                <a:ext uri="{FF2B5EF4-FFF2-40B4-BE49-F238E27FC236}">
                  <a16:creationId xmlns:a16="http://schemas.microsoft.com/office/drawing/2014/main" id="{66DF5105-C384-52D4-C171-8F44DE3DBB46}"/>
                </a:ext>
              </a:extLst>
            </p:cNvPr>
            <p:cNvSpPr/>
            <p:nvPr/>
          </p:nvSpPr>
          <p:spPr>
            <a:xfrm>
              <a:off x="4376349" y="1763474"/>
              <a:ext cx="3439301" cy="620018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D47A1"/>
                  </a:solidFill>
                </a:rPr>
                <a:t>Docker  :  사용자 작업 실행</a:t>
              </a:r>
              <a:endParaRPr lang="en-US" sz="1100" dirty="0"/>
            </a:p>
          </p:txBody>
        </p:sp>
        <p:sp>
          <p:nvSpPr>
            <p:cNvPr id="24" name="Shape 42">
              <a:extLst>
                <a:ext uri="{FF2B5EF4-FFF2-40B4-BE49-F238E27FC236}">
                  <a16:creationId xmlns:a16="http://schemas.microsoft.com/office/drawing/2014/main" id="{CDF33746-7162-5CFB-C30F-37B18CFD87FB}"/>
                </a:ext>
              </a:extLst>
            </p:cNvPr>
            <p:cNvSpPr/>
            <p:nvPr/>
          </p:nvSpPr>
          <p:spPr>
            <a:xfrm>
              <a:off x="4376346" y="2595753"/>
              <a:ext cx="3439301" cy="609976"/>
            </a:xfrm>
            <a:prstGeom prst="rect">
              <a:avLst/>
            </a:prstGeom>
            <a:solidFill>
              <a:srgbClr val="EDE7F6"/>
            </a:solidFill>
            <a:ln w="12700">
              <a:solidFill>
                <a:srgbClr val="7B1FA2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dirty="0">
                  <a:solidFill>
                    <a:srgbClr val="222222"/>
                  </a:solidFill>
                </a:rPr>
                <a:t>DCGM Exporter</a:t>
              </a:r>
              <a:endParaRPr lang="en-US" altLang="ko-KR" sz="1100" dirty="0"/>
            </a:p>
          </p:txBody>
        </p:sp>
        <p:sp>
          <p:nvSpPr>
            <p:cNvPr id="25" name="Shape 44">
              <a:extLst>
                <a:ext uri="{FF2B5EF4-FFF2-40B4-BE49-F238E27FC236}">
                  <a16:creationId xmlns:a16="http://schemas.microsoft.com/office/drawing/2014/main" id="{733F3C17-EE2F-7626-F408-45FCDA334243}"/>
                </a:ext>
              </a:extLst>
            </p:cNvPr>
            <p:cNvSpPr/>
            <p:nvPr/>
          </p:nvSpPr>
          <p:spPr>
            <a:xfrm>
              <a:off x="4376347" y="3546580"/>
              <a:ext cx="3439300" cy="79413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rgbClr val="263238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b="1" dirty="0">
                  <a:solidFill>
                    <a:srgbClr val="FFFFFF"/>
                  </a:solidFill>
                </a:rPr>
                <a:t>Pro 6000 Blackwell (MIG disable) (96GB)</a:t>
              </a:r>
              <a:endParaRPr lang="en-US" altLang="ko-KR" sz="1100" dirty="0"/>
            </a:p>
          </p:txBody>
        </p:sp>
        <p:sp>
          <p:nvSpPr>
            <p:cNvPr id="27" name="Shape 44">
              <a:extLst>
                <a:ext uri="{FF2B5EF4-FFF2-40B4-BE49-F238E27FC236}">
                  <a16:creationId xmlns:a16="http://schemas.microsoft.com/office/drawing/2014/main" id="{F34F33C5-16CA-F386-A46F-B7BC508A71B9}"/>
                </a:ext>
              </a:extLst>
            </p:cNvPr>
            <p:cNvSpPr/>
            <p:nvPr/>
          </p:nvSpPr>
          <p:spPr>
            <a:xfrm>
              <a:off x="4376348" y="4958807"/>
              <a:ext cx="3439301" cy="428377"/>
            </a:xfrm>
            <a:prstGeom prst="rect">
              <a:avLst/>
            </a:prstGeom>
            <a:solidFill>
              <a:srgbClr val="263238"/>
            </a:solidFill>
            <a:ln w="12700">
              <a:solidFill>
                <a:srgbClr val="263238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b="1" dirty="0">
                  <a:solidFill>
                    <a:srgbClr val="FFFFFF"/>
                  </a:solidFill>
                </a:rPr>
                <a:t>Pro 6000 Blackwell (Passthrough) (96GB)</a:t>
              </a:r>
              <a:endParaRPr lang="en-US" altLang="ko-KR" sz="11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8A0B7C-5788-AB6C-5C83-5714184B4F4C}"/>
              </a:ext>
            </a:extLst>
          </p:cNvPr>
          <p:cNvGrpSpPr/>
          <p:nvPr/>
        </p:nvGrpSpPr>
        <p:grpSpPr>
          <a:xfrm>
            <a:off x="8167112" y="655685"/>
            <a:ext cx="3891180" cy="6126480"/>
            <a:chOff x="8167112" y="655685"/>
            <a:chExt cx="3891180" cy="6126480"/>
          </a:xfrm>
        </p:grpSpPr>
        <p:sp>
          <p:nvSpPr>
            <p:cNvPr id="29" name="Shape 59">
              <a:extLst>
                <a:ext uri="{FF2B5EF4-FFF2-40B4-BE49-F238E27FC236}">
                  <a16:creationId xmlns:a16="http://schemas.microsoft.com/office/drawing/2014/main" id="{1002B747-8357-B453-E780-AF17E2576044}"/>
                </a:ext>
              </a:extLst>
            </p:cNvPr>
            <p:cNvSpPr/>
            <p:nvPr/>
          </p:nvSpPr>
          <p:spPr>
            <a:xfrm>
              <a:off x="8167112" y="655685"/>
              <a:ext cx="3891180" cy="6126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F6C00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30" name="Shape 60">
              <a:extLst>
                <a:ext uri="{FF2B5EF4-FFF2-40B4-BE49-F238E27FC236}">
                  <a16:creationId xmlns:a16="http://schemas.microsoft.com/office/drawing/2014/main" id="{BA424831-81C0-268C-58A3-8BF3151B9229}"/>
                </a:ext>
              </a:extLst>
            </p:cNvPr>
            <p:cNvSpPr/>
            <p:nvPr/>
          </p:nvSpPr>
          <p:spPr>
            <a:xfrm>
              <a:off x="8167112" y="655685"/>
              <a:ext cx="3891180" cy="256032"/>
            </a:xfrm>
            <a:prstGeom prst="rect">
              <a:avLst/>
            </a:prstGeom>
            <a:solidFill>
              <a:srgbClr val="EF6C00"/>
            </a:solidFill>
            <a:ln w="12700">
              <a:solidFill>
                <a:srgbClr val="EF6C00"/>
              </a:solidFill>
              <a:prstDash val="solid"/>
            </a:ln>
          </p:spPr>
          <p:txBody>
            <a:bodyPr wrap="none">
              <a:normAutofit fontScale="400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31" name="Text 61">
              <a:extLst>
                <a:ext uri="{FF2B5EF4-FFF2-40B4-BE49-F238E27FC236}">
                  <a16:creationId xmlns:a16="http://schemas.microsoft.com/office/drawing/2014/main" id="{A5A2DC62-140F-F093-D05B-25FC9C9A319C}"/>
                </a:ext>
              </a:extLst>
            </p:cNvPr>
            <p:cNvSpPr/>
            <p:nvPr/>
          </p:nvSpPr>
          <p:spPr>
            <a:xfrm>
              <a:off x="8167112" y="655685"/>
              <a:ext cx="389118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Compute Node 2  —  RTX A6000 Ada × 4</a:t>
              </a:r>
              <a:endParaRPr lang="en-US" sz="1200" dirty="0"/>
            </a:p>
          </p:txBody>
        </p:sp>
        <p:sp>
          <p:nvSpPr>
            <p:cNvPr id="32" name="Shape 62">
              <a:extLst>
                <a:ext uri="{FF2B5EF4-FFF2-40B4-BE49-F238E27FC236}">
                  <a16:creationId xmlns:a16="http://schemas.microsoft.com/office/drawing/2014/main" id="{C56CAAEB-CFAA-8091-D2E5-7BE30FB0347C}"/>
                </a:ext>
              </a:extLst>
            </p:cNvPr>
            <p:cNvSpPr/>
            <p:nvPr/>
          </p:nvSpPr>
          <p:spPr>
            <a:xfrm>
              <a:off x="8292634" y="975725"/>
              <a:ext cx="3640136" cy="292608"/>
            </a:xfrm>
            <a:prstGeom prst="rect">
              <a:avLst/>
            </a:prstGeom>
            <a:solidFill>
              <a:srgbClr val="BF360C"/>
            </a:solidFill>
            <a:ln w="12700">
              <a:solidFill>
                <a:srgbClr val="BF360C"/>
              </a:solidFill>
              <a:prstDash val="solid"/>
            </a:ln>
          </p:spPr>
          <p:txBody>
            <a:bodyPr wrap="none">
              <a:normAutofit fontScale="475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33" name="Text 63">
              <a:extLst>
                <a:ext uri="{FF2B5EF4-FFF2-40B4-BE49-F238E27FC236}">
                  <a16:creationId xmlns:a16="http://schemas.microsoft.com/office/drawing/2014/main" id="{A285EA57-3D78-F823-5A68-7C73D766DDB3}"/>
                </a:ext>
              </a:extLst>
            </p:cNvPr>
            <p:cNvSpPr/>
            <p:nvPr/>
          </p:nvSpPr>
          <p:spPr>
            <a:xfrm>
              <a:off x="8292634" y="975725"/>
              <a:ext cx="3640136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RTX A6000 Ada  2장  Passthrough  →  VM 1개 전용 할당</a:t>
              </a:r>
              <a:endParaRPr lang="en-US" sz="1050" dirty="0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CDAC7D8-8D7C-B3DC-EB5E-31ADB8A29193}"/>
                </a:ext>
              </a:extLst>
            </p:cNvPr>
            <p:cNvGrpSpPr/>
            <p:nvPr/>
          </p:nvGrpSpPr>
          <p:grpSpPr>
            <a:xfrm>
              <a:off x="8292633" y="6120000"/>
              <a:ext cx="3640136" cy="521208"/>
              <a:chOff x="8291041" y="5913485"/>
              <a:chExt cx="3640136" cy="521208"/>
            </a:xfrm>
          </p:grpSpPr>
          <p:sp>
            <p:nvSpPr>
              <p:cNvPr id="35" name="Shape 92">
                <a:extLst>
                  <a:ext uri="{FF2B5EF4-FFF2-40B4-BE49-F238E27FC236}">
                    <a16:creationId xmlns:a16="http://schemas.microsoft.com/office/drawing/2014/main" id="{9B979715-2498-F0D9-BD98-AB90544FCF39}"/>
                  </a:ext>
                </a:extLst>
              </p:cNvPr>
              <p:cNvSpPr/>
              <p:nvPr/>
            </p:nvSpPr>
            <p:spPr>
              <a:xfrm>
                <a:off x="8291041" y="5913485"/>
                <a:ext cx="3640136" cy="292608"/>
              </a:xfrm>
              <a:prstGeom prst="rect">
                <a:avLst/>
              </a:prstGeom>
              <a:solidFill>
                <a:srgbClr val="607D8B"/>
              </a:solidFill>
              <a:ln w="12700">
                <a:solidFill>
                  <a:srgbClr val="607D8B"/>
                </a:solidFill>
                <a:prstDash val="solid"/>
              </a:ln>
            </p:spPr>
            <p:txBody>
              <a:bodyPr wrap="none">
                <a:normAutofit fontScale="475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36" name="Text 93">
                <a:extLst>
                  <a:ext uri="{FF2B5EF4-FFF2-40B4-BE49-F238E27FC236}">
                    <a16:creationId xmlns:a16="http://schemas.microsoft.com/office/drawing/2014/main" id="{E510AE7F-D8AA-D4E9-B8C3-7BF170F66E73}"/>
                  </a:ext>
                </a:extLst>
              </p:cNvPr>
              <p:cNvSpPr/>
              <p:nvPr/>
            </p:nvSpPr>
            <p:spPr>
              <a:xfrm>
                <a:off x="8291041" y="5913485"/>
                <a:ext cx="3640136" cy="292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하이퍼바이저 (KVM) / Nova-compute</a:t>
                </a:r>
                <a:endParaRPr lang="en-US" sz="1100" dirty="0"/>
              </a:p>
            </p:txBody>
          </p:sp>
          <p:sp>
            <p:nvSpPr>
              <p:cNvPr id="37" name="Shape 94">
                <a:extLst>
                  <a:ext uri="{FF2B5EF4-FFF2-40B4-BE49-F238E27FC236}">
                    <a16:creationId xmlns:a16="http://schemas.microsoft.com/office/drawing/2014/main" id="{9BA22F61-8995-468F-14E5-2F92D41E4D04}"/>
                  </a:ext>
                </a:extLst>
              </p:cNvPr>
              <p:cNvSpPr/>
              <p:nvPr/>
            </p:nvSpPr>
            <p:spPr>
              <a:xfrm>
                <a:off x="8291041" y="6233525"/>
                <a:ext cx="3640136" cy="201168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 wrap="none">
                <a:normAutofit fontScale="25000" lnSpcReduction="20000"/>
              </a:bodyPr>
              <a:lstStyle/>
              <a:p>
                <a:endParaRPr lang="ko-KR" altLang="en-US" sz="3200"/>
              </a:p>
            </p:txBody>
          </p:sp>
          <p:sp>
            <p:nvSpPr>
              <p:cNvPr id="38" name="Text 95">
                <a:extLst>
                  <a:ext uri="{FF2B5EF4-FFF2-40B4-BE49-F238E27FC236}">
                    <a16:creationId xmlns:a16="http://schemas.microsoft.com/office/drawing/2014/main" id="{091E215E-1D10-0D61-02D2-FDE23793FE64}"/>
                  </a:ext>
                </a:extLst>
              </p:cNvPr>
              <p:cNvSpPr/>
              <p:nvPr/>
            </p:nvSpPr>
            <p:spPr>
              <a:xfrm>
                <a:off x="8291041" y="6233525"/>
                <a:ext cx="3640136" cy="20116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333333"/>
                    </a:solidFill>
                  </a:rPr>
                  <a:t>OS (Ubuntu)</a:t>
                </a:r>
                <a:endParaRPr lang="en-US" sz="1050" dirty="0"/>
              </a:p>
            </p:txBody>
          </p:sp>
        </p:grp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3810096F-E4C8-A142-19DD-CBD7B56E5FD6}"/>
                </a:ext>
              </a:extLst>
            </p:cNvPr>
            <p:cNvSpPr/>
            <p:nvPr/>
          </p:nvSpPr>
          <p:spPr>
            <a:xfrm>
              <a:off x="8292633" y="1338802"/>
              <a:ext cx="3640136" cy="34290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EF6C00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E15DB8DE-E03D-6228-C2DB-DEF51987E335}"/>
                </a:ext>
              </a:extLst>
            </p:cNvPr>
            <p:cNvSpPr/>
            <p:nvPr/>
          </p:nvSpPr>
          <p:spPr>
            <a:xfrm>
              <a:off x="8292633" y="1338802"/>
              <a:ext cx="3640136" cy="315646"/>
            </a:xfrm>
            <a:prstGeom prst="rect">
              <a:avLst/>
            </a:prstGeom>
            <a:solidFill>
              <a:srgbClr val="EF6C00"/>
            </a:solidFill>
            <a:ln w="12700">
              <a:solidFill>
                <a:srgbClr val="EF6C00"/>
              </a:solidFill>
              <a:prstDash val="solid"/>
            </a:ln>
          </p:spPr>
          <p:txBody>
            <a:bodyPr wrap="none">
              <a:normAutofit fontScale="47500" lnSpcReduction="20000"/>
            </a:bodyPr>
            <a:lstStyle/>
            <a:p>
              <a:endParaRPr lang="ko-KR" altLang="en-US" sz="320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2EA43007-E49A-CF50-8A50-B471FF0D729F}"/>
                </a:ext>
              </a:extLst>
            </p:cNvPr>
            <p:cNvSpPr/>
            <p:nvPr/>
          </p:nvSpPr>
          <p:spPr>
            <a:xfrm>
              <a:off x="8292633" y="1338802"/>
              <a:ext cx="3640136" cy="315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VM-cheap  </a:t>
              </a:r>
              <a:endParaRPr lang="en-US" sz="1200" dirty="0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8BBA6463-99AC-F2D7-12CA-23A68C8757D8}"/>
                </a:ext>
              </a:extLst>
            </p:cNvPr>
            <p:cNvSpPr/>
            <p:nvPr/>
          </p:nvSpPr>
          <p:spPr>
            <a:xfrm>
              <a:off x="8393050" y="1733360"/>
              <a:ext cx="3439301" cy="620018"/>
            </a:xfrm>
            <a:prstGeom prst="rect">
              <a:avLst/>
            </a:prstGeom>
            <a:solidFill>
              <a:srgbClr val="E3F2FD"/>
            </a:solidFill>
            <a:ln w="12700">
              <a:solidFill>
                <a:srgbClr val="1976D2"/>
              </a:solidFill>
              <a:prstDash val="solid"/>
            </a:ln>
          </p:spPr>
          <p:txBody>
            <a:bodyPr wrap="none">
              <a:normAutofit/>
            </a:bodyPr>
            <a:lstStyle/>
            <a:p>
              <a:endParaRPr lang="ko-KR" altLang="en-US" sz="320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FEFC74E8-2924-3D01-B8BD-AD4F0442E374}"/>
                </a:ext>
              </a:extLst>
            </p:cNvPr>
            <p:cNvSpPr/>
            <p:nvPr/>
          </p:nvSpPr>
          <p:spPr>
            <a:xfrm>
              <a:off x="8393050" y="1733360"/>
              <a:ext cx="3439301" cy="620018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D47A1"/>
                  </a:solidFill>
                </a:rPr>
                <a:t>Docker  :  사용자 작업 실행</a:t>
              </a:r>
              <a:endParaRPr lang="en-US" sz="1100" dirty="0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AD8A3439-B4BA-E985-D641-38DA23F439B6}"/>
                </a:ext>
              </a:extLst>
            </p:cNvPr>
            <p:cNvSpPr/>
            <p:nvPr/>
          </p:nvSpPr>
          <p:spPr>
            <a:xfrm>
              <a:off x="8393047" y="2565639"/>
              <a:ext cx="3439301" cy="609976"/>
            </a:xfrm>
            <a:prstGeom prst="rect">
              <a:avLst/>
            </a:prstGeom>
            <a:solidFill>
              <a:srgbClr val="EDE7F6"/>
            </a:solidFill>
            <a:ln w="12700">
              <a:solidFill>
                <a:srgbClr val="7B1FA2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dirty="0">
                  <a:solidFill>
                    <a:srgbClr val="222222"/>
                  </a:solidFill>
                </a:rPr>
                <a:t>DCGM Exporter</a:t>
              </a:r>
              <a:endParaRPr lang="en-US" altLang="ko-KR" sz="1100" dirty="0"/>
            </a:p>
          </p:txBody>
        </p:sp>
        <p:sp>
          <p:nvSpPr>
            <p:cNvPr id="45" name="Shape 44">
              <a:extLst>
                <a:ext uri="{FF2B5EF4-FFF2-40B4-BE49-F238E27FC236}">
                  <a16:creationId xmlns:a16="http://schemas.microsoft.com/office/drawing/2014/main" id="{DE2F7A5A-9582-79D1-4239-80B2A729EE36}"/>
                </a:ext>
              </a:extLst>
            </p:cNvPr>
            <p:cNvSpPr/>
            <p:nvPr/>
          </p:nvSpPr>
          <p:spPr>
            <a:xfrm>
              <a:off x="8393046" y="3356887"/>
              <a:ext cx="3439301" cy="42837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rgbClr val="263238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b="1" dirty="0">
                  <a:solidFill>
                    <a:srgbClr val="FFFFFF"/>
                  </a:solidFill>
                </a:rPr>
                <a:t>A6000 Ada #1 (48GB)</a:t>
              </a:r>
              <a:endParaRPr lang="en-US" altLang="ko-KR" sz="11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331536B5-DC9E-DEBE-F646-4DFF32E9FE6F}"/>
                </a:ext>
              </a:extLst>
            </p:cNvPr>
            <p:cNvSpPr/>
            <p:nvPr/>
          </p:nvSpPr>
          <p:spPr>
            <a:xfrm>
              <a:off x="8393048" y="4159727"/>
              <a:ext cx="3439301" cy="42837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rgbClr val="263238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b="1" dirty="0">
                  <a:solidFill>
                    <a:srgbClr val="FFFFFF"/>
                  </a:solidFill>
                </a:rPr>
                <a:t>A6000 Ada #2 (48GB)</a:t>
              </a:r>
              <a:endParaRPr lang="en-US" altLang="ko-KR" sz="1100" dirty="0"/>
            </a:p>
          </p:txBody>
        </p:sp>
        <p:sp>
          <p:nvSpPr>
            <p:cNvPr id="47" name="Shape 44">
              <a:extLst>
                <a:ext uri="{FF2B5EF4-FFF2-40B4-BE49-F238E27FC236}">
                  <a16:creationId xmlns:a16="http://schemas.microsoft.com/office/drawing/2014/main" id="{D18ECC40-AE1A-9A1C-6B54-85BA1F396C4E}"/>
                </a:ext>
              </a:extLst>
            </p:cNvPr>
            <p:cNvSpPr/>
            <p:nvPr/>
          </p:nvSpPr>
          <p:spPr>
            <a:xfrm>
              <a:off x="8393049" y="4928693"/>
              <a:ext cx="3439301" cy="428377"/>
            </a:xfrm>
            <a:prstGeom prst="rect">
              <a:avLst/>
            </a:prstGeom>
            <a:solidFill>
              <a:srgbClr val="263238"/>
            </a:solidFill>
            <a:ln w="12700">
              <a:solidFill>
                <a:srgbClr val="263238"/>
              </a:solidFill>
              <a:prstDash val="solid"/>
            </a:ln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ko-KR" sz="1100" b="1" dirty="0">
                  <a:solidFill>
                    <a:srgbClr val="FFFFFF"/>
                  </a:solidFill>
                </a:rPr>
                <a:t>Pro 6000 Blackwell (Passthrough) (96GB)</a:t>
              </a:r>
              <a:endParaRPr lang="en-US" altLang="ko-KR" sz="11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E4B48DF3-0B79-BAB9-00F1-879B02178389}"/>
                </a:ext>
              </a:extLst>
            </p:cNvPr>
            <p:cNvCxnSpPr/>
            <p:nvPr/>
          </p:nvCxnSpPr>
          <p:spPr>
            <a:xfrm>
              <a:off x="9592336" y="3785264"/>
              <a:ext cx="0" cy="3744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7A8D85EE-97A6-CE4B-94D1-C961B9409F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1043" y="3785263"/>
              <a:ext cx="0" cy="3744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2BAF611-D01E-4D61-7BD0-03187D90DE9B}"/>
                </a:ext>
              </a:extLst>
            </p:cNvPr>
            <p:cNvSpPr txBox="1"/>
            <p:nvPr/>
          </p:nvSpPr>
          <p:spPr>
            <a:xfrm>
              <a:off x="9702081" y="3766601"/>
              <a:ext cx="969443" cy="43088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altLang="ko-KR" sz="1100" b="1" dirty="0"/>
                <a:t>PCIe </a:t>
              </a:r>
              <a:r>
                <a:rPr lang="ko-KR" altLang="en-US" sz="1100" b="1" dirty="0"/>
                <a:t>통신</a:t>
              </a:r>
              <a:br>
                <a:rPr lang="en-US" altLang="ko-KR" sz="1100" b="1" dirty="0"/>
              </a:br>
              <a:r>
                <a:rPr lang="en-US" altLang="ko-KR" sz="1100" b="1" dirty="0"/>
                <a:t>(over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CPU)</a:t>
              </a:r>
              <a:endParaRPr lang="ko-KR" altLang="en-US" sz="1100" b="1" dirty="0"/>
            </a:p>
          </p:txBody>
        </p:sp>
      </p:grpSp>
      <p:sp>
        <p:nvSpPr>
          <p:cNvPr id="26" name="원형: 비어 있음 25">
            <a:extLst>
              <a:ext uri="{FF2B5EF4-FFF2-40B4-BE49-F238E27FC236}">
                <a16:creationId xmlns:a16="http://schemas.microsoft.com/office/drawing/2014/main" id="{4D656743-3AEB-CD22-4ACA-B3511290D4F2}"/>
              </a:ext>
            </a:extLst>
          </p:cNvPr>
          <p:cNvSpPr/>
          <p:nvPr/>
        </p:nvSpPr>
        <p:spPr>
          <a:xfrm>
            <a:off x="8292633" y="3235771"/>
            <a:ext cx="3640137" cy="1508679"/>
          </a:xfrm>
          <a:prstGeom prst="donut">
            <a:avLst>
              <a:gd name="adj" fmla="val 412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원형: 비어 있음 27">
            <a:extLst>
              <a:ext uri="{FF2B5EF4-FFF2-40B4-BE49-F238E27FC236}">
                <a16:creationId xmlns:a16="http://schemas.microsoft.com/office/drawing/2014/main" id="{48EFCB99-CCB7-B4E0-B787-4A4BB0960276}"/>
              </a:ext>
            </a:extLst>
          </p:cNvPr>
          <p:cNvSpPr/>
          <p:nvPr/>
        </p:nvSpPr>
        <p:spPr>
          <a:xfrm>
            <a:off x="4243015" y="3486409"/>
            <a:ext cx="3640137" cy="988100"/>
          </a:xfrm>
          <a:prstGeom prst="donut">
            <a:avLst>
              <a:gd name="adj" fmla="val 614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398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d1b854-2bfd-44ac-bb2a-b99cb65eb5b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8EFD0E890091246B7C9FBF10AA69A0A" ma:contentTypeVersion="14" ma:contentTypeDescription="새 문서를 만듭니다." ma:contentTypeScope="" ma:versionID="aae8e50b7f48342d730e04a1c3ee45a3">
  <xsd:schema xmlns:xsd="http://www.w3.org/2001/XMLSchema" xmlns:xs="http://www.w3.org/2001/XMLSchema" xmlns:p="http://schemas.microsoft.com/office/2006/metadata/properties" xmlns:ns3="70d1b854-2bfd-44ac-bb2a-b99cb65eb5b2" targetNamespace="http://schemas.microsoft.com/office/2006/metadata/properties" ma:root="true" ma:fieldsID="14d1b201e0e2d2022e2a3308e0fbf14b" ns3:_="">
    <xsd:import namespace="70d1b854-2bfd-44ac-bb2a-b99cb65eb5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1b854-2bfd-44ac-bb2a-b99cb65eb5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22F62F-9B9D-43C1-940E-59E6CA19F6D9}">
  <ds:schemaRefs>
    <ds:schemaRef ds:uri="http://schemas.microsoft.com/office/infopath/2007/PartnerControls"/>
    <ds:schemaRef ds:uri="http://schemas.openxmlformats.org/package/2006/metadata/core-properties"/>
    <ds:schemaRef ds:uri="70d1b854-2bfd-44ac-bb2a-b99cb65eb5b2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E34816-4210-40AE-995E-8389F5128541}">
  <ds:schemaRefs>
    <ds:schemaRef ds:uri="70d1b854-2bfd-44ac-bb2a-b99cb65eb5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5C33459-BA4C-4A56-9772-668F18D22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1217</Words>
  <Application>Microsoft Office PowerPoint</Application>
  <PresentationFormat>와이드스크린</PresentationFormat>
  <Paragraphs>273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Calibri</vt:lpstr>
      <vt:lpstr>맑은 고딕</vt:lpstr>
      <vt:lpstr>Arial</vt:lpstr>
      <vt:lpstr>HY견고딕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김형우</dc:creator>
  <cp:lastModifiedBy>배 지훈</cp:lastModifiedBy>
  <cp:revision>41</cp:revision>
  <dcterms:created xsi:type="dcterms:W3CDTF">2026-03-15T07:33:22Z</dcterms:created>
  <dcterms:modified xsi:type="dcterms:W3CDTF">2026-04-21T14:10:31Z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0x010100E8EFD0E890091246B7C9FBF10AA69A0A</vt:lpwstr>
  </property>
</Properties>
</file>